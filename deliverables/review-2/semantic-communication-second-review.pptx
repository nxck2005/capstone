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Task-Oriented Deep Joint Source–Channel Coding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389888"/>
            <a:ext cx="11018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1">
                <a:solidFill>
                  <a:srgbClr val="111111"/>
                </a:solidFill>
                <a:latin typeface="Arial"/>
              </a:rPr>
              <a:t>What a camera should send when the receiver only needs the answer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2212848"/>
            <a:ext cx="2468880" cy="1225296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" y="2542032"/>
            <a:ext cx="22494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Edge camera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2999232"/>
            <a:ext cx="22494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sees an image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2212848"/>
            <a:ext cx="3017520" cy="1225296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73168" y="2542032"/>
            <a:ext cx="2798063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Short, noisy link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73168" y="2999232"/>
            <a:ext cx="2798063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loses some pictures in transit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03920" y="2212848"/>
            <a:ext cx="2194560" cy="1225296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13648" y="2542032"/>
            <a:ext cx="197510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Receiver classifier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13648" y="2999232"/>
            <a:ext cx="197510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needs one label back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529584" y="2825496"/>
            <a:ext cx="1024128" cy="0"/>
          </a:xfrm>
          <a:prstGeom prst="line">
            <a:avLst/>
          </a:prstGeom>
          <a:ln w="127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Isosceles Triangle 14"/>
          <p:cNvSpPr/>
          <p:nvPr/>
        </p:nvSpPr>
        <p:spPr>
          <a:xfrm rot="5400000">
            <a:off x="4489704" y="2775203"/>
            <a:ext cx="128016" cy="100584"/>
          </a:xfrm>
          <a:prstGeom prst="triangl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7735824" y="2825496"/>
            <a:ext cx="658368" cy="0"/>
          </a:xfrm>
          <a:prstGeom prst="line">
            <a:avLst/>
          </a:prstGeom>
          <a:ln w="127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Isosceles Triangle 16"/>
          <p:cNvSpPr/>
          <p:nvPr/>
        </p:nvSpPr>
        <p:spPr>
          <a:xfrm rot="5400000">
            <a:off x="8330184" y="2775203"/>
            <a:ext cx="128016" cy="100584"/>
          </a:xfrm>
          <a:prstGeom prst="triangl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3931920"/>
            <a:ext cx="11018520" cy="1188720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6384" y="4187952"/>
            <a:ext cx="105796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11111"/>
                </a:solidFill>
                <a:latin typeface="Arial"/>
              </a:rPr>
              <a:t>Train the sender and the receiver together so the classification decision survives a short, noisy link.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4626864"/>
            <a:ext cx="1057960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55555"/>
                </a:solidFill>
                <a:latin typeface="Arial"/>
              </a:rPr>
              <a:t>The thesis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66928" y="5431536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66928" y="5632704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Second Review, 29 September – 3 October 2026.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Results, Presentation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Twenty-one measured signal strengths · one frozen training run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What has changed since the first review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55555"/>
                </a:solidFill>
                <a:latin typeface="Arial"/>
              </a:rPr>
              <a:t>In August the digital system was working. The learned models are trained now.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792224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Aug · Digital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90087" y="1773936"/>
            <a:ext cx="8412480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Measured how badly it loses pictures at every setting. All 288,000 held-back combinations tested, and the settings it should use at each signal strength frozen.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58368" y="2212848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58368" y="2340864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Aug · Learned 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0087" y="2322576"/>
            <a:ext cx="8412480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Training loop built, models trained at several seeds. Three of them are frozen at 1/6 rate.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58368" y="2761488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58368" y="2889504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Sep · Fair comparison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90087" y="2871216"/>
            <a:ext cx="8412480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Built a control that sends learned features digitally, so the comparison includes a task-aware system alongside a compressed image.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58368" y="3310128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438144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Sep · Weak-link training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90087" y="3419856"/>
            <a:ext cx="8412480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A second version, with the training signal strength picked at random each time, for comparison against the first.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8368" y="3858768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58368" y="3986783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Sep · Crossing question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0087" y="3968496"/>
            <a:ext cx="8412480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Decided it on held-back pictures before seeing the answer: the two lines cross between −5 and −4 dB.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58368" y="4407407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58368" y="4535424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Sep · Power limits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90087" y="4517136"/>
            <a:ext cx="8412480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Trained one model under a hard limit on how tall the signal spikes may get.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58368" y="4956048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58368" y="5084064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Oct · Measurements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90087" y="5065776"/>
            <a:ext cx="8412480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252 measurements across twelve versions of the system and twenty-one signal strengths, 1,000 held-back pictures each.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58368" y="5504688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58368" y="5632704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Nov · Exam set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90087" y="5614416"/>
            <a:ext cx="8412480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Opens in week 11, once the locking document is signed.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Timeline, Results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First review 18–22 Aug 2026 · Second review 29 Sep–3 Oct 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Objectives, stated as completion criteria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55555"/>
                </a:solidFill>
                <a:latin typeface="Arial"/>
              </a:rPr>
              <a:t>Five things we set out to build. Each one is checkable.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700784"/>
            <a:ext cx="63093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11111"/>
                </a:solidFill>
                <a:latin typeface="Arial"/>
              </a:rPr>
              <a:t>What we set out to 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103120"/>
            <a:ext cx="21031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1.  Build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2084831"/>
            <a:ext cx="4133087" cy="6035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Train a learned sender and receiver together, so the picture goes through the same kind of noise a radio adds.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2670048"/>
            <a:ext cx="630936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2816352"/>
            <a:ext cx="21031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2.  Same radio time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2798064"/>
            <a:ext cx="4133087" cy="6035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At every signal strength and rate, both systems get the same number of chances to use the radio.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3383280"/>
            <a:ext cx="630936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" y="3529584"/>
            <a:ext cx="21031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3.  Charge the overhead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3511296"/>
            <a:ext cx="4133087" cy="6035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Checksums, padding and error-correction bytes come out of the budget before any picture data.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58368" y="4096511"/>
            <a:ext cx="630936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58368" y="4242816"/>
            <a:ext cx="21031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4.  Pick the setting fairly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40" y="4224528"/>
            <a:ext cx="4133087" cy="6035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The operating point is chosen using the digital system alone, before anyone sees the learned curve.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58368" y="4809744"/>
            <a:ext cx="630936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58368" y="4956048"/>
            <a:ext cx="21031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5.  Report per picture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4937760"/>
            <a:ext cx="4133087" cy="6035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Every row records what happened to one picture, including those that failed to arrive.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60336" y="1700784"/>
            <a:ext cx="4279392" cy="3840480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79792" y="1883664"/>
            <a:ext cx="38404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11111"/>
                </a:solidFill>
                <a:latin typeface="Arial"/>
              </a:rPr>
              <a:t>How these are scored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79792" y="2286000"/>
            <a:ext cx="3840480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11111"/>
                </a:solidFill>
                <a:latin typeface="Arial"/>
              </a:rPr>
              <a:t>The rubric scores whether this list was completed.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79792" y="3310128"/>
            <a:ext cx="3840480" cy="17373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Completion is independent of which way the curve went. A crossing and the learned system winning everywhere both finish the list on the left.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Objectives Met, Methodology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Objectives confirmed at this review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Before the numbers, one picture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55555"/>
                </a:solidFill>
                <a:latin typeface="Arial"/>
              </a:rPr>
              <a:t>Every chart in this deck runs from a weak radio signal on the left to a clean one on the right.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82496"/>
            <a:ext cx="7818120" cy="365760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783080"/>
            <a:ext cx="307238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Plain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78224" y="1783080"/>
            <a:ext cx="197510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Our term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72783" y="1783080"/>
            <a:ext cx="2112263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Where you see it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048256"/>
            <a:ext cx="7818120" cy="493776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2148840"/>
            <a:ext cx="3072384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How strong the signal 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78224" y="2148840"/>
            <a:ext cx="1975104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SNR, in decibels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72783" y="2148840"/>
            <a:ext cx="2112263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the left-to-right axis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2542032"/>
            <a:ext cx="7818120" cy="493776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2642616"/>
            <a:ext cx="3072384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How many pictures got through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8224" y="2642616"/>
            <a:ext cx="1975104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delivery coverage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2783" y="2642616"/>
            <a:ext cx="2112263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the flat 10% line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3035808"/>
            <a:ext cx="7818120" cy="493776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3136392"/>
            <a:ext cx="3072384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How many we labelled correctly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78224" y="3136392"/>
            <a:ext cx="1975104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top-1 accuracy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2783" y="3136392"/>
            <a:ext cx="2112263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the up-and-down axis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529584"/>
            <a:ext cx="7818120" cy="493776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3630168"/>
            <a:ext cx="3072384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How many times we use the radio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78224" y="3630168"/>
            <a:ext cx="1975104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channel-use budget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72783" y="3630168"/>
            <a:ext cx="2112263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12,800 or 3,200 per picture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950208" y="1682496"/>
            <a:ext cx="0" cy="2340864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144768" y="1682496"/>
            <a:ext cx="0" cy="2340864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58368" y="3968496"/>
            <a:ext cx="78181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Every point on every chart is the same 1,000 pictures, at that one signal strength.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887968" y="1682496"/>
            <a:ext cx="2651760" cy="4041648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52560" y="1847088"/>
            <a:ext cx="232257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11111"/>
                </a:solidFill>
                <a:latin typeface="Arial"/>
              </a:rPr>
              <a:t>One example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60" y="2157984"/>
            <a:ext cx="23225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Arial"/>
              </a:rPr>
              <a:t>At the weakest signal we measured: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52560" y="2487168"/>
            <a:ext cx="2322576" cy="170078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Arial"/>
              </a:rPr>
              <a:t>The learned system labelled 728 of the 1,000 pictures correctly.</a:t>
            </a:r>
            <a:br/>
            <a:br/>
            <a:r>
              <a:rPr sz="1050" b="0" i="0">
                <a:solidFill>
                  <a:srgbClr val="555555"/>
                </a:solidFill>
                <a:latin typeface="Arial"/>
              </a:rPr>
              <a:t>The digital system got almost nothing through, so every picture fell back to the same fixed answer. That answer is right 100 times out of 1,000, which is the 10%.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052560" y="4315968"/>
            <a:ext cx="2322576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9052560" y="4443984"/>
            <a:ext cx="2322576" cy="11155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That flat 10% is the fallback rule: 1,000 pictures that never arrived.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Results, Analytical Skills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Plain language. Everything after this slide depends on it.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What we measured for this review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55555"/>
                </a:solidFill>
                <a:latin typeface="Arial"/>
              </a:rPr>
              <a:t>We built twelve versions of the system and tested each one at twenty-one signal strengths.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64208"/>
            <a:ext cx="10744200" cy="384048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764792"/>
            <a:ext cx="288950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Item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95344" y="1764792"/>
            <a:ext cx="133502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Figure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49823" y="1764792"/>
            <a:ext cx="586130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What it is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048256"/>
            <a:ext cx="10744200" cy="420624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2148840"/>
            <a:ext cx="28895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Measurements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95344" y="2148840"/>
            <a:ext cx="133502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252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9823" y="2148840"/>
            <a:ext cx="58613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One row each in the published record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2468880"/>
            <a:ext cx="10744200" cy="420624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2569464"/>
            <a:ext cx="28895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Versions of the system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5344" y="2569464"/>
            <a:ext cx="133502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9823" y="2569464"/>
            <a:ext cx="58613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Five are controls, not headline systems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2889504"/>
            <a:ext cx="10744200" cy="420624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2990088"/>
            <a:ext cx="28895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Signal strengths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95344" y="2990088"/>
            <a:ext cx="133502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21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49823" y="2990088"/>
            <a:ext cx="58613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From weak to clean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310128"/>
            <a:ext cx="10744200" cy="420624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3410712"/>
            <a:ext cx="28895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Pictures per point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95344" y="3410712"/>
            <a:ext cx="133502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1,000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9823" y="3410712"/>
            <a:ext cx="58613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The same held-back pictures every time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3730752"/>
            <a:ext cx="10744200" cy="420624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" y="3831336"/>
            <a:ext cx="28895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Exam pictures opened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95344" y="3831336"/>
            <a:ext cx="133502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49823" y="3831336"/>
            <a:ext cx="58613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Sealed until week 11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767328" y="1664208"/>
            <a:ext cx="0" cy="2487168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21807" y="1664208"/>
            <a:ext cx="0" cy="2487168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58368" y="4187952"/>
            <a:ext cx="1074420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58368" y="4315968"/>
            <a:ext cx="107442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11111"/>
                </a:solidFill>
                <a:latin typeface="Arial"/>
              </a:rPr>
              <a:t>Two things to keep in mind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4718304"/>
            <a:ext cx="173736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Radio time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87168" y="4700016"/>
            <a:ext cx="8915400" cy="585215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1/6 rate uses the radio 12,800 times per picture; 1/24 rate uses it 3,200 times. Within one rate both systems get exactly the same amount of radio time.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58368" y="5230368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58368" y="5358384"/>
            <a:ext cx="173736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Who marks it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87168" y="5340096"/>
            <a:ext cx="8915400" cy="585215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The learned systems are marked by the classifier built into them. The digital systems are marked by one we trained on compressed-looking images. So every comparison in this deck is between whole systems, link and marker included.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Results, Analytical Skills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252 measurements = 12 versions of the system × 21 signal strengths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The two models behind every number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55555"/>
                </a:solidFill>
                <a:latin typeface="Arial"/>
              </a:rPr>
              <a:t>One classifier reads the pictures. One learned link decides what to transmit.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554480"/>
            <a:ext cx="5486400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11111"/>
                </a:solidFill>
                <a:latin typeface="Arial"/>
              </a:rPr>
              <a:t>The learned link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828800"/>
            <a:ext cx="5486400" cy="347472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929384"/>
            <a:ext cx="129844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Part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12848" y="1929384"/>
            <a:ext cx="3749039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What it is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176272"/>
            <a:ext cx="5486400" cy="365760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2276856"/>
            <a:ext cx="1298448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Arial"/>
              </a:rPr>
              <a:t>Encoder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12848" y="2276856"/>
            <a:ext cx="3749039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Arial"/>
              </a:rPr>
              <a:t>Conv stack, 64 then 128 channels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542032"/>
            <a:ext cx="5486400" cy="365760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642615"/>
            <a:ext cx="1298448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Arial"/>
              </a:rPr>
              <a:t>Blocks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12848" y="2642615"/>
            <a:ext cx="3749039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Arial"/>
              </a:rPr>
              <a:t>2 residual blocks, Group norm, PReLU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2907791"/>
            <a:ext cx="5486400" cy="365760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3008375"/>
            <a:ext cx="1298448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Arial"/>
              </a:rPr>
              <a:t>Decoder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12848" y="3008375"/>
            <a:ext cx="3749039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Arial"/>
              </a:rPr>
              <a:t>Mirror of the encoder, two heads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273552"/>
            <a:ext cx="5486400" cy="365760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" y="3374136"/>
            <a:ext cx="1298448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Arial"/>
              </a:rPr>
              <a:t>Heads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12848" y="3374136"/>
            <a:ext cx="3749039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Arial"/>
              </a:rPr>
              <a:t>Class scores, plus a rebuilt picture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3639312"/>
            <a:ext cx="5486400" cy="365760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4944" y="3739896"/>
            <a:ext cx="1298448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Arial"/>
              </a:rPr>
              <a:t>Width sent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12848" y="3739896"/>
            <a:ext cx="3749039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Arial"/>
              </a:rPr>
              <a:t>8 complex symbols per position, 1,600 positions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4005072"/>
            <a:ext cx="5486400" cy="365760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105656"/>
            <a:ext cx="1298448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Arial"/>
              </a:rPr>
              <a:t>Parameters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12848" y="4105656"/>
            <a:ext cx="3749039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Arial"/>
              </a:rPr>
              <a:t>1.57 M at the 1/6 rate reported here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084831" y="1828800"/>
            <a:ext cx="0" cy="2542032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272784" y="1554480"/>
            <a:ext cx="52943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11111"/>
                </a:solidFill>
                <a:latin typeface="Arial"/>
              </a:rPr>
              <a:t>How it was trained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72784" y="1828800"/>
            <a:ext cx="5294376" cy="347472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1929384"/>
            <a:ext cx="1517904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Setting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38160" y="1929384"/>
            <a:ext cx="3337560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Value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72784" y="2176272"/>
            <a:ext cx="5294376" cy="365760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2276856"/>
            <a:ext cx="151790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Arial"/>
              </a:rPr>
              <a:t>Objective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0" y="2276856"/>
            <a:ext cx="333756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Arial"/>
              </a:rPr>
              <a:t>Class scores + 3.0 × reconstruction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72784" y="2542032"/>
            <a:ext cx="5294376" cy="365760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2642615"/>
            <a:ext cx="151790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Arial"/>
              </a:rPr>
              <a:t>Optimiser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38160" y="2642615"/>
            <a:ext cx="333756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Arial"/>
              </a:rPr>
              <a:t>Adam, learning rate 0.001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72784" y="2907791"/>
            <a:ext cx="5294376" cy="365760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0" y="3008375"/>
            <a:ext cx="151790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Arial"/>
              </a:rPr>
              <a:t>Schedule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0" y="3008375"/>
            <a:ext cx="333756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Arial"/>
              </a:rPr>
              <a:t>Cosine decay, no warm-up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72784" y="3273552"/>
            <a:ext cx="5294376" cy="365760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3374136"/>
            <a:ext cx="151790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Arial"/>
              </a:rPr>
              <a:t>Batch, epochs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38160" y="3374136"/>
            <a:ext cx="333756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Arial"/>
              </a:rPr>
              <a:t>32 pictures, 100 epochs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72784" y="3639312"/>
            <a:ext cx="5294376" cy="365760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00800" y="3739896"/>
            <a:ext cx="151790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Arial"/>
              </a:rPr>
              <a:t>Augmentation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38160" y="3739896"/>
            <a:ext cx="333756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Arial"/>
              </a:rPr>
              <a:t>Random crop, horizontal flip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72784" y="4005072"/>
            <a:ext cx="5294376" cy="365760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0" y="4105656"/>
            <a:ext cx="151790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Arial"/>
              </a:rPr>
              <a:t>Precision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38160" y="4105656"/>
            <a:ext cx="333756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Arial"/>
              </a:rPr>
              <a:t>Mixed 16-bit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8010144" y="1828800"/>
            <a:ext cx="0" cy="2542032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566928" y="4517136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566928" y="4663440"/>
            <a:ext cx="164591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The classifier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04288" y="4645152"/>
            <a:ext cx="9281160" cy="6949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ResNet-18, 11.18 M parameters, trained from scratch. It reads 89.8% of held-back pictures correctly, and that is the ceiling both systems are measured against.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566928" y="5285232"/>
            <a:ext cx="1101852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566928" y="5413248"/>
            <a:ext cx="164591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Training cost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304288" y="5394960"/>
            <a:ext cx="9281160" cy="6949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48.7 seconds per epoch and 1.0 GiB of graphics memory, measured on a laptop GPU.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Results, Analytical Skills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Both trained from scratch on this dataset; no pre-trained weights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Where the digital system gives up, and where it takes over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One line runs the whole width of the chart. The other has a step in it near the left.</a:t>
            </a:r>
          </a:p>
        </p:txBody>
      </p:sp>
      <p:pic>
        <p:nvPicPr>
          <p:cNvPr id="5" name="Picture 4" descr="01_headline_full_sn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2380" y="1645920"/>
            <a:ext cx="7466933" cy="3986784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658368" y="5797296"/>
            <a:ext cx="1074420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58368" y="5870448"/>
            <a:ext cx="107442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55555"/>
                </a:solidFill>
                <a:latin typeface="Arial"/>
              </a:rPr>
              <a:t>At the weakest signal the learned system is right on 728 of 1,000 while the digital system delivers nothing. From −4 dB it delivers and goes ahead. At +18 dB it is well ahead.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Results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1/6 rate · all 21 measured signal strengths · held-back pictures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Close-up: the moment the digital system starts working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Between −5 and −4 dB the digital system begins getting pictures through, and its score jumps 73 points.</a:t>
            </a:r>
          </a:p>
        </p:txBody>
      </p:sp>
      <p:pic>
        <p:nvPicPr>
          <p:cNvPr id="5" name="Picture 4" descr="02_low_snr_close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8839" y="1645920"/>
            <a:ext cx="5114015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4846320"/>
            <a:ext cx="128016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At −8 dB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29967" y="4828032"/>
            <a:ext cx="937260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The learned system is right on 728 of 1,000. The digital system got nothing through, so it scores 10%.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5120640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5248656"/>
            <a:ext cx="128016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At −4 dB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29967" y="5230368"/>
            <a:ext cx="937260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The digital system now gets everything through and reaches 83.4%, ahead of the learned system's 79.4%.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5522976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" y="5650992"/>
            <a:ext cx="128016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After that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29967" y="5632704"/>
            <a:ext cx="937260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It dips at −2 dB and again at +9 dB.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Results, Analytical Skills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−8 to +2 dB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Why the digital line breaks where it does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1280160"/>
            <a:ext cx="566928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11111"/>
                </a:solidFill>
                <a:latin typeface="Arial"/>
              </a:rPr>
              <a:t>The score only moves when the pictures start or stop arriving.</a:t>
            </a:r>
          </a:p>
        </p:txBody>
      </p:sp>
      <p:pic>
        <p:nvPicPr>
          <p:cNvPr id="5" name="Picture 4" descr="08_delivery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" y="1682496"/>
            <a:ext cx="4858041" cy="37490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29984" y="1737360"/>
            <a:ext cx="146303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The 10% is a rule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4464" y="1719072"/>
            <a:ext cx="3255263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Every picture takes the same fallback answer when delivery fails. On an evenly split set that is right 100 times in 1,000.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729984" y="2761488"/>
            <a:ext cx="4809744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729984" y="2889504"/>
            <a:ext cx="146303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Outages are part of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84464" y="2871216"/>
            <a:ext cx="3255263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We report how many pictures arrived next to how many we got right, so a broken link is distinguishable from a wrong guess.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729984" y="3913632"/>
            <a:ext cx="4809744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729984" y="4041648"/>
            <a:ext cx="146303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Learned always answers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84464" y="4023360"/>
            <a:ext cx="3255263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Its rules promise a label at every strength, so its curve never flattens against a floor.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Analytical Skills, Results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When pictures stop arriving, the score drops to match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What happens when we cut the radio time fourfold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With four times less radio time, the digital system loses far more at the weak end than the learned one does.</a:t>
            </a:r>
          </a:p>
        </p:txBody>
      </p:sp>
      <p:pic>
        <p:nvPicPr>
          <p:cNvPr id="5" name="Picture 4" descr="03_bandwidth_effici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2672" y="1645920"/>
            <a:ext cx="6586350" cy="26700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4572000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Weak signal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78608" y="4553712"/>
            <a:ext cx="882396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Cutting from 1/6 to 1/24 rate drops the learned system from 72.8% to 49.4%.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4901184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5029200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At 0 dB, 1/24 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78608" y="5010912"/>
            <a:ext cx="882396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Learned 78.7% against digital 69.4%. The learned system is still ahead.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5358384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" y="5486400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Catches up, then slips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78608" y="5468112"/>
            <a:ext cx="882396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Digital passes learned at the +4 dB point, loses the lead at +9 dB, then goes ahead again.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Results, Analytical Skills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1/24 rate against 1/6 rate · compare within each panel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Training across signal strengths instead of one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Picking the training signal strength at random each time lifts the whole weak end of the line.</a:t>
            </a:r>
          </a:p>
        </p:txBody>
      </p:sp>
      <p:pic>
        <p:nvPicPr>
          <p:cNvPr id="5" name="Picture 4" descr="04_training_robust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7160" y="1645920"/>
            <a:ext cx="5717374" cy="288950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011680" y="4700016"/>
            <a:ext cx="7680960" cy="384048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39696" y="4800600"/>
            <a:ext cx="243230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Training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91455" y="4800600"/>
            <a:ext cx="78638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−8 dB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97296" y="4800600"/>
            <a:ext cx="78638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−4 dB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03136" y="4800600"/>
            <a:ext cx="78638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0 dB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08976" y="4800600"/>
            <a:ext cx="78638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+9 dB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14816" y="4800600"/>
            <a:ext cx="78638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+18 dB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0" y="5084064"/>
            <a:ext cx="7680960" cy="420624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39696" y="5184648"/>
            <a:ext cx="24323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Random each 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455" y="5184648"/>
            <a:ext cx="78638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77.0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97296" y="5184648"/>
            <a:ext cx="78638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82.4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3136" y="5184648"/>
            <a:ext cx="78638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83.0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8976" y="5184648"/>
            <a:ext cx="78638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84.1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14816" y="5184648"/>
            <a:ext cx="78638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83.9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11680" y="5504688"/>
            <a:ext cx="7680960" cy="420624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139696" y="5605272"/>
            <a:ext cx="24323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One fixed strength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91455" y="5605272"/>
            <a:ext cx="78638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72.8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97296" y="5605272"/>
            <a:ext cx="78638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79.4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03136" y="5605272"/>
            <a:ext cx="78638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81.2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08976" y="5605272"/>
            <a:ext cx="78638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83.8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14816" y="5605272"/>
            <a:ext cx="78638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83.4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663440" y="4700016"/>
            <a:ext cx="0" cy="1225296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669280" y="4700016"/>
            <a:ext cx="0" cy="1225296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675120" y="4700016"/>
            <a:ext cx="0" cy="1225296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680960" y="4700016"/>
            <a:ext cx="0" cy="1225296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686800" y="4700016"/>
            <a:ext cx="0" cy="1225296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Results, Analytical Skills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Two separately trained versions of the learned system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The control that keeps the comparison honest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A JPEG image is an easy thing to beat. This system is harder, and it is the one worth reporting.</a:t>
            </a:r>
          </a:p>
        </p:txBody>
      </p:sp>
      <p:pic>
        <p:nvPicPr>
          <p:cNvPr id="5" name="Picture 4" descr="05_task_aware_digi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4323" y="1645920"/>
            <a:ext cx="6043048" cy="305409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4864608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What this system does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78608" y="4846320"/>
            <a:ext cx="882396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Instead of a JPEG image it sends the learned features themselves, through the same error-correction code and radio settings, using the same 12,800 uses of the radio. It separates “knows the task” from “codes both at once”.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5413248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5541264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What it settles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78608" y="5522976"/>
            <a:ext cx="882396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It holds 82.0% at every strength from −4 dB up. Sending learned features digitally is strong once pictures get through, so the weak-signal gap is about failed deliveries as much as representation.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Results, Analytical Skills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Same radio time, same error-correction code, same modulation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Keeping the signal peaks from getting too tall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A real transmitter needs a limit on signal peaks, so we trained a second model under one.</a:t>
            </a:r>
          </a:p>
        </p:txBody>
      </p:sp>
      <p:pic>
        <p:nvPicPr>
          <p:cNvPr id="5" name="Picture 4" descr="06_papr_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0788" y="1645920"/>
            <a:ext cx="6090118" cy="2468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4224528"/>
            <a:ext cx="107442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55555"/>
                </a:solidFill>
                <a:latin typeface="Arial"/>
              </a:rPr>
              <a:t>“Peak-to-average power ratio” = how much taller the tallest spike is than the average.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1463040" y="4590288"/>
            <a:ext cx="8321040" cy="384048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91056" y="4690872"/>
            <a:ext cx="288950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00016" y="4690872"/>
            <a:ext cx="151790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Tallest spike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7376" y="4690872"/>
            <a:ext cx="151790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At −8 dB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74736" y="4690872"/>
            <a:ext cx="151790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At +18 dB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63040" y="4974336"/>
            <a:ext cx="8321040" cy="420624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91056" y="5074920"/>
            <a:ext cx="28895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Power-limited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0016" y="5074920"/>
            <a:ext cx="15179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3.000002 dB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376" y="5074920"/>
            <a:ext cx="15179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75.9%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74736" y="5074920"/>
            <a:ext cx="15179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83.2%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63040" y="5394959"/>
            <a:ext cx="8321040" cy="420624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91056" y="5495544"/>
            <a:ext cx="28895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Ordinary learned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0016" y="5495544"/>
            <a:ext cx="15179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20.059284 dB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7376" y="5495544"/>
            <a:ext cx="15179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72.8%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74736" y="5495544"/>
            <a:ext cx="15179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83.4%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572000" y="4590288"/>
            <a:ext cx="0" cy="1225295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309360" y="4590288"/>
            <a:ext cx="0" cy="1225295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046719" y="4590288"/>
            <a:ext cx="0" cy="1225295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Results, Analytical Skills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Peak-to-average power ratio, measured on the numbers we send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Four controls on the digital system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11111"/>
                </a:solidFill>
                <a:latin typeface="Arial"/>
              </a:rPr>
              <a:t>Each panel takes one design choice away and shows what it was worth.</a:t>
            </a:r>
          </a:p>
        </p:txBody>
      </p:sp>
      <p:pic>
        <p:nvPicPr>
          <p:cNvPr id="5" name="Picture 4" descr="07_secondary_contro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8307" y="1609344"/>
            <a:ext cx="3415079" cy="2487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4315968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Fixed settings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78608" y="4297680"/>
            <a:ext cx="882396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Sits at the fallback floor until +6 dB, then reaches 89.0%. Choosing settings per strength buys real reach.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4645152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4773168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Fixed modulation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78608" y="4754880"/>
            <a:ext cx="882396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Starts working later than adaptive selection, and settles near 88.7%.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5102352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" y="5230368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JPEG secondary curve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78608" y="5212080"/>
            <a:ext cx="882396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88.6% at +18 dB, with a full outage at +9 dB.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58368" y="5559552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58368" y="5687568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Sending the answer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78608" y="5669280"/>
            <a:ext cx="882396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82.0% once it arrives, using the sender’s own predicted label.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Results, Analytical Skills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Settings, image format, sending the answer, rebuilding the picture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The numbers behind the curves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55555"/>
                </a:solidFill>
                <a:latin typeface="Arial"/>
              </a:rPr>
              <a:t>How many of the 1,000 held-back pictures we labelled correctly, one picture at a time.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609344"/>
            <a:ext cx="530352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1/6 rate — 12,800 uses of the radio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883664"/>
            <a:ext cx="5157216" cy="365760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984248"/>
            <a:ext cx="160934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23744" y="1984248"/>
            <a:ext cx="32918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−8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72384" y="1984248"/>
            <a:ext cx="32918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−5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21024" y="1984248"/>
            <a:ext cx="32918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−4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9663" y="1984248"/>
            <a:ext cx="32918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18304" y="1984248"/>
            <a:ext cx="32918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+9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66944" y="1984248"/>
            <a:ext cx="36576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+18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249424"/>
            <a:ext cx="5157216" cy="402336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2350008"/>
            <a:ext cx="160934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Learned, one strength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23744" y="2350008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72.8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72384" y="2350008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77.5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21024" y="2350008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79.4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69663" y="2350008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81.2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8304" y="2350008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83.8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66944" y="2350008"/>
            <a:ext cx="36576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83.4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2651760"/>
            <a:ext cx="5157216" cy="402336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4944" y="2752344"/>
            <a:ext cx="160934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Digital, picks settings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752344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10.0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72384" y="2752344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10.0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21024" y="2752344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83.4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69663" y="2752344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87.3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18304" y="2752344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86.5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66944" y="2752344"/>
            <a:ext cx="36576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89.3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3054096"/>
            <a:ext cx="5157216" cy="402336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4944" y="3154679"/>
            <a:ext cx="160934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Learned, random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23744" y="3154679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77.0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72384" y="3154679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82.4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21024" y="3154679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82.4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69663" y="3154679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83.0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18304" y="3154679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84.1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66944" y="3154679"/>
            <a:ext cx="36576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83.9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3456432"/>
            <a:ext cx="5157216" cy="402336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4944" y="3557016"/>
            <a:ext cx="160934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Digital, learned feats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23744" y="3557016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10.0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072384" y="3557016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10.0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21024" y="3557016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82.0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69663" y="3557016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82.0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18304" y="3557016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82.0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66944" y="3557016"/>
            <a:ext cx="36576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82.0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3858768"/>
            <a:ext cx="5157216" cy="402336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94944" y="3959352"/>
            <a:ext cx="160934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Learned, power-limited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23744" y="3959352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75.9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072384" y="3959352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80.1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21024" y="3959352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80.5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69663" y="3959352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82.3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718304" y="3959352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83.0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66944" y="3959352"/>
            <a:ext cx="36576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83.2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2395728" y="1883664"/>
            <a:ext cx="0" cy="237744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944368" y="1883664"/>
            <a:ext cx="0" cy="237744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3493008" y="1883664"/>
            <a:ext cx="0" cy="237744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041648" y="1883664"/>
            <a:ext cx="0" cy="237744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590288" y="1883664"/>
            <a:ext cx="0" cy="237744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5138928" y="1883664"/>
            <a:ext cx="0" cy="237744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6144768" y="1609344"/>
            <a:ext cx="515721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1/24 rate — 3,200 uses of the radio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144768" y="1883664"/>
            <a:ext cx="5157216" cy="365760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272783" y="1984248"/>
            <a:ext cx="160934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System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01583" y="1984248"/>
            <a:ext cx="32918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−8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650224" y="1984248"/>
            <a:ext cx="32918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−4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98864" y="1984248"/>
            <a:ext cx="32918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−2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747504" y="1984248"/>
            <a:ext cx="32918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296144" y="1984248"/>
            <a:ext cx="32918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+4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844784" y="1984248"/>
            <a:ext cx="36576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+18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144768" y="2249424"/>
            <a:ext cx="5157216" cy="402336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272783" y="2350008"/>
            <a:ext cx="160934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Learned, one strength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3" y="2350008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49.4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650224" y="2350008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69.3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198864" y="2350008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76.2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47504" y="2350008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78.7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296144" y="2350008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82.0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844784" y="2350008"/>
            <a:ext cx="36576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82.8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44768" y="2651760"/>
            <a:ext cx="5157216" cy="402336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72783" y="2752344"/>
            <a:ext cx="160934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Digital, picks settings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101583" y="2752344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10.0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650224" y="2752344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10.0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198864" y="2752344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31.0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747504" y="2752344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69.4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296144" y="2752344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83.4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844784" y="2752344"/>
            <a:ext cx="36576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87.7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7973567" y="1883664"/>
            <a:ext cx="0" cy="1170432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8522208" y="1883664"/>
            <a:ext cx="0" cy="1170432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9070848" y="1883664"/>
            <a:ext cx="0" cy="1170432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9619488" y="1883664"/>
            <a:ext cx="0" cy="1170432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10168128" y="1883664"/>
            <a:ext cx="0" cy="1170432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10716767" y="1883664"/>
            <a:ext cx="0" cy="1170432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6144768" y="3054096"/>
            <a:ext cx="515721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Where the two lines cross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144768" y="3346704"/>
            <a:ext cx="5157216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At 1/6 rate, which system is ahead flips between −5 dB and −4 dB. We decided the crossing question on exactly that, before seeing the answer.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658368" y="4224528"/>
            <a:ext cx="1074420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658368" y="4352544"/>
            <a:ext cx="106070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11111"/>
                </a:solidFill>
                <a:latin typeface="Arial"/>
              </a:rPr>
              <a:t>Reading the two tables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58368" y="4681728"/>
            <a:ext cx="10607040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Each column is one signal strength; each cell is the number of correct labels out of the same 1,000 held-back pictures. At 1/6 rate the learned row leads up to −5 dB and the digital row leads from −4 dB. At 1/24 rate the digital row stays on the fallback floor four dB longer, then climbs past the learned row from +4 dB. The difference between the two tables is the effect of cutting radio time fourfold.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Results, Analytical Skills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Pictures labelled correctly out of 1,000 · held-back set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How to read these results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1463040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One training run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90087" y="1444752"/>
            <a:ext cx="8412480" cy="804671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A single observed measurement per figure, from one run over 1,000 held-back pictures.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58368" y="2194560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58368" y="2322576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Whole systems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90087" y="2304288"/>
            <a:ext cx="8412480" cy="804671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Marked by their own classifier on one side, by one trained on compressed images on the other. These numbers describe whole systems.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58368" y="3054096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58368" y="3182112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Different amounts of 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0087" y="3163824"/>
            <a:ext cx="8412480" cy="804671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Digital settings and grader were frozen from earlier validation work; the learned versions are separate training runs.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3913632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58368" y="4041648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Simulated channel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0087" y="4023360"/>
            <a:ext cx="8412480" cy="804671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Spike heights are measured on the numbers we send. Real-radio replay is scheduled for late October.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58368" y="4773168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58368" y="4901183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Frozen operating points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0087" y="4882896"/>
            <a:ext cx="8412480" cy="804671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The fallback rule and fixed settings produce visible jumps. Every curve passes through measured points.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58368" y="5870448"/>
            <a:ext cx="1074420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8368" y="5925312"/>
            <a:ext cx="107442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55555"/>
                </a:solidFill>
                <a:latin typeface="Arial"/>
              </a:rPr>
              <a:t>Both outcomes count as a successful project: a crossing, and the learned system winning everywhere.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Analytical Skills, Methodology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The qualifications behind every number in this deck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Four times we changed the approach because of what we found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55555"/>
                </a:solidFill>
                <a:latin typeface="Arial"/>
              </a:rPr>
              <a:t>Each one was a decision we would have got wrong on paper.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5404104" cy="2048256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773936"/>
            <a:ext cx="5038344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Baseline too weak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066543"/>
            <a:ext cx="5038344" cy="9692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We had pinned the digital system to the weakest radio setting, which made the lines crossing impossible by arithmetic. We let it pick a stronger setting as the signal improves.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49808" y="3090672"/>
            <a:ext cx="5038344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49808" y="3182112"/>
            <a:ext cx="5038344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55555"/>
                </a:solidFill>
                <a:latin typeface="Arial"/>
              </a:rPr>
              <a:t>The rule we adopted: every change strengthens the digital system or is decided in advance.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1344" y="1627632"/>
            <a:ext cx="5404104" cy="2048256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64224" y="1773936"/>
            <a:ext cx="5038344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Signal grid too coarse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64224" y="2066543"/>
            <a:ext cx="5038344" cy="9692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Our signal strengths were spaced 2 dB apart exactly where the sharpest drop happens, so we could have missed it entirely. We added three more strengths before it mattered.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64224" y="3090672"/>
            <a:ext cx="5038343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64224" y="3182112"/>
            <a:ext cx="5038344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55555"/>
                </a:solidFill>
                <a:latin typeface="Arial"/>
              </a:rPr>
              <a:t>Put the detail where the effect is.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840480"/>
            <a:ext cx="5404104" cy="2048256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3986784"/>
            <a:ext cx="5038344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A faulty check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4279392"/>
            <a:ext cx="5038344" cy="9692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The script that checks our packet sizes reported no problems while breaking four of its own rules. We fixed the script, and every result came out the same.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49808" y="5303520"/>
            <a:ext cx="5038344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49808" y="5394960"/>
            <a:ext cx="5038344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55555"/>
                </a:solidFill>
                <a:latin typeface="Arial"/>
              </a:rPr>
              <a:t>All 215 configurations stayed feasible, and every scientific outcome was unchanged.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81344" y="3840480"/>
            <a:ext cx="5404104" cy="2048256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224" y="3986784"/>
            <a:ext cx="5038344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Exam set unlocked too early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224" y="4279392"/>
            <a:ext cx="5038344" cy="9692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The exam set was set to unlock in week 9, about three weeks before the document that locks it existed. We moved that to week 11.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364224" y="5303520"/>
            <a:ext cx="5038343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364224" y="5394960"/>
            <a:ext cx="5038344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55555"/>
                </a:solidFill>
                <a:latin typeface="Arial"/>
              </a:rPr>
              <a:t>They have stayed locked ever since.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66928" y="59618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66928" y="6016752"/>
            <a:ext cx="11018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55555"/>
                </a:solidFill>
                <a:latin typeface="Arial"/>
              </a:rPr>
              <a:t>Twenty-two more changes were made during the project, three of them repairs to checks that were themselves wrong.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Methodology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What we changed once we could see the measurements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What we claim as new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627632"/>
            <a:ext cx="6967728" cy="1408176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755648"/>
            <a:ext cx="6565392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The task-aware digital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2084832"/>
            <a:ext cx="6565392" cy="6035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A second system sends learned features through the same error-correction code and radio settings, using the same amount of radio time. It tells “knows the task” apart from “codes both at once” inside one experiment.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68096" y="2706624"/>
            <a:ext cx="6565392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68096" y="2779776"/>
            <a:ext cx="6565392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55555"/>
                </a:solidFill>
                <a:latin typeface="Arial"/>
              </a:rPr>
              <a:t>Prior work reports the gap without this control.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200400"/>
            <a:ext cx="6967728" cy="1408176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3328416"/>
            <a:ext cx="6565392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Charging the overhead to the digital system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3657600"/>
            <a:ext cx="6565392" cy="6035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The picture file, framing, checksums and rate-matching bytes are all measured and counted, so the digital system is tuned on the payload it can genuinely use.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68096" y="4279392"/>
            <a:ext cx="6565392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68096" y="4352544"/>
            <a:ext cx="6565392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55555"/>
                </a:solidFill>
                <a:latin typeface="Arial"/>
              </a:rPr>
              <a:t>Prior work quotes a nominal rate and leaves the overhead uncounted.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82127" y="1627632"/>
            <a:ext cx="3657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11111"/>
                </a:solidFill>
                <a:latin typeface="Arial"/>
              </a:rPr>
              <a:t>What this builds 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82127" y="2011680"/>
            <a:ext cx="201168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2011680"/>
            <a:ext cx="3401568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11111"/>
                </a:solidFill>
                <a:latin typeface="Arial"/>
              </a:rPr>
              <a:t>Getting steadily worse as the link worsens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82127" y="2414016"/>
            <a:ext cx="201168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2414016"/>
            <a:ext cx="3401568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11111"/>
                </a:solidFill>
                <a:latin typeface="Arial"/>
              </a:rPr>
              <a:t>Avoiding the sudden drop-off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82127" y="2816352"/>
            <a:ext cx="201168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2816352"/>
            <a:ext cx="3401568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11111"/>
                </a:solidFill>
                <a:latin typeface="Arial"/>
              </a:rPr>
              <a:t>Sending task-aware features digitally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82127" y="3218688"/>
            <a:ext cx="201168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3218688"/>
            <a:ext cx="3401568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11111"/>
                </a:solidFill>
                <a:latin typeface="Arial"/>
              </a:rPr>
              <a:t>Training a neural encoder and decoder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82127" y="3712463"/>
            <a:ext cx="365760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55555"/>
                </a:solidFill>
                <a:latin typeface="Arial"/>
              </a:rPr>
              <a:t>All four are established in the prior literature. This project builds on them.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66928" y="4846320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66928" y="4974336"/>
            <a:ext cx="11018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11111"/>
                </a:solidFill>
                <a:latin typeface="Arial"/>
              </a:rPr>
              <a:t>Negative check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5303520"/>
            <a:ext cx="1101852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Each claim resolves to a specific entry in the 30-source literature review. The full written novelty statement ships with the final review package.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Originality, Novelty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Two claims · both about experimental design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Where the remaining weeks went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408176"/>
            <a:ext cx="1828800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29 Sep – 3 Oct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42032" y="1371600"/>
            <a:ext cx="24688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Second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1389888"/>
            <a:ext cx="517550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Held-back measurements complete; package and figures frozen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42448" y="1408176"/>
            <a:ext cx="109728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done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66928" y="1773936"/>
            <a:ext cx="1101852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66928" y="1956816"/>
            <a:ext cx="1828800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5 – 11 Oct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42032" y="1920240"/>
            <a:ext cx="24688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Open the exam set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1938528"/>
            <a:ext cx="517550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One guarded opening once the freeze is signed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42448" y="1956816"/>
            <a:ext cx="109728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99999"/>
                </a:solidFill>
                <a:latin typeface="Arial"/>
              </a:rPr>
              <a:t>planned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66928" y="2322576"/>
            <a:ext cx="1101852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66928" y="2505456"/>
            <a:ext cx="1828800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12 – 18 Oct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2032" y="2468880"/>
            <a:ext cx="24688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Decide everything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2487168"/>
            <a:ext cx="517550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Every hypothesis settled on the exam set; first tier frozen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42448" y="2505456"/>
            <a:ext cx="109728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99999"/>
                </a:solidFill>
                <a:latin typeface="Arial"/>
              </a:rPr>
              <a:t>planned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66928" y="2871216"/>
            <a:ext cx="1101852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66928" y="3054096"/>
            <a:ext cx="1828800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19 – 25 Oct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42032" y="3017520"/>
            <a:ext cx="24688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Demo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640" y="3035808"/>
            <a:ext cx="517550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Signal-strength slider, both systems side by side, frozen plot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42448" y="3054096"/>
            <a:ext cx="109728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99999"/>
                </a:solidFill>
                <a:latin typeface="Arial"/>
              </a:rPr>
              <a:t>planned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66928" y="3419856"/>
            <a:ext cx="1101852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66928" y="3602736"/>
            <a:ext cx="1828800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26 Oct – 1 Nov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42032" y="3566160"/>
            <a:ext cx="24688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Poster and hardware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3584448"/>
            <a:ext cx="517550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Poster draft; real radio only if the first tier leaves room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42448" y="3602736"/>
            <a:ext cx="109728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99999"/>
                </a:solidFill>
                <a:latin typeface="Arial"/>
              </a:rPr>
              <a:t>planned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66928" y="3968496"/>
            <a:ext cx="1101852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66928" y="4151376"/>
            <a:ext cx="1828800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2 – 8 Nov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42032" y="4114800"/>
            <a:ext cx="24688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Report freeze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0640" y="4133087"/>
            <a:ext cx="517550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Report finished in the required format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42448" y="4151376"/>
            <a:ext cx="109728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99999"/>
                </a:solidFill>
                <a:latin typeface="Arial"/>
              </a:rPr>
              <a:t>planned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66928" y="4517136"/>
            <a:ext cx="1101852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66928" y="4700016"/>
            <a:ext cx="1828800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9 – 15 Nov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42032" y="4663440"/>
            <a:ext cx="24688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Spare week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0640" y="4681727"/>
            <a:ext cx="517550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Report completion and checking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42448" y="4700016"/>
            <a:ext cx="109728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99999"/>
                </a:solidFill>
                <a:latin typeface="Arial"/>
              </a:rPr>
              <a:t>planned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66928" y="5065776"/>
            <a:ext cx="1101852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66928" y="5248656"/>
            <a:ext cx="1828800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16 – 22 Nov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42032" y="5212080"/>
            <a:ext cx="24688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Final Review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20640" y="5230368"/>
            <a:ext cx="517550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Final review 17–21 Nov; report and material due 20 Nov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42448" y="5248656"/>
            <a:ext cx="109728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99999"/>
                </a:solidFill>
                <a:latin typeface="Arial"/>
              </a:rPr>
              <a:t>planned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66928" y="5614416"/>
            <a:ext cx="1101852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66928" y="5907024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66928" y="5961888"/>
            <a:ext cx="11018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55555"/>
                </a:solidFill>
                <a:latin typeface="Arial"/>
              </a:rPr>
              <a:t>The report is due on 20 November, inside Final Review week, so the week before it is a freeze.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Timeline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Second Review 29 Sep–3 Oct · Final Review 17–21 Nov · report due 20 Nov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Where this leaves the project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426464"/>
            <a:ext cx="11018520" cy="1225296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645920"/>
            <a:ext cx="10433304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11111"/>
                </a:solidFill>
                <a:latin typeface="Arial"/>
              </a:rPr>
              <a:t>The learned system keeps answering when the link is too weak for the digital one to get a single picture through. Once the digital system starts delivering, it is the more accurate of the two. They cross between −5 and −4 dB.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962656"/>
            <a:ext cx="100583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11111"/>
                </a:solidFill>
                <a:latin typeface="Arial"/>
              </a:rPr>
              <a:t>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7" y="2944368"/>
            <a:ext cx="992124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55555"/>
                </a:solidFill>
                <a:latin typeface="Arial"/>
              </a:rPr>
              <a:t>One guarded run on the exam set once the locking manifest is signed.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66928" y="3346704"/>
            <a:ext cx="1101852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66928" y="3474720"/>
            <a:ext cx="100583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11111"/>
                </a:solidFill>
                <a:latin typeface="Arial"/>
              </a:rPr>
              <a:t>Then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7" y="3456432"/>
            <a:ext cx="992124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55555"/>
                </a:solidFill>
                <a:latin typeface="Arial"/>
              </a:rPr>
              <a:t>Every hypothesis settled on the exam set, and the first tier frozen.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66928" y="3858768"/>
            <a:ext cx="1101852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66928" y="3986784"/>
            <a:ext cx="100583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11111"/>
                </a:solidFill>
                <a:latin typeface="Arial"/>
              </a:rPr>
              <a:t>Later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7" y="3968496"/>
            <a:ext cx="992124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55555"/>
                </a:solidFill>
                <a:latin typeface="Arial"/>
              </a:rPr>
              <a:t>Real-radio replay and the live demo run once the first tier is frozen.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66928" y="4626864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66928" y="4791456"/>
            <a:ext cx="11018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11111"/>
                </a:solidFill>
                <a:latin typeface="Arial"/>
              </a:rPr>
              <a:t>What we are asking for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138928"/>
            <a:ext cx="1101852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Questions on the method or the numbers. The per-picture records behind any point here are available on request. The exam set stays sealed until week 11.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Results, Methodology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Questions welcome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20 /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Task-Oriented Deep Joint Source–Channel Coding — Second Review</dc:title>
  <dc:subject>Capstone Second Review, 29 September – 3 October 2026</dc:subject>
  <dc:creator>Capstone project team</dc:creator>
  <cp:keywords/>
  <dc:description>W10 validation evidence only; test split sealed. Editable native shapes and text.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