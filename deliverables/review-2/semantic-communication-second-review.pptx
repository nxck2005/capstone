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Task-Oriented Deep Joint Source–Channel Coding</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1481328"/>
            <a:ext cx="10844784" cy="402336"/>
          </a:xfrm>
          <a:prstGeom prst="rect">
            <a:avLst/>
          </a:prstGeom>
          <a:noFill/>
        </p:spPr>
        <p:txBody>
          <a:bodyPr wrap="square" lIns="45720" rIns="45720" anchor="t">
            <a:spAutoFit/>
          </a:bodyPr>
          <a:lstStyle/>
          <a:p>
            <a:pPr algn="ctr">
              <a:lnSpc>
                <a:spcPct val="100000"/>
              </a:lnSpc>
              <a:spcBef>
                <a:spcPts val="0"/>
              </a:spcBef>
              <a:spcAft>
                <a:spcPts val="0"/>
              </a:spcAft>
            </a:pPr>
            <a:r>
              <a:rPr sz="1900" b="0" i="1">
                <a:solidFill>
                  <a:srgbClr val="203A57"/>
                </a:solidFill>
                <a:latin typeface="Georgia"/>
              </a:rPr>
              <a:t>What a camera should send when the receiver only needs the answer</a:t>
            </a:r>
          </a:p>
        </p:txBody>
      </p:sp>
      <p:sp>
        <p:nvSpPr>
          <p:cNvPr id="7" name="Rounded Rectangle 6"/>
          <p:cNvSpPr/>
          <p:nvPr/>
        </p:nvSpPr>
        <p:spPr>
          <a:xfrm>
            <a:off x="1024128" y="2212848"/>
            <a:ext cx="2834640" cy="118872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203A57"/>
                </a:solidFill>
                <a:latin typeface="Arial"/>
              </a:rPr>
              <a:t>EDGE CAMERA</a:t>
            </a:r>
          </a:p>
        </p:txBody>
      </p:sp>
      <p:sp>
        <p:nvSpPr>
          <p:cNvPr id="9" name="TextBox 8"/>
          <p:cNvSpPr txBox="1"/>
          <p:nvPr/>
        </p:nvSpPr>
        <p:spPr>
          <a:xfrm>
            <a:off x="1225296"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sees an image</a:t>
            </a:r>
          </a:p>
        </p:txBody>
      </p:sp>
      <p:sp>
        <p:nvSpPr>
          <p:cNvPr id="10" name="Rounded Rectangle 9"/>
          <p:cNvSpPr/>
          <p:nvPr/>
        </p:nvSpPr>
        <p:spPr>
          <a:xfrm>
            <a:off x="4672584" y="2212848"/>
            <a:ext cx="2834640" cy="118872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8A3346"/>
                </a:solidFill>
                <a:latin typeface="Arial"/>
              </a:rPr>
              <a:t>SHORT, NOISY LINK</a:t>
            </a:r>
          </a:p>
        </p:txBody>
      </p:sp>
      <p:sp>
        <p:nvSpPr>
          <p:cNvPr id="12" name="TextBox 11"/>
          <p:cNvSpPr txBox="1"/>
          <p:nvPr/>
        </p:nvSpPr>
        <p:spPr>
          <a:xfrm>
            <a:off x="4873752"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cannot carry every pixel reliably</a:t>
            </a:r>
          </a:p>
        </p:txBody>
      </p:sp>
      <p:sp>
        <p:nvSpPr>
          <p:cNvPr id="13" name="Rounded Rectangle 12"/>
          <p:cNvSpPr/>
          <p:nvPr/>
        </p:nvSpPr>
        <p:spPr>
          <a:xfrm>
            <a:off x="8321040" y="2212848"/>
            <a:ext cx="2834640" cy="1188720"/>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22208"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496B5A"/>
                </a:solidFill>
                <a:latin typeface="Arial"/>
              </a:rPr>
              <a:t>RECEIVER CLASSIFIER</a:t>
            </a:r>
          </a:p>
        </p:txBody>
      </p:sp>
      <p:sp>
        <p:nvSpPr>
          <p:cNvPr id="15" name="TextBox 14"/>
          <p:cNvSpPr txBox="1"/>
          <p:nvPr/>
        </p:nvSpPr>
        <p:spPr>
          <a:xfrm>
            <a:off x="8522208"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needs one label back</a:t>
            </a:r>
          </a:p>
        </p:txBody>
      </p:sp>
      <p:cxnSp>
        <p:nvCxnSpPr>
          <p:cNvPr id="16" name="Connector 15"/>
          <p:cNvCxnSpPr/>
          <p:nvPr/>
        </p:nvCxnSpPr>
        <p:spPr>
          <a:xfrm>
            <a:off x="3950208" y="2807208"/>
            <a:ext cx="585216" cy="0"/>
          </a:xfrm>
          <a:prstGeom prst="line">
            <a:avLst/>
          </a:prstGeom>
          <a:ln w="15240">
            <a:solidFill>
              <a:srgbClr val="A8AFB6"/>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471416" y="2756915"/>
            <a:ext cx="128016" cy="100584"/>
          </a:xfrm>
          <a:prstGeom prst="triangle">
            <a:avLst/>
          </a:prstGeom>
          <a:solidFill>
            <a:srgbClr val="A8AF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598664" y="2807208"/>
            <a:ext cx="585216" cy="0"/>
          </a:xfrm>
          <a:prstGeom prst="line">
            <a:avLst/>
          </a:prstGeom>
          <a:ln w="15240">
            <a:solidFill>
              <a:srgbClr val="A8AFB6"/>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8119872" y="2756915"/>
            <a:ext cx="128016" cy="100584"/>
          </a:xfrm>
          <a:prstGeom prst="triangle">
            <a:avLst/>
          </a:prstGeom>
          <a:solidFill>
            <a:srgbClr val="A8AF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3913632"/>
            <a:ext cx="10268712" cy="1207008"/>
          </a:xfrm>
          <a:prstGeom prst="roundRect">
            <a:avLst/>
          </a:prstGeom>
          <a:solidFill>
            <a:srgbClr val="FFFEFA"/>
          </a:solidFill>
          <a:ln w="1397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225296" y="4133087"/>
            <a:ext cx="804672" cy="246888"/>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69663"/>
            <a:ext cx="658368"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8A3346"/>
                </a:solidFill>
                <a:latin typeface="Arial"/>
              </a:rPr>
              <a:t>THESIS</a:t>
            </a:r>
          </a:p>
        </p:txBody>
      </p:sp>
      <p:sp>
        <p:nvSpPr>
          <p:cNvPr id="23" name="TextBox 22"/>
          <p:cNvSpPr txBox="1"/>
          <p:nvPr/>
        </p:nvSpPr>
        <p:spPr>
          <a:xfrm>
            <a:off x="1216152" y="4517136"/>
            <a:ext cx="9747504" cy="384048"/>
          </a:xfrm>
          <a:prstGeom prst="rect">
            <a:avLst/>
          </a:prstGeom>
          <a:noFill/>
        </p:spPr>
        <p:txBody>
          <a:bodyPr wrap="square" lIns="45720" rIns="45720" anchor="ctr">
            <a:spAutoFit/>
          </a:bodyPr>
          <a:lstStyle/>
          <a:p>
            <a:pPr algn="ctr">
              <a:lnSpc>
                <a:spcPct val="100000"/>
              </a:lnSpc>
              <a:spcBef>
                <a:spcPts val="0"/>
              </a:spcBef>
              <a:spcAft>
                <a:spcPts val="0"/>
              </a:spcAft>
            </a:pPr>
            <a:r>
              <a:rPr sz="1620" b="0" i="0">
                <a:solidFill>
                  <a:srgbClr val="18212B"/>
                </a:solidFill>
                <a:latin typeface="Georgia"/>
              </a:rPr>
              <a:t>Train the sender and the receiver together so the classification decision survives a short, noisy link.</a:t>
            </a:r>
          </a:p>
        </p:txBody>
      </p:sp>
      <p:sp>
        <p:nvSpPr>
          <p:cNvPr id="24" name="Rounded Rectangle 23"/>
          <p:cNvSpPr/>
          <p:nvPr/>
        </p:nvSpPr>
        <p:spPr>
          <a:xfrm>
            <a:off x="960120" y="5358384"/>
            <a:ext cx="10268712" cy="841248"/>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97864" y="5504688"/>
            <a:ext cx="9793224" cy="566928"/>
          </a:xfrm>
          <a:prstGeom prst="rect">
            <a:avLst/>
          </a:prstGeom>
          <a:noFill/>
        </p:spPr>
        <p:txBody>
          <a:bodyPr wrap="square" lIns="45720" rIns="45720" anchor="t">
            <a:spAutoFit/>
          </a:bodyPr>
          <a:lstStyle/>
          <a:p>
            <a:pPr algn="ctr">
              <a:lnSpc>
                <a:spcPct val="100000"/>
              </a:lnSpc>
              <a:spcBef>
                <a:spcPts val="0"/>
              </a:spcBef>
              <a:spcAft>
                <a:spcPts val="0"/>
              </a:spcAft>
            </a:pPr>
            <a:r>
              <a:rPr sz="1140" b="0" i="0">
                <a:solidFill>
                  <a:srgbClr val="A46A28"/>
                </a:solidFill>
                <a:latin typeface="Arial"/>
              </a:rPr>
              <a:t>Second Review, 29 September – 3 October 2026.</a:t>
            </a:r>
            <a:br/>
            <a:r>
              <a:rPr sz="1140" b="0" i="0">
                <a:solidFill>
                  <a:srgbClr val="A46A28"/>
                </a:solidFill>
                <a:latin typeface="Arial"/>
              </a:rPr>
              <a:t>Everything shown here was measured on the validation split. No test data has been read.</a:t>
            </a:r>
          </a:p>
        </p:txBody>
      </p:sp>
      <p:cxnSp>
        <p:nvCxnSpPr>
          <p:cNvPr id="26" name="Connector 25"/>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9" name="Rounded Rectangle 28"/>
          <p:cNvSpPr/>
          <p:nvPr/>
        </p:nvSpPr>
        <p:spPr>
          <a:xfrm>
            <a:off x="1287475" y="6519672"/>
            <a:ext cx="958291"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1483" y="6547104"/>
            <a:ext cx="830275"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PRESENTATION</a:t>
            </a:r>
          </a:p>
        </p:txBody>
      </p:sp>
      <p:sp>
        <p:nvSpPr>
          <p:cNvPr id="31" name="TextBox 30"/>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Validation evidence only · the test split has never been opened</a:t>
            </a:r>
          </a:p>
        </p:txBody>
      </p:sp>
      <p:sp>
        <p:nvSpPr>
          <p:cNvPr id="32" name="TextBox 31"/>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changed between the two reviews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316736"/>
            <a:ext cx="10680192" cy="310896"/>
          </a:xfrm>
          <a:prstGeom prst="rect">
            <a:avLst/>
          </a:prstGeom>
          <a:noFill/>
        </p:spPr>
        <p:txBody>
          <a:bodyPr wrap="square" lIns="45720" rIns="45720" anchor="t">
            <a:spAutoFit/>
          </a:bodyPr>
          <a:lstStyle/>
          <a:p>
            <a:pPr algn="ctr">
              <a:lnSpc>
                <a:spcPct val="100000"/>
              </a:lnSpc>
              <a:spcBef>
                <a:spcPts val="0"/>
              </a:spcBef>
              <a:spcAft>
                <a:spcPts val="0"/>
              </a:spcAft>
            </a:pPr>
            <a:r>
              <a:rPr sz="1360" b="0" i="0">
                <a:solidFill>
                  <a:srgbClr val="5B6570"/>
                </a:solidFill>
                <a:latin typeface="Georgia"/>
              </a:rPr>
              <a:t>In August we had a working classical chain and no trained learned model. Both exist now.</a:t>
            </a:r>
          </a:p>
        </p:txBody>
      </p:sp>
      <p:sp>
        <p:nvSpPr>
          <p:cNvPr id="7" name="Rounded Rectangle 6"/>
          <p:cNvSpPr/>
          <p:nvPr/>
        </p:nvSpPr>
        <p:spPr>
          <a:xfrm>
            <a:off x="749808" y="1792224"/>
            <a:ext cx="10680192" cy="4261104"/>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2011680"/>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Aug</a:t>
            </a:r>
          </a:p>
        </p:txBody>
      </p:sp>
      <p:sp>
        <p:nvSpPr>
          <p:cNvPr id="9" name="TextBox 8"/>
          <p:cNvSpPr txBox="1"/>
          <p:nvPr/>
        </p:nvSpPr>
        <p:spPr>
          <a:xfrm>
            <a:off x="1700784" y="1975104"/>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Classical baseline</a:t>
            </a:r>
          </a:p>
        </p:txBody>
      </p:sp>
      <p:sp>
        <p:nvSpPr>
          <p:cNvPr id="10" name="TextBox 9"/>
          <p:cNvSpPr txBox="1"/>
          <p:nvPr/>
        </p:nvSpPr>
        <p:spPr>
          <a:xfrm>
            <a:off x="3968496" y="1993392"/>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3,213 measured BLER identities, 153 BLER curves, 288,000-row validation sweep, per-SNR adaptive selection frozen</a:t>
            </a:r>
          </a:p>
        </p:txBody>
      </p:sp>
      <p:cxnSp>
        <p:nvCxnSpPr>
          <p:cNvPr id="11" name="Connector 10"/>
          <p:cNvCxnSpPr/>
          <p:nvPr/>
        </p:nvCxnSpPr>
        <p:spPr>
          <a:xfrm>
            <a:off x="969264" y="2404872"/>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2519172"/>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Aug</a:t>
            </a:r>
          </a:p>
        </p:txBody>
      </p:sp>
      <p:sp>
        <p:nvSpPr>
          <p:cNvPr id="13" name="TextBox 12"/>
          <p:cNvSpPr txBox="1"/>
          <p:nvPr/>
        </p:nvSpPr>
        <p:spPr>
          <a:xfrm>
            <a:off x="1700784" y="2482596"/>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Learned training</a:t>
            </a:r>
          </a:p>
        </p:txBody>
      </p:sp>
      <p:sp>
        <p:nvSpPr>
          <p:cNvPr id="14" name="TextBox 13"/>
          <p:cNvSpPr txBox="1"/>
          <p:nvPr/>
        </p:nvSpPr>
        <p:spPr>
          <a:xfrm>
            <a:off x="3968496" y="2500884"/>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Checkpoint/resume loop, multi-seed headline models, three frozen seed cells at 1/6</a:t>
            </a:r>
          </a:p>
        </p:txBody>
      </p:sp>
      <p:cxnSp>
        <p:nvCxnSpPr>
          <p:cNvPr id="15" name="Connector 14"/>
          <p:cNvCxnSpPr/>
          <p:nvPr/>
        </p:nvCxnSpPr>
        <p:spPr>
          <a:xfrm>
            <a:off x="969264" y="2912364"/>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3026664"/>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17" name="TextBox 16"/>
          <p:cNvSpPr txBox="1"/>
          <p:nvPr/>
        </p:nvSpPr>
        <p:spPr>
          <a:xfrm>
            <a:off x="1700784" y="2990088"/>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Attribution control</a:t>
            </a:r>
          </a:p>
        </p:txBody>
      </p:sp>
      <p:sp>
        <p:nvSpPr>
          <p:cNvPr id="18" name="TextBox 17"/>
          <p:cNvSpPr txBox="1"/>
          <p:nvPr/>
        </p:nvSpPr>
        <p:spPr>
          <a:xfrm>
            <a:off x="3968496" y="3008376"/>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ER-9 task-aware digital features over the same LDPC chain — the control for H4</a:t>
            </a:r>
          </a:p>
        </p:txBody>
      </p:sp>
      <p:cxnSp>
        <p:nvCxnSpPr>
          <p:cNvPr id="19" name="Connector 18"/>
          <p:cNvCxnSpPr/>
          <p:nvPr/>
        </p:nvCxnSpPr>
        <p:spPr>
          <a:xfrm>
            <a:off x="969264" y="3419856"/>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9264" y="3534156"/>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1" name="TextBox 20"/>
          <p:cNvSpPr txBox="1"/>
          <p:nvPr/>
        </p:nvSpPr>
        <p:spPr>
          <a:xfrm>
            <a:off x="1700784" y="3497580"/>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Robustness</a:t>
            </a:r>
          </a:p>
        </p:txBody>
      </p:sp>
      <p:sp>
        <p:nvSpPr>
          <p:cNvPr id="22" name="TextBox 21"/>
          <p:cNvSpPr txBox="1"/>
          <p:nvPr/>
        </p:nvSpPr>
        <p:spPr>
          <a:xfrm>
            <a:off x="3968496" y="3515868"/>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SNR-randomised training variant, compared against fixed-SNR training</a:t>
            </a:r>
          </a:p>
        </p:txBody>
      </p:sp>
      <p:cxnSp>
        <p:nvCxnSpPr>
          <p:cNvPr id="23" name="Connector 22"/>
          <p:cNvCxnSpPr/>
          <p:nvPr/>
        </p:nvCxnSpPr>
        <p:spPr>
          <a:xfrm>
            <a:off x="969264" y="3927348"/>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4041648"/>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5" name="TextBox 24"/>
          <p:cNvSpPr txBox="1"/>
          <p:nvPr/>
        </p:nvSpPr>
        <p:spPr>
          <a:xfrm>
            <a:off x="1700784" y="4005072"/>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Crossover decision</a:t>
            </a:r>
          </a:p>
        </p:txBody>
      </p:sp>
      <p:sp>
        <p:nvSpPr>
          <p:cNvPr id="26" name="TextBox 25"/>
          <p:cNvSpPr txBox="1"/>
          <p:nvPr/>
        </p:nvSpPr>
        <p:spPr>
          <a:xfrm>
            <a:off x="3968496" y="4023360"/>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G-10 closed on frozen validation curves: crossover observed between −5 and −4 dB</a:t>
            </a:r>
          </a:p>
        </p:txBody>
      </p:sp>
      <p:cxnSp>
        <p:nvCxnSpPr>
          <p:cNvPr id="27" name="Connector 26"/>
          <p:cNvCxnSpPr/>
          <p:nvPr/>
        </p:nvCxnSpPr>
        <p:spPr>
          <a:xfrm>
            <a:off x="969264" y="4434840"/>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9264" y="4549140"/>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9" name="TextBox 28"/>
          <p:cNvSpPr txBox="1"/>
          <p:nvPr/>
        </p:nvSpPr>
        <p:spPr>
          <a:xfrm>
            <a:off x="1700784" y="4512564"/>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Peak-power constraint</a:t>
            </a:r>
          </a:p>
        </p:txBody>
      </p:sp>
      <p:sp>
        <p:nvSpPr>
          <p:cNvPr id="30" name="TextBox 29"/>
          <p:cNvSpPr txBox="1"/>
          <p:nvPr/>
        </p:nvSpPr>
        <p:spPr>
          <a:xfrm>
            <a:off x="3968496" y="4530852"/>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One PAPR-constrained training run, capped at 3 dB in the symbol domain</a:t>
            </a:r>
          </a:p>
        </p:txBody>
      </p:sp>
      <p:cxnSp>
        <p:nvCxnSpPr>
          <p:cNvPr id="31" name="Connector 30"/>
          <p:cNvCxnSpPr/>
          <p:nvPr/>
        </p:nvCxnSpPr>
        <p:spPr>
          <a:xfrm>
            <a:off x="969264" y="4942332"/>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69264" y="5056632"/>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8A3346"/>
                </a:solidFill>
                <a:latin typeface="Cascadia Mono"/>
              </a:rPr>
              <a:t>Oct</a:t>
            </a:r>
          </a:p>
        </p:txBody>
      </p:sp>
      <p:sp>
        <p:nvSpPr>
          <p:cNvPr id="33" name="TextBox 32"/>
          <p:cNvSpPr txBox="1"/>
          <p:nvPr/>
        </p:nvSpPr>
        <p:spPr>
          <a:xfrm>
            <a:off x="1700784" y="5020056"/>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Validation rehearsal</a:t>
            </a:r>
          </a:p>
        </p:txBody>
      </p:sp>
      <p:sp>
        <p:nvSpPr>
          <p:cNvPr id="34" name="TextBox 33"/>
          <p:cNvSpPr txBox="1"/>
          <p:nvPr/>
        </p:nvSpPr>
        <p:spPr>
          <a:xfrm>
            <a:off x="3968496" y="5038344"/>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252 measurement units across 12 arms and 21 SNRs, 1,000 images each</a:t>
            </a:r>
          </a:p>
        </p:txBody>
      </p:sp>
      <p:cxnSp>
        <p:nvCxnSpPr>
          <p:cNvPr id="35" name="Connector 34"/>
          <p:cNvCxnSpPr/>
          <p:nvPr/>
        </p:nvCxnSpPr>
        <p:spPr>
          <a:xfrm>
            <a:off x="969264" y="5449824"/>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9264" y="5564124"/>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A8AFB6"/>
                </a:solidFill>
                <a:latin typeface="Cascadia Mono"/>
              </a:rPr>
              <a:t>Nov</a:t>
            </a:r>
          </a:p>
        </p:txBody>
      </p:sp>
      <p:sp>
        <p:nvSpPr>
          <p:cNvPr id="37" name="TextBox 36"/>
          <p:cNvSpPr txBox="1"/>
          <p:nvPr/>
        </p:nvSpPr>
        <p:spPr>
          <a:xfrm>
            <a:off x="1700784" y="5527548"/>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Test campaign</a:t>
            </a:r>
          </a:p>
        </p:txBody>
      </p:sp>
      <p:sp>
        <p:nvSpPr>
          <p:cNvPr id="38" name="TextBox 37"/>
          <p:cNvSpPr txBox="1"/>
          <p:nvPr/>
        </p:nvSpPr>
        <p:spPr>
          <a:xfrm>
            <a:off x="3968496" y="5545836"/>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Still sealed. Opens at G-12 once the freeze manifest is signed</a:t>
            </a:r>
          </a:p>
        </p:txBody>
      </p:sp>
      <p:sp>
        <p:nvSpPr>
          <p:cNvPr id="39" name="TextBox 38"/>
          <p:cNvSpPr txBox="1"/>
          <p:nvPr/>
        </p:nvSpPr>
        <p:spPr>
          <a:xfrm>
            <a:off x="749808" y="6163056"/>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960" b="0" i="1">
                <a:solidFill>
                  <a:srgbClr val="8A3346"/>
                </a:solidFill>
                <a:latin typeface="Arial"/>
              </a:rPr>
              <a:t>Everything above ran on the validation split. The test split stays sealed until gate G-12.</a:t>
            </a:r>
          </a:p>
        </p:txBody>
      </p:sp>
      <p:cxnSp>
        <p:nvCxnSpPr>
          <p:cNvPr id="40" name="Connector 3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72420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59" y="6547104"/>
            <a:ext cx="59618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TIMELINE</a:t>
            </a:r>
          </a:p>
        </p:txBody>
      </p:sp>
      <p:sp>
        <p:nvSpPr>
          <p:cNvPr id="43" name="Rounded Rectangle 42"/>
          <p:cNvSpPr/>
          <p:nvPr/>
        </p:nvSpPr>
        <p:spPr>
          <a:xfrm>
            <a:off x="1345996"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0004"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45" name="TextBox 44"/>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First Review 18–22 Aug 2026 · Second Review 29 Sep–3 Oct 2026</a:t>
            </a:r>
          </a:p>
        </p:txBody>
      </p:sp>
      <p:sp>
        <p:nvSpPr>
          <p:cNvPr id="46" name="TextBox 45"/>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02/18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Objectives, stated as completion criteria</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98448"/>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The rubric asks whether objectives were met, so they are written as things we did, not results we hoped for.</a:t>
            </a:r>
          </a:p>
        </p:txBody>
      </p:sp>
      <p:sp>
        <p:nvSpPr>
          <p:cNvPr id="7" name="Rounded Rectangle 6"/>
          <p:cNvSpPr/>
          <p:nvPr/>
        </p:nvSpPr>
        <p:spPr>
          <a:xfrm>
            <a:off x="749808" y="1755648"/>
            <a:ext cx="6839712" cy="422452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1975104"/>
            <a:ext cx="93268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011680"/>
            <a:ext cx="78638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WE SET OUT TO</a:t>
            </a:r>
          </a:p>
        </p:txBody>
      </p:sp>
      <p:sp>
        <p:nvSpPr>
          <p:cNvPr id="10" name="Oval 9"/>
          <p:cNvSpPr/>
          <p:nvPr/>
        </p:nvSpPr>
        <p:spPr>
          <a:xfrm>
            <a:off x="1014984" y="2450592"/>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2505456"/>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1</a:t>
            </a:r>
          </a:p>
        </p:txBody>
      </p:sp>
      <p:sp>
        <p:nvSpPr>
          <p:cNvPr id="12" name="TextBox 11"/>
          <p:cNvSpPr txBox="1"/>
          <p:nvPr/>
        </p:nvSpPr>
        <p:spPr>
          <a:xfrm>
            <a:off x="1389888" y="243230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Build</a:t>
            </a:r>
          </a:p>
        </p:txBody>
      </p:sp>
      <p:sp>
        <p:nvSpPr>
          <p:cNvPr id="13" name="TextBox 12"/>
          <p:cNvSpPr txBox="1"/>
          <p:nvPr/>
        </p:nvSpPr>
        <p:spPr>
          <a:xfrm>
            <a:off x="2944368" y="2414016"/>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A learned encoder and decoder trained end to end for image classification over a simulated AWGN link.</a:t>
            </a:r>
          </a:p>
        </p:txBody>
      </p:sp>
      <p:cxnSp>
        <p:nvCxnSpPr>
          <p:cNvPr id="14" name="Connector 13"/>
          <p:cNvCxnSpPr/>
          <p:nvPr/>
        </p:nvCxnSpPr>
        <p:spPr>
          <a:xfrm>
            <a:off x="1389888" y="2980944"/>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4" y="3140964"/>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3195828"/>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2</a:t>
            </a:r>
          </a:p>
        </p:txBody>
      </p:sp>
      <p:sp>
        <p:nvSpPr>
          <p:cNvPr id="17" name="TextBox 16"/>
          <p:cNvSpPr txBox="1"/>
          <p:nvPr/>
        </p:nvSpPr>
        <p:spPr>
          <a:xfrm>
            <a:off x="1389888" y="3122676"/>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Bandwidth-match</a:t>
            </a:r>
          </a:p>
        </p:txBody>
      </p:sp>
      <p:sp>
        <p:nvSpPr>
          <p:cNvPr id="18" name="TextBox 17"/>
          <p:cNvSpPr txBox="1"/>
          <p:nvPr/>
        </p:nvSpPr>
        <p:spPr>
          <a:xfrm>
            <a:off x="2944368" y="3104388"/>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Every system gets the same channel-use budget at each SNR and ratio.</a:t>
            </a:r>
          </a:p>
        </p:txBody>
      </p:sp>
      <p:cxnSp>
        <p:nvCxnSpPr>
          <p:cNvPr id="19" name="Connector 18"/>
          <p:cNvCxnSpPr/>
          <p:nvPr/>
        </p:nvCxnSpPr>
        <p:spPr>
          <a:xfrm>
            <a:off x="1389888" y="3671315"/>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4" y="3831335"/>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4984" y="3886200"/>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3</a:t>
            </a:r>
          </a:p>
        </p:txBody>
      </p:sp>
      <p:sp>
        <p:nvSpPr>
          <p:cNvPr id="22" name="TextBox 21"/>
          <p:cNvSpPr txBox="1"/>
          <p:nvPr/>
        </p:nvSpPr>
        <p:spPr>
          <a:xfrm>
            <a:off x="1389888" y="381304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Bit-account</a:t>
            </a:r>
          </a:p>
        </p:txBody>
      </p:sp>
      <p:sp>
        <p:nvSpPr>
          <p:cNvPr id="23" name="TextBox 22"/>
          <p:cNvSpPr txBox="1"/>
          <p:nvPr/>
        </p:nvSpPr>
        <p:spPr>
          <a:xfrm>
            <a:off x="2944368" y="3794760"/>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Filler, CRC, code-block segmentation and rate matching are charged before any source byte.</a:t>
            </a:r>
          </a:p>
        </p:txBody>
      </p:sp>
      <p:cxnSp>
        <p:nvCxnSpPr>
          <p:cNvPr id="24" name="Connector 23"/>
          <p:cNvCxnSpPr/>
          <p:nvPr/>
        </p:nvCxnSpPr>
        <p:spPr>
          <a:xfrm>
            <a:off x="1389888" y="4361688"/>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014984" y="4521708"/>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4576572"/>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4</a:t>
            </a:r>
          </a:p>
        </p:txBody>
      </p:sp>
      <p:sp>
        <p:nvSpPr>
          <p:cNvPr id="27" name="TextBox 26"/>
          <p:cNvSpPr txBox="1"/>
          <p:nvPr/>
        </p:nvSpPr>
        <p:spPr>
          <a:xfrm>
            <a:off x="1389888" y="4503420"/>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Evaluate</a:t>
            </a:r>
          </a:p>
        </p:txBody>
      </p:sp>
      <p:sp>
        <p:nvSpPr>
          <p:cNvPr id="28" name="TextBox 27"/>
          <p:cNvSpPr txBox="1"/>
          <p:nvPr/>
        </p:nvSpPr>
        <p:spPr>
          <a:xfrm>
            <a:off x="2944368" y="4485132"/>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At the operating point chosen by a classical-only rule, so the selection never saw the learned curve.</a:t>
            </a:r>
          </a:p>
        </p:txBody>
      </p:sp>
      <p:cxnSp>
        <p:nvCxnSpPr>
          <p:cNvPr id="29" name="Connector 28"/>
          <p:cNvCxnSpPr/>
          <p:nvPr/>
        </p:nvCxnSpPr>
        <p:spPr>
          <a:xfrm>
            <a:off x="1389888" y="5052060"/>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14984" y="5212079"/>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4" y="5266944"/>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5</a:t>
            </a:r>
          </a:p>
        </p:txBody>
      </p:sp>
      <p:sp>
        <p:nvSpPr>
          <p:cNvPr id="32" name="TextBox 31"/>
          <p:cNvSpPr txBox="1"/>
          <p:nvPr/>
        </p:nvSpPr>
        <p:spPr>
          <a:xfrm>
            <a:off x="1389888" y="5193792"/>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Report</a:t>
            </a:r>
          </a:p>
        </p:txBody>
      </p:sp>
      <p:sp>
        <p:nvSpPr>
          <p:cNvPr id="33" name="TextBox 32"/>
          <p:cNvSpPr txBox="1"/>
          <p:nvPr/>
        </p:nvSpPr>
        <p:spPr>
          <a:xfrm>
            <a:off x="2944368" y="5175504"/>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Paired per-image outcomes, including the outage decision, on every row.</a:t>
            </a:r>
          </a:p>
        </p:txBody>
      </p:sp>
      <p:sp>
        <p:nvSpPr>
          <p:cNvPr id="34" name="Rounded Rectangle 33"/>
          <p:cNvSpPr/>
          <p:nvPr/>
        </p:nvSpPr>
        <p:spPr>
          <a:xfrm>
            <a:off x="7900416" y="1755648"/>
            <a:ext cx="3529584" cy="4224528"/>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56448" y="1975104"/>
            <a:ext cx="1298448" cy="2468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0" y="2011680"/>
            <a:ext cx="115214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496B5A"/>
                </a:solidFill>
                <a:latin typeface="Arial"/>
              </a:rPr>
              <a:t>NOT THE OBJECTIVE</a:t>
            </a:r>
          </a:p>
        </p:txBody>
      </p:sp>
      <p:sp>
        <p:nvSpPr>
          <p:cNvPr id="37" name="TextBox 36"/>
          <p:cNvSpPr txBox="1"/>
          <p:nvPr/>
        </p:nvSpPr>
        <p:spPr>
          <a:xfrm>
            <a:off x="8156448" y="2487168"/>
            <a:ext cx="3017520" cy="1463040"/>
          </a:xfrm>
          <a:prstGeom prst="rect">
            <a:avLst/>
          </a:prstGeom>
          <a:noFill/>
        </p:spPr>
        <p:txBody>
          <a:bodyPr wrap="square" lIns="45720" rIns="45720" anchor="t">
            <a:spAutoFit/>
          </a:bodyPr>
          <a:lstStyle/>
          <a:p>
            <a:pPr algn="ctr">
              <a:lnSpc>
                <a:spcPct val="100000"/>
              </a:lnSpc>
              <a:spcBef>
                <a:spcPts val="0"/>
              </a:spcBef>
              <a:spcAft>
                <a:spcPts val="0"/>
              </a:spcAft>
            </a:pPr>
            <a:r>
              <a:rPr sz="1500" b="1" i="0">
                <a:solidFill>
                  <a:srgbClr val="18212B"/>
                </a:solidFill>
                <a:latin typeface="Georgia"/>
              </a:rPr>
              <a:t>“Show that the learned system beats the classical one.”</a:t>
            </a:r>
          </a:p>
        </p:txBody>
      </p:sp>
      <p:sp>
        <p:nvSpPr>
          <p:cNvPr id="38" name="TextBox 37"/>
          <p:cNvSpPr txBox="1"/>
          <p:nvPr/>
        </p:nvSpPr>
        <p:spPr>
          <a:xfrm>
            <a:off x="8156448" y="4078224"/>
            <a:ext cx="3017520" cy="1572768"/>
          </a:xfrm>
          <a:prstGeom prst="rect">
            <a:avLst/>
          </a:prstGeom>
          <a:noFill/>
        </p:spPr>
        <p:txBody>
          <a:bodyPr wrap="square" lIns="45720" rIns="45720" anchor="t">
            <a:spAutoFit/>
          </a:bodyPr>
          <a:lstStyle/>
          <a:p>
            <a:pPr algn="ctr">
              <a:lnSpc>
                <a:spcPct val="100000"/>
              </a:lnSpc>
              <a:spcBef>
                <a:spcPts val="0"/>
              </a:spcBef>
              <a:spcAft>
                <a:spcPts val="0"/>
              </a:spcAft>
            </a:pPr>
            <a:r>
              <a:rPr sz="1040" b="0" i="0">
                <a:solidFill>
                  <a:srgbClr val="496B5A"/>
                </a:solidFill>
                <a:latin typeface="Arial"/>
              </a:rPr>
              <a:t>That is a result, not an objective. A crossover and learned dominance are both complete outcomes under SPEC §2, and the rubric scores the second review on objectives we set — not on which way the curve went.</a:t>
            </a:r>
          </a:p>
        </p:txBody>
      </p:sp>
      <p:sp>
        <p:nvSpPr>
          <p:cNvPr id="39" name="TextBox 38"/>
          <p:cNvSpPr txBox="1"/>
          <p:nvPr/>
        </p:nvSpPr>
        <p:spPr>
          <a:xfrm>
            <a:off x="749808" y="6108192"/>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980" b="0" i="1">
                <a:solidFill>
                  <a:srgbClr val="5B6570"/>
                </a:solidFill>
                <a:latin typeface="Arial"/>
              </a:rPr>
              <a:t>G-10 found a crossover, so DEC-16's fallback clause never fired and the objectives were not rewritten.</a:t>
            </a:r>
          </a:p>
        </p:txBody>
      </p:sp>
      <p:cxnSp>
        <p:nvCxnSpPr>
          <p:cNvPr id="40" name="Connector 3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107533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59" y="6547104"/>
            <a:ext cx="94731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OBJECTIVES MET</a:t>
            </a:r>
          </a:p>
        </p:txBody>
      </p:sp>
      <p:sp>
        <p:nvSpPr>
          <p:cNvPr id="43" name="Rounded Rectangle 42"/>
          <p:cNvSpPr/>
          <p:nvPr/>
        </p:nvSpPr>
        <p:spPr>
          <a:xfrm>
            <a:off x="1697126"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761134"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45" name="TextBox 44"/>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SPEC §2 wording · objectives are not restated at this review</a:t>
            </a:r>
          </a:p>
        </p:txBody>
      </p:sp>
      <p:sp>
        <p:nvSpPr>
          <p:cNvPr id="46" name="TextBox 45"/>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03/18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was measured for this review</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71600"/>
            <a:ext cx="1993392" cy="157276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371600"/>
            <a:ext cx="1993392" cy="50292"/>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45920"/>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700" b="1" i="0">
                <a:solidFill>
                  <a:srgbClr val="203A57"/>
                </a:solidFill>
                <a:latin typeface="Georgia"/>
              </a:rPr>
              <a:t>252</a:t>
            </a:r>
          </a:p>
        </p:txBody>
      </p:sp>
      <p:sp>
        <p:nvSpPr>
          <p:cNvPr id="9" name="TextBox 8"/>
          <p:cNvSpPr txBox="1"/>
          <p:nvPr/>
        </p:nvSpPr>
        <p:spPr>
          <a:xfrm>
            <a:off x="896112" y="2231136"/>
            <a:ext cx="1700784" cy="60350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measurement units, each one row of the published aggregate</a:t>
            </a:r>
          </a:p>
        </p:txBody>
      </p:sp>
      <p:sp>
        <p:nvSpPr>
          <p:cNvPr id="10" name="Rounded Rectangle 9"/>
          <p:cNvSpPr/>
          <p:nvPr/>
        </p:nvSpPr>
        <p:spPr>
          <a:xfrm>
            <a:off x="2907791" y="1371600"/>
            <a:ext cx="1993392" cy="157276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07791" y="1371600"/>
            <a:ext cx="1993392"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54096" y="1645920"/>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700" b="1" i="0">
                <a:solidFill>
                  <a:srgbClr val="8A3346"/>
                </a:solidFill>
                <a:latin typeface="Georgia"/>
              </a:rPr>
              <a:t>12</a:t>
            </a:r>
          </a:p>
        </p:txBody>
      </p:sp>
      <p:sp>
        <p:nvSpPr>
          <p:cNvPr id="13" name="TextBox 12"/>
          <p:cNvSpPr txBox="1"/>
          <p:nvPr/>
        </p:nvSpPr>
        <p:spPr>
          <a:xfrm>
            <a:off x="3054096" y="2231136"/>
            <a:ext cx="1700784" cy="60350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system arms, including five controls</a:t>
            </a:r>
          </a:p>
        </p:txBody>
      </p:sp>
      <p:sp>
        <p:nvSpPr>
          <p:cNvPr id="14" name="Rounded Rectangle 13"/>
          <p:cNvSpPr/>
          <p:nvPr/>
        </p:nvSpPr>
        <p:spPr>
          <a:xfrm>
            <a:off x="5065776" y="1371600"/>
            <a:ext cx="1993392" cy="157276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65776" y="1371600"/>
            <a:ext cx="1993392" cy="5029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1645920"/>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700" b="1" i="0">
                <a:solidFill>
                  <a:srgbClr val="496B5A"/>
                </a:solidFill>
                <a:latin typeface="Georgia"/>
              </a:rPr>
              <a:t>21</a:t>
            </a:r>
          </a:p>
        </p:txBody>
      </p:sp>
      <p:sp>
        <p:nvSpPr>
          <p:cNvPr id="17" name="TextBox 16"/>
          <p:cNvSpPr txBox="1"/>
          <p:nvPr/>
        </p:nvSpPr>
        <p:spPr>
          <a:xfrm>
            <a:off x="5212080" y="2231136"/>
            <a:ext cx="1700784" cy="60350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SNR points, −8 dB to +18 dB on the measured grid</a:t>
            </a:r>
          </a:p>
        </p:txBody>
      </p:sp>
      <p:sp>
        <p:nvSpPr>
          <p:cNvPr id="18" name="Rounded Rectangle 17"/>
          <p:cNvSpPr/>
          <p:nvPr/>
        </p:nvSpPr>
        <p:spPr>
          <a:xfrm>
            <a:off x="7223760" y="1371600"/>
            <a:ext cx="1993392" cy="157276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23760" y="1371600"/>
            <a:ext cx="1993392" cy="5029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70064" y="1645920"/>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700" b="1" i="0">
                <a:solidFill>
                  <a:srgbClr val="A46A28"/>
                </a:solidFill>
                <a:latin typeface="Georgia"/>
              </a:rPr>
              <a:t>1,000</a:t>
            </a:r>
          </a:p>
        </p:txBody>
      </p:sp>
      <p:sp>
        <p:nvSpPr>
          <p:cNvPr id="21" name="TextBox 20"/>
          <p:cNvSpPr txBox="1"/>
          <p:nvPr/>
        </p:nvSpPr>
        <p:spPr>
          <a:xfrm>
            <a:off x="7370064" y="2231136"/>
            <a:ext cx="1700784" cy="60350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validation images behind every point</a:t>
            </a:r>
          </a:p>
        </p:txBody>
      </p:sp>
      <p:sp>
        <p:nvSpPr>
          <p:cNvPr id="22" name="Rounded Rectangle 21"/>
          <p:cNvSpPr/>
          <p:nvPr/>
        </p:nvSpPr>
        <p:spPr>
          <a:xfrm>
            <a:off x="9381744" y="1371600"/>
            <a:ext cx="1993392" cy="157276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381744" y="1371600"/>
            <a:ext cx="1993392"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28048" y="1645920"/>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700" b="1" i="0">
                <a:solidFill>
                  <a:srgbClr val="8A3346"/>
                </a:solidFill>
                <a:latin typeface="Georgia"/>
              </a:rPr>
              <a:t>0</a:t>
            </a:r>
          </a:p>
        </p:txBody>
      </p:sp>
      <p:sp>
        <p:nvSpPr>
          <p:cNvPr id="25" name="TextBox 24"/>
          <p:cNvSpPr txBox="1"/>
          <p:nvPr/>
        </p:nvSpPr>
        <p:spPr>
          <a:xfrm>
            <a:off x="9528048" y="2231136"/>
            <a:ext cx="1700784" cy="60350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test images read, at any point, ever</a:t>
            </a:r>
          </a:p>
        </p:txBody>
      </p:sp>
      <p:sp>
        <p:nvSpPr>
          <p:cNvPr id="26" name="Rounded Rectangle 25"/>
          <p:cNvSpPr/>
          <p:nvPr/>
        </p:nvSpPr>
        <p:spPr>
          <a:xfrm>
            <a:off x="749808" y="3200400"/>
            <a:ext cx="5285232" cy="283464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87552" y="3419856"/>
            <a:ext cx="1097280"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3456432"/>
            <a:ext cx="950976"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BANDWIDTH</a:t>
            </a:r>
          </a:p>
        </p:txBody>
      </p:sp>
      <p:sp>
        <p:nvSpPr>
          <p:cNvPr id="29" name="TextBox 28"/>
          <p:cNvSpPr txBox="1"/>
          <p:nvPr/>
        </p:nvSpPr>
        <p:spPr>
          <a:xfrm>
            <a:off x="987552" y="3858768"/>
            <a:ext cx="4809744" cy="457200"/>
          </a:xfrm>
          <a:prstGeom prst="rect">
            <a:avLst/>
          </a:prstGeom>
          <a:noFill/>
        </p:spPr>
        <p:txBody>
          <a:bodyPr wrap="square" lIns="45720" rIns="45720" anchor="t">
            <a:spAutoFit/>
          </a:bodyPr>
          <a:lstStyle/>
          <a:p>
            <a:pPr algn="l">
              <a:lnSpc>
                <a:spcPct val="100000"/>
              </a:lnSpc>
              <a:spcBef>
                <a:spcPts val="0"/>
              </a:spcBef>
              <a:spcAft>
                <a:spcPts val="0"/>
              </a:spcAft>
            </a:pPr>
            <a:r>
              <a:rPr sz="1120" b="0" i="0">
                <a:solidFill>
                  <a:srgbClr val="18212B"/>
                </a:solidFill>
                <a:latin typeface="Arial"/>
              </a:rPr>
              <a:t>1/6 ratio — 12,800 channel uses per image</a:t>
            </a:r>
            <a:br/>
            <a:r>
              <a:rPr sz="1120" b="0" i="0">
                <a:solidFill>
                  <a:srgbClr val="18212B"/>
                </a:solidFill>
                <a:latin typeface="Arial"/>
              </a:rPr>
              <a:t>1/24 ratio — 3,200 channel uses per image</a:t>
            </a:r>
          </a:p>
        </p:txBody>
      </p:sp>
      <p:sp>
        <p:nvSpPr>
          <p:cNvPr id="30" name="TextBox 29"/>
          <p:cNvSpPr txBox="1"/>
          <p:nvPr/>
        </p:nvSpPr>
        <p:spPr>
          <a:xfrm>
            <a:off x="987552" y="4572000"/>
            <a:ext cx="4809744" cy="1225296"/>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5B6570"/>
                </a:solidFill>
                <a:latin typeface="Arial"/>
              </a:rPr>
              <a:t>These are matched channel-use budgets within a ratio. They do not match transmitted information, and the learned and digital arms carry different representations.</a:t>
            </a:r>
          </a:p>
        </p:txBody>
      </p:sp>
      <p:sp>
        <p:nvSpPr>
          <p:cNvPr id="31" name="Rounded Rectangle 30"/>
          <p:cNvSpPr/>
          <p:nvPr/>
        </p:nvSpPr>
        <p:spPr>
          <a:xfrm>
            <a:off x="6254496" y="3200400"/>
            <a:ext cx="5193792" cy="283464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92240" y="3419856"/>
            <a:ext cx="1335024"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65392" y="3456432"/>
            <a:ext cx="1188720"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SCORERS</a:t>
            </a:r>
          </a:p>
        </p:txBody>
      </p:sp>
      <p:sp>
        <p:nvSpPr>
          <p:cNvPr id="34" name="TextBox 33"/>
          <p:cNvSpPr txBox="1"/>
          <p:nvPr/>
        </p:nvSpPr>
        <p:spPr>
          <a:xfrm>
            <a:off x="6492240" y="3858768"/>
            <a:ext cx="4718304" cy="193852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5B6570"/>
                </a:solidFill>
                <a:latin typeface="Arial"/>
              </a:rPr>
              <a:t>Learned arms are scored by their own task head. The classical arms are scored by the artifact-finetuned classifier; the same transmitted outputs also carry a clean-classifier stream in the published scorer CSV.</a:t>
            </a:r>
            <a:br/>
            <a:br/>
            <a:r>
              <a:rPr sz="1040" b="0" i="0">
                <a:solidFill>
                  <a:srgbClr val="5B6570"/>
                </a:solidFill>
                <a:latin typeface="Arial"/>
              </a:rPr>
              <a:t>So an end-to-end learned-versus-classical gap combines communication, representation and scorer. We treat it as a whole-system comparison and say so wherever it appears.</a:t>
            </a:r>
          </a:p>
        </p:txBody>
      </p:sp>
      <p:sp>
        <p:nvSpPr>
          <p:cNvPr id="35" name="Rounded Rectangle 34"/>
          <p:cNvSpPr/>
          <p:nvPr/>
        </p:nvSpPr>
        <p:spPr>
          <a:xfrm>
            <a:off x="749808" y="6126480"/>
            <a:ext cx="10698480" cy="27432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6181344"/>
            <a:ext cx="10369296" cy="164592"/>
          </a:xfrm>
          <a:prstGeom prst="rect">
            <a:avLst/>
          </a:prstGeom>
          <a:noFill/>
        </p:spPr>
        <p:txBody>
          <a:bodyPr wrap="square" lIns="45720" rIns="45720" anchor="t">
            <a:spAutoFit/>
          </a:bodyPr>
          <a:lstStyle/>
          <a:p>
            <a:pPr algn="ctr">
              <a:lnSpc>
                <a:spcPct val="100000"/>
              </a:lnSpc>
              <a:spcBef>
                <a:spcPts val="0"/>
              </a:spcBef>
              <a:spcAft>
                <a:spcPts val="0"/>
              </a:spcAft>
            </a:pPr>
            <a:r>
              <a:rPr sz="940" b="1" i="0">
                <a:solidFill>
                  <a:srgbClr val="8A3346"/>
                </a:solidFill>
                <a:latin typeface="Arial"/>
              </a:rPr>
              <a:t>One frozen seed cell. These are observed point differences, not confidence intervals.</a:t>
            </a:r>
          </a:p>
        </p:txBody>
      </p:sp>
      <p:cxnSp>
        <p:nvCxnSpPr>
          <p:cNvPr id="37" name="Connector 3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40" name="Rounded Rectangle 39"/>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42" name="TextBox 41"/>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AM-98 rehearsal scope · 252 units = 12 arms × 21 SNRs</a:t>
            </a:r>
          </a:p>
        </p:txBody>
      </p:sp>
      <p:sp>
        <p:nvSpPr>
          <p:cNvPr id="43" name="TextBox 42"/>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04/18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Learned DJSCC against the adaptive classical chain</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The learned system answers at every SNR. The digital chain is silent until −4 dB, then overtakes it.</a:t>
            </a:r>
          </a:p>
        </p:txBody>
      </p:sp>
      <p:pic>
        <p:nvPicPr>
          <p:cNvPr id="7" name="Picture 6" descr="01_headline_full_snr.png"/>
          <p:cNvPicPr>
            <a:picLocks noChangeAspect="1"/>
          </p:cNvPicPr>
          <p:nvPr/>
        </p:nvPicPr>
        <p:blipFill>
          <a:blip r:embed="rId2"/>
          <a:stretch>
            <a:fillRect/>
          </a:stretch>
        </p:blipFill>
        <p:spPr>
          <a:xfrm>
            <a:off x="2225372" y="1609344"/>
            <a:ext cx="7740949" cy="4133087"/>
          </a:xfrm>
          <a:prstGeom prst="rect">
            <a:avLst/>
          </a:prstGeom>
        </p:spPr>
      </p:pic>
      <p:sp>
        <p:nvSpPr>
          <p:cNvPr id="8" name="Rounded Rectangle 7"/>
          <p:cNvSpPr/>
          <p:nvPr/>
        </p:nvSpPr>
        <p:spPr>
          <a:xfrm>
            <a:off x="822960" y="5888736"/>
            <a:ext cx="10561320" cy="45720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5971032"/>
            <a:ext cx="10268712" cy="310896"/>
          </a:xfrm>
          <a:prstGeom prst="rect">
            <a:avLst/>
          </a:prstGeom>
          <a:noFill/>
        </p:spPr>
        <p:txBody>
          <a:bodyPr wrap="square" lIns="45720" rIns="45720" anchor="t">
            <a:spAutoFit/>
          </a:bodyPr>
          <a:lstStyle/>
          <a:p>
            <a:pPr algn="ctr">
              <a:lnSpc>
                <a:spcPct val="100000"/>
              </a:lnSpc>
              <a:spcBef>
                <a:spcPts val="0"/>
              </a:spcBef>
              <a:spcAft>
                <a:spcPts val="0"/>
              </a:spcAft>
            </a:pPr>
            <a:r>
              <a:rPr sz="960" b="0" i="0">
                <a:solidFill>
                  <a:srgbClr val="203A57"/>
                </a:solidFill>
                <a:latin typeface="Arial"/>
              </a:rPr>
              <a:t>At −8 dB: learned 72.8%, digital 10.0% (no delivery). At −4 dB: digital 83.4%, learned 79.4%. At +18 dB: digital 89.3%, learned 83.4%.</a:t>
            </a:r>
          </a:p>
        </p:txBody>
      </p:sp>
      <p:cxnSp>
        <p:nvCxnSpPr>
          <p:cNvPr id="10" name="Connector 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13" name="TextBox 12"/>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01 · 1/6 bandwidth · all 21 measured SNRs</a:t>
            </a:r>
          </a:p>
        </p:txBody>
      </p:sp>
      <p:sp>
        <p:nvSpPr>
          <p:cNvPr id="14" name="TextBox 13"/>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05/18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Close-up: where the digital chain gives up</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Between −5 and −4 dB the digital chain starts delivering and its accuracy jumps 73 points.</a:t>
            </a:r>
          </a:p>
        </p:txBody>
      </p:sp>
      <p:pic>
        <p:nvPicPr>
          <p:cNvPr id="7" name="Picture 6" descr="02_low_snr_closeup.png"/>
          <p:cNvPicPr>
            <a:picLocks noChangeAspect="1"/>
          </p:cNvPicPr>
          <p:nvPr/>
        </p:nvPicPr>
        <p:blipFill>
          <a:blip r:embed="rId2"/>
          <a:stretch>
            <a:fillRect/>
          </a:stretch>
        </p:blipFill>
        <p:spPr>
          <a:xfrm>
            <a:off x="3042935" y="1591056"/>
            <a:ext cx="6105824" cy="3602736"/>
          </a:xfrm>
          <a:prstGeom prst="rect">
            <a:avLst/>
          </a:prstGeom>
        </p:spPr>
      </p:pic>
      <p:sp>
        <p:nvSpPr>
          <p:cNvPr id="8" name="Rounded Rectangle 7"/>
          <p:cNvSpPr/>
          <p:nvPr/>
        </p:nvSpPr>
        <p:spPr>
          <a:xfrm>
            <a:off x="822960"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358384"/>
            <a:ext cx="50292" cy="89611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8A3346"/>
                </a:solidFill>
                <a:latin typeface="Georgia"/>
              </a:rPr>
              <a:t>−8 dB</a:t>
            </a:r>
          </a:p>
        </p:txBody>
      </p:sp>
      <p:sp>
        <p:nvSpPr>
          <p:cNvPr id="11" name="TextBox 10"/>
          <p:cNvSpPr txBox="1"/>
          <p:nvPr/>
        </p:nvSpPr>
        <p:spPr>
          <a:xfrm>
            <a:off x="1005840"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Learned 72.8%. Digital coverage is 0%, so its score is the 10.0% outage fallback.</a:t>
            </a:r>
          </a:p>
        </p:txBody>
      </p:sp>
      <p:sp>
        <p:nvSpPr>
          <p:cNvPr id="12" name="Rounded Rectangle 11"/>
          <p:cNvSpPr/>
          <p:nvPr/>
        </p:nvSpPr>
        <p:spPr>
          <a:xfrm>
            <a:off x="4361688"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5358384"/>
            <a:ext cx="50292" cy="89611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496B5A"/>
                </a:solidFill>
                <a:latin typeface="Georgia"/>
              </a:rPr>
              <a:t>−4 dB</a:t>
            </a:r>
          </a:p>
        </p:txBody>
      </p:sp>
      <p:sp>
        <p:nvSpPr>
          <p:cNvPr id="15" name="TextBox 14"/>
          <p:cNvSpPr txBox="1"/>
          <p:nvPr/>
        </p:nvSpPr>
        <p:spPr>
          <a:xfrm>
            <a:off x="4544568"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Digital coverage reaches 100% and accuracy 83.4%, above the learned 79.4%.</a:t>
            </a:r>
          </a:p>
        </p:txBody>
      </p:sp>
      <p:sp>
        <p:nvSpPr>
          <p:cNvPr id="16" name="Rounded Rectangle 15"/>
          <p:cNvSpPr/>
          <p:nvPr/>
        </p:nvSpPr>
        <p:spPr>
          <a:xfrm>
            <a:off x="7900416"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5358384"/>
            <a:ext cx="50292" cy="89611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6"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A46A28"/>
                </a:solidFill>
                <a:latin typeface="Georgia"/>
              </a:rPr>
              <a:t>Above</a:t>
            </a:r>
          </a:p>
        </p:txBody>
      </p:sp>
      <p:sp>
        <p:nvSpPr>
          <p:cNvPr id="19" name="TextBox 18"/>
          <p:cNvSpPr txBox="1"/>
          <p:nvPr/>
        </p:nvSpPr>
        <p:spPr>
          <a:xfrm>
            <a:off x="8083296"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Coverage dips to 97.7% at −2 dB and 96.2% at +9 dB, so the digital curve is not monotone.</a:t>
            </a:r>
          </a:p>
        </p:txBody>
      </p:sp>
      <p:sp>
        <p:nvSpPr>
          <p:cNvPr id="20" name="TextBox 19"/>
          <p:cNvSpPr txBox="1"/>
          <p:nvPr/>
        </p:nvSpPr>
        <p:spPr>
          <a:xfrm>
            <a:off x="749808" y="6309360"/>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5B6570"/>
                </a:solidFill>
                <a:latin typeface="Arial"/>
              </a:rPr>
              <a:t>No SNR between −5 and −4 dB was measured, so we quote a bracket and not a threshold.</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4" name="Rounded Rectangle 2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02 · −8 to +2 dB · measured points only</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06/18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Cutting the budget fourfold</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At 1/24 the digital arm loses far more at low SNR than the learned arm does.</a:t>
            </a:r>
          </a:p>
        </p:txBody>
      </p:sp>
      <p:pic>
        <p:nvPicPr>
          <p:cNvPr id="7" name="Picture 6" descr="03_bandwidth_efficiency.png"/>
          <p:cNvPicPr>
            <a:picLocks noChangeAspect="1"/>
          </p:cNvPicPr>
          <p:nvPr/>
        </p:nvPicPr>
        <p:blipFill>
          <a:blip r:embed="rId2"/>
          <a:stretch>
            <a:fillRect/>
          </a:stretch>
        </p:blipFill>
        <p:spPr>
          <a:xfrm>
            <a:off x="2396664" y="1572768"/>
            <a:ext cx="7398366" cy="2999232"/>
          </a:xfrm>
          <a:prstGeom prst="rect">
            <a:avLst/>
          </a:prstGeom>
        </p:spPr>
      </p:pic>
      <p:sp>
        <p:nvSpPr>
          <p:cNvPr id="8" name="Rounded Rectangle 7"/>
          <p:cNvSpPr/>
          <p:nvPr/>
        </p:nvSpPr>
        <p:spPr>
          <a:xfrm>
            <a:off x="822960"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4773168"/>
            <a:ext cx="54864" cy="1481328"/>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6"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−8 dB, 1/6 → 1/24</a:t>
            </a:r>
          </a:p>
        </p:txBody>
      </p:sp>
      <p:sp>
        <p:nvSpPr>
          <p:cNvPr id="11" name="TextBox 10"/>
          <p:cNvSpPr txBox="1"/>
          <p:nvPr/>
        </p:nvSpPr>
        <p:spPr>
          <a:xfrm>
            <a:off x="1042416"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Learned drops 72.8% → 49.4%, a 23.4 point loss.</a:t>
            </a:r>
          </a:p>
        </p:txBody>
      </p:sp>
      <p:sp>
        <p:nvSpPr>
          <p:cNvPr id="12" name="Rounded Rectangle 11"/>
          <p:cNvSpPr/>
          <p:nvPr/>
        </p:nvSpPr>
        <p:spPr>
          <a:xfrm>
            <a:off x="4361688"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4773168"/>
            <a:ext cx="54864" cy="1481328"/>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0 dB, 1/24</a:t>
            </a:r>
          </a:p>
        </p:txBody>
      </p:sp>
      <p:sp>
        <p:nvSpPr>
          <p:cNvPr id="15" name="TextBox 14"/>
          <p:cNvSpPr txBox="1"/>
          <p:nvPr/>
        </p:nvSpPr>
        <p:spPr>
          <a:xfrm>
            <a:off x="4581144"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Learned 78.7% against digital 69.4%.</a:t>
            </a:r>
          </a:p>
        </p:txBody>
      </p:sp>
      <p:sp>
        <p:nvSpPr>
          <p:cNvPr id="16" name="Rounded Rectangle 15"/>
          <p:cNvSpPr/>
          <p:nvPr/>
        </p:nvSpPr>
        <p:spPr>
          <a:xfrm>
            <a:off x="7900416"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4773168"/>
            <a:ext cx="54864" cy="1481328"/>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9872"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First overtaking</a:t>
            </a:r>
          </a:p>
        </p:txBody>
      </p:sp>
      <p:sp>
        <p:nvSpPr>
          <p:cNvPr id="19" name="TextBox 18"/>
          <p:cNvSpPr txBox="1"/>
          <p:nvPr/>
        </p:nvSpPr>
        <p:spPr>
          <a:xfrm>
            <a:off x="8119872"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Digital passes learned at the measured +4 dB point, then learned retakes the lead at +9 dB where digital coverage dips.</a:t>
            </a:r>
          </a:p>
        </p:txBody>
      </p:sp>
      <p:sp>
        <p:nvSpPr>
          <p:cNvPr id="20" name="TextBox 19"/>
          <p:cNvSpPr txBox="1"/>
          <p:nvPr/>
        </p:nvSpPr>
        <p:spPr>
          <a:xfrm>
            <a:off x="749808" y="6327648"/>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8A3346"/>
                </a:solidFill>
                <a:latin typeface="Arial"/>
              </a:rPr>
              <a:t>The +9 dB recross means we should not claim one clean crossover at this ratio.</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4" name="Rounded Rectangle 2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03 · 1/24 and 1/6 · compare within each panel</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Training across SNRs instead of at one</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Drawing the training SNR uniformly lifts the whole weak-channel end of the curve.</a:t>
            </a:r>
          </a:p>
        </p:txBody>
      </p:sp>
      <p:pic>
        <p:nvPicPr>
          <p:cNvPr id="7" name="Picture 6" descr="04_training_robustness.png"/>
          <p:cNvPicPr>
            <a:picLocks noChangeAspect="1"/>
          </p:cNvPicPr>
          <p:nvPr/>
        </p:nvPicPr>
        <p:blipFill>
          <a:blip r:embed="rId2"/>
          <a:stretch>
            <a:fillRect/>
          </a:stretch>
        </p:blipFill>
        <p:spPr>
          <a:xfrm>
            <a:off x="2386791" y="1609344"/>
            <a:ext cx="7418113" cy="3749039"/>
          </a:xfrm>
          <a:prstGeom prst="rect">
            <a:avLst/>
          </a:prstGeom>
        </p:spPr>
      </p:pic>
      <p:sp>
        <p:nvSpPr>
          <p:cNvPr id="8" name="Rounded Rectangle 7"/>
          <p:cNvSpPr/>
          <p:nvPr/>
        </p:nvSpPr>
        <p:spPr>
          <a:xfrm>
            <a:off x="1737360" y="5504688"/>
            <a:ext cx="8723376"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568696"/>
            <a:ext cx="1627632"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10" name="TextBox 9"/>
          <p:cNvSpPr txBox="1"/>
          <p:nvPr/>
        </p:nvSpPr>
        <p:spPr>
          <a:xfrm>
            <a:off x="3511296"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 dB</a:t>
            </a:r>
          </a:p>
        </p:txBody>
      </p:sp>
      <p:sp>
        <p:nvSpPr>
          <p:cNvPr id="11" name="TextBox 10"/>
          <p:cNvSpPr txBox="1"/>
          <p:nvPr/>
        </p:nvSpPr>
        <p:spPr>
          <a:xfrm>
            <a:off x="4901183"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 dB</a:t>
            </a:r>
          </a:p>
        </p:txBody>
      </p:sp>
      <p:sp>
        <p:nvSpPr>
          <p:cNvPr id="12" name="TextBox 11"/>
          <p:cNvSpPr txBox="1"/>
          <p:nvPr/>
        </p:nvSpPr>
        <p:spPr>
          <a:xfrm>
            <a:off x="6291072"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 dB</a:t>
            </a:r>
          </a:p>
        </p:txBody>
      </p:sp>
      <p:sp>
        <p:nvSpPr>
          <p:cNvPr id="13" name="TextBox 12"/>
          <p:cNvSpPr txBox="1"/>
          <p:nvPr/>
        </p:nvSpPr>
        <p:spPr>
          <a:xfrm>
            <a:off x="7680960"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+9 dB</a:t>
            </a:r>
          </a:p>
        </p:txBody>
      </p:sp>
      <p:sp>
        <p:nvSpPr>
          <p:cNvPr id="14" name="TextBox 13"/>
          <p:cNvSpPr txBox="1"/>
          <p:nvPr/>
        </p:nvSpPr>
        <p:spPr>
          <a:xfrm>
            <a:off x="9070848"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 dB</a:t>
            </a:r>
          </a:p>
        </p:txBody>
      </p:sp>
      <p:sp>
        <p:nvSpPr>
          <p:cNvPr id="15" name="Rounded Rectangle 14"/>
          <p:cNvSpPr/>
          <p:nvPr/>
        </p:nvSpPr>
        <p:spPr>
          <a:xfrm>
            <a:off x="1737360" y="5815583"/>
            <a:ext cx="8723376" cy="365760"/>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1737360" y="6181344"/>
            <a:ext cx="8723376"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828800" y="5916168"/>
            <a:ext cx="1627632"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SNR-randomised</a:t>
            </a:r>
          </a:p>
        </p:txBody>
      </p:sp>
      <p:sp>
        <p:nvSpPr>
          <p:cNvPr id="18" name="TextBox 17"/>
          <p:cNvSpPr txBox="1"/>
          <p:nvPr/>
        </p:nvSpPr>
        <p:spPr>
          <a:xfrm>
            <a:off x="3511296"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77.0</a:t>
            </a:r>
          </a:p>
        </p:txBody>
      </p:sp>
      <p:sp>
        <p:nvSpPr>
          <p:cNvPr id="19" name="TextBox 18"/>
          <p:cNvSpPr txBox="1"/>
          <p:nvPr/>
        </p:nvSpPr>
        <p:spPr>
          <a:xfrm>
            <a:off x="4901183"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82.4</a:t>
            </a:r>
          </a:p>
        </p:txBody>
      </p:sp>
      <p:sp>
        <p:nvSpPr>
          <p:cNvPr id="20" name="TextBox 19"/>
          <p:cNvSpPr txBox="1"/>
          <p:nvPr/>
        </p:nvSpPr>
        <p:spPr>
          <a:xfrm>
            <a:off x="6291072"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83.0</a:t>
            </a:r>
          </a:p>
        </p:txBody>
      </p:sp>
      <p:sp>
        <p:nvSpPr>
          <p:cNvPr id="21" name="TextBox 20"/>
          <p:cNvSpPr txBox="1"/>
          <p:nvPr/>
        </p:nvSpPr>
        <p:spPr>
          <a:xfrm>
            <a:off x="7680960"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84.1</a:t>
            </a:r>
          </a:p>
        </p:txBody>
      </p:sp>
      <p:sp>
        <p:nvSpPr>
          <p:cNvPr id="22" name="TextBox 21"/>
          <p:cNvSpPr txBox="1"/>
          <p:nvPr/>
        </p:nvSpPr>
        <p:spPr>
          <a:xfrm>
            <a:off x="9070848"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83.9</a:t>
            </a:r>
          </a:p>
        </p:txBody>
      </p:sp>
      <p:cxnSp>
        <p:nvCxnSpPr>
          <p:cNvPr id="23" name="Connector 22"/>
          <p:cNvCxnSpPr/>
          <p:nvPr/>
        </p:nvCxnSpPr>
        <p:spPr>
          <a:xfrm>
            <a:off x="1737360" y="6547104"/>
            <a:ext cx="8723376"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28800" y="6281928"/>
            <a:ext cx="1627632"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Fixed-SNR</a:t>
            </a:r>
          </a:p>
        </p:txBody>
      </p:sp>
      <p:sp>
        <p:nvSpPr>
          <p:cNvPr id="25" name="TextBox 24"/>
          <p:cNvSpPr txBox="1"/>
          <p:nvPr/>
        </p:nvSpPr>
        <p:spPr>
          <a:xfrm>
            <a:off x="3511296"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72.8</a:t>
            </a:r>
          </a:p>
        </p:txBody>
      </p:sp>
      <p:sp>
        <p:nvSpPr>
          <p:cNvPr id="26" name="TextBox 25"/>
          <p:cNvSpPr txBox="1"/>
          <p:nvPr/>
        </p:nvSpPr>
        <p:spPr>
          <a:xfrm>
            <a:off x="4901183"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79.4</a:t>
            </a:r>
          </a:p>
        </p:txBody>
      </p:sp>
      <p:sp>
        <p:nvSpPr>
          <p:cNvPr id="27" name="TextBox 26"/>
          <p:cNvSpPr txBox="1"/>
          <p:nvPr/>
        </p:nvSpPr>
        <p:spPr>
          <a:xfrm>
            <a:off x="6291072"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81.2</a:t>
            </a:r>
          </a:p>
        </p:txBody>
      </p:sp>
      <p:sp>
        <p:nvSpPr>
          <p:cNvPr id="28" name="TextBox 27"/>
          <p:cNvSpPr txBox="1"/>
          <p:nvPr/>
        </p:nvSpPr>
        <p:spPr>
          <a:xfrm>
            <a:off x="7680960"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83.8</a:t>
            </a:r>
          </a:p>
        </p:txBody>
      </p:sp>
      <p:sp>
        <p:nvSpPr>
          <p:cNvPr id="29" name="TextBox 28"/>
          <p:cNvSpPr txBox="1"/>
          <p:nvPr/>
        </p:nvSpPr>
        <p:spPr>
          <a:xfrm>
            <a:off x="9070848"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83.4</a:t>
            </a:r>
          </a:p>
        </p:txBody>
      </p:sp>
      <p:sp>
        <p:nvSpPr>
          <p:cNvPr id="30" name="TextBox 29"/>
          <p:cNvSpPr txBox="1"/>
          <p:nvPr/>
        </p:nvSpPr>
        <p:spPr>
          <a:xfrm>
            <a:off x="749808" y="6327648"/>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5B6570"/>
                </a:solidFill>
                <a:latin typeface="Arial"/>
              </a:rPr>
              <a:t>Two separately trained checkpoints in one seed cell. This is not an estimate of seed-to-seed training variance.</a:t>
            </a:r>
          </a:p>
        </p:txBody>
      </p:sp>
      <p:cxnSp>
        <p:nvCxnSpPr>
          <p:cNvPr id="31" name="Connector 3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34" name="Rounded Rectangle 3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6" name="TextBox 3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04 · 1/6 · fixed-SNR versus SNR-randomised checkpoints</a:t>
            </a:r>
          </a:p>
        </p:txBody>
      </p:sp>
      <p:sp>
        <p:nvSpPr>
          <p:cNvPr id="37" name="TextBox 3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08/18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09</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The control that keeps the credit honest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If we had only compared against JPEG, the low-SNR story would have been too easy to believe.</a:t>
            </a:r>
          </a:p>
        </p:txBody>
      </p:sp>
      <p:pic>
        <p:nvPicPr>
          <p:cNvPr id="7" name="Picture 6" descr="05_task_aware_digital.png"/>
          <p:cNvPicPr>
            <a:picLocks noChangeAspect="1"/>
          </p:cNvPicPr>
          <p:nvPr/>
        </p:nvPicPr>
        <p:blipFill>
          <a:blip r:embed="rId2"/>
          <a:stretch>
            <a:fillRect/>
          </a:stretch>
        </p:blipFill>
        <p:spPr>
          <a:xfrm>
            <a:off x="2603906" y="1609344"/>
            <a:ext cx="6983882" cy="3529583"/>
          </a:xfrm>
          <a:prstGeom prst="rect">
            <a:avLst/>
          </a:prstGeom>
        </p:spPr>
      </p:pic>
      <p:sp>
        <p:nvSpPr>
          <p:cNvPr id="8" name="Rounded Rectangle 7"/>
          <p:cNvSpPr/>
          <p:nvPr/>
        </p:nvSpPr>
        <p:spPr>
          <a:xfrm>
            <a:off x="749808" y="5321808"/>
            <a:ext cx="5285232" cy="100584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5321808"/>
            <a:ext cx="50292" cy="1005840"/>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431536"/>
            <a:ext cx="4882896" cy="219456"/>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What ER-9 does</a:t>
            </a:r>
          </a:p>
        </p:txBody>
      </p:sp>
      <p:sp>
        <p:nvSpPr>
          <p:cNvPr id="11" name="TextBox 10"/>
          <p:cNvSpPr txBox="1"/>
          <p:nvPr/>
        </p:nvSpPr>
        <p:spPr>
          <a:xfrm>
            <a:off x="950976" y="5724144"/>
            <a:ext cx="4882896" cy="512064"/>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Sends learned task features over the same LDPC and QPSK chain at the same 12,800 channel uses. It is the control that separates task-aware representation from joint coding.</a:t>
            </a:r>
          </a:p>
        </p:txBody>
      </p:sp>
      <p:sp>
        <p:nvSpPr>
          <p:cNvPr id="12" name="Rounded Rectangle 11"/>
          <p:cNvSpPr/>
          <p:nvPr/>
        </p:nvSpPr>
        <p:spPr>
          <a:xfrm>
            <a:off x="6254496" y="5321808"/>
            <a:ext cx="5193792" cy="1005840"/>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5431536"/>
            <a:ext cx="4791456" cy="219456"/>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A46A28"/>
                </a:solidFill>
                <a:latin typeface="Georgia"/>
              </a:rPr>
              <a:t>What it settles</a:t>
            </a:r>
          </a:p>
        </p:txBody>
      </p:sp>
      <p:sp>
        <p:nvSpPr>
          <p:cNvPr id="14" name="TextBox 13"/>
          <p:cNvSpPr txBox="1"/>
          <p:nvPr/>
        </p:nvSpPr>
        <p:spPr>
          <a:xfrm>
            <a:off x="6455664" y="5724144"/>
            <a:ext cx="4791456" cy="512064"/>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18212B"/>
                </a:solidFill>
                <a:latin typeface="Arial"/>
              </a:rPr>
              <a:t>It holds 82.0% at every SNR from −4 dB up. Digital transmission of task features is strong once it delivers, so the low-SNR gap is about outage behaviour as well as representation. It does not isolate the LDPC code.</a:t>
            </a:r>
          </a:p>
        </p:txBody>
      </p:sp>
      <p:cxnSp>
        <p:nvCxnSpPr>
          <p:cNvPr id="15" name="Connector 14"/>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18" name="Rounded Rectangle 17"/>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0" name="TextBox 19"/>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05 · ER-9 task-aware digital at the matched 1/6 budget</a:t>
            </a:r>
          </a:p>
        </p:txBody>
      </p:sp>
      <p:sp>
        <p:nvSpPr>
          <p:cNvPr id="21" name="TextBox 20"/>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09/18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10</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Holding the crest factor under a hard cap</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20" b="1" i="0">
                <a:solidFill>
                  <a:srgbClr val="203A57"/>
                </a:solidFill>
                <a:latin typeface="Georgia"/>
              </a:rPr>
              <a:t>A PA-friendly transmitter is a real design constraint, so we trained under one.</a:t>
            </a:r>
          </a:p>
        </p:txBody>
      </p:sp>
      <p:pic>
        <p:nvPicPr>
          <p:cNvPr id="7" name="Picture 6" descr="06_papr_tradeoff.png"/>
          <p:cNvPicPr>
            <a:picLocks noChangeAspect="1"/>
          </p:cNvPicPr>
          <p:nvPr/>
        </p:nvPicPr>
        <p:blipFill>
          <a:blip r:embed="rId2"/>
          <a:stretch>
            <a:fillRect/>
          </a:stretch>
        </p:blipFill>
        <p:spPr>
          <a:xfrm>
            <a:off x="2532000" y="1609344"/>
            <a:ext cx="7127694" cy="2889504"/>
          </a:xfrm>
          <a:prstGeom prst="rect">
            <a:avLst/>
          </a:prstGeom>
        </p:spPr>
      </p:pic>
      <p:sp>
        <p:nvSpPr>
          <p:cNvPr id="8" name="Rounded Rectangle 7"/>
          <p:cNvSpPr/>
          <p:nvPr/>
        </p:nvSpPr>
        <p:spPr>
          <a:xfrm>
            <a:off x="749808" y="4736592"/>
            <a:ext cx="2523744" cy="129844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4736592"/>
            <a:ext cx="2523744" cy="5029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010912"/>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496B5A"/>
                </a:solidFill>
                <a:latin typeface="Georgia"/>
              </a:rPr>
              <a:t>3.000002 dB</a:t>
            </a:r>
          </a:p>
        </p:txBody>
      </p:sp>
      <p:sp>
        <p:nvSpPr>
          <p:cNvPr id="11" name="TextBox 10"/>
          <p:cNvSpPr txBox="1"/>
          <p:nvPr/>
        </p:nvSpPr>
        <p:spPr>
          <a:xfrm>
            <a:off x="896112" y="5596127"/>
            <a:ext cx="2231136" cy="32918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max PAPR, constrained run — inside the frozen cap</a:t>
            </a:r>
          </a:p>
        </p:txBody>
      </p:sp>
      <p:sp>
        <p:nvSpPr>
          <p:cNvPr id="12" name="Rounded Rectangle 11"/>
          <p:cNvSpPr/>
          <p:nvPr/>
        </p:nvSpPr>
        <p:spPr>
          <a:xfrm>
            <a:off x="3438144" y="4736592"/>
            <a:ext cx="2523744" cy="129844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38144" y="4736592"/>
            <a:ext cx="2523744"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010912"/>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8A3346"/>
                </a:solidFill>
                <a:latin typeface="Georgia"/>
              </a:rPr>
              <a:t>20.059284 dB</a:t>
            </a:r>
          </a:p>
        </p:txBody>
      </p:sp>
      <p:sp>
        <p:nvSpPr>
          <p:cNvPr id="15" name="TextBox 14"/>
          <p:cNvSpPr txBox="1"/>
          <p:nvPr/>
        </p:nvSpPr>
        <p:spPr>
          <a:xfrm>
            <a:off x="3584448" y="5596127"/>
            <a:ext cx="2231136" cy="32918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max PAPR, unconstrained learned symbols</a:t>
            </a:r>
          </a:p>
        </p:txBody>
      </p:sp>
      <p:sp>
        <p:nvSpPr>
          <p:cNvPr id="16" name="Rounded Rectangle 15"/>
          <p:cNvSpPr/>
          <p:nvPr/>
        </p:nvSpPr>
        <p:spPr>
          <a:xfrm>
            <a:off x="6126480" y="4736592"/>
            <a:ext cx="2523744" cy="129844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736592"/>
            <a:ext cx="2523744" cy="50292"/>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2784" y="5010912"/>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203A57"/>
                </a:solidFill>
                <a:latin typeface="Georgia"/>
              </a:rPr>
              <a:t>+3.1 pp</a:t>
            </a:r>
          </a:p>
        </p:txBody>
      </p:sp>
      <p:sp>
        <p:nvSpPr>
          <p:cNvPr id="19" name="TextBox 18"/>
          <p:cNvSpPr txBox="1"/>
          <p:nvPr/>
        </p:nvSpPr>
        <p:spPr>
          <a:xfrm>
            <a:off x="6272784" y="5596127"/>
            <a:ext cx="2231136" cy="32918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accuracy gain at −8 dB, constrained versus unconstrained</a:t>
            </a:r>
          </a:p>
        </p:txBody>
      </p:sp>
      <p:sp>
        <p:nvSpPr>
          <p:cNvPr id="20" name="Rounded Rectangle 19"/>
          <p:cNvSpPr/>
          <p:nvPr/>
        </p:nvSpPr>
        <p:spPr>
          <a:xfrm>
            <a:off x="8814816" y="4736592"/>
            <a:ext cx="2523744" cy="129844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14816" y="4736592"/>
            <a:ext cx="2523744" cy="5029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0" y="5010912"/>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A46A28"/>
                </a:solidFill>
                <a:latin typeface="Georgia"/>
              </a:rPr>
              <a:t>−0.2 pp</a:t>
            </a:r>
          </a:p>
        </p:txBody>
      </p:sp>
      <p:sp>
        <p:nvSpPr>
          <p:cNvPr id="23" name="TextBox 22"/>
          <p:cNvSpPr txBox="1"/>
          <p:nvPr/>
        </p:nvSpPr>
        <p:spPr>
          <a:xfrm>
            <a:off x="8961120" y="5596127"/>
            <a:ext cx="2231136" cy="329183"/>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at +18 dB — the cap costs nothing up here</a:t>
            </a:r>
          </a:p>
        </p:txBody>
      </p:sp>
      <p:sp>
        <p:nvSpPr>
          <p:cNvPr id="24" name="TextBox 23"/>
          <p:cNvSpPr txBox="1"/>
          <p:nvPr/>
        </p:nvSpPr>
        <p:spPr>
          <a:xfrm>
            <a:off x="749808" y="6144768"/>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900" b="0" i="1">
                <a:solidFill>
                  <a:srgbClr val="5B6570"/>
                </a:solidFill>
                <a:latin typeface="Arial"/>
              </a:rPr>
              <a:t>This is PAPR measured on channel symbols. It says nothing about amplifier or over-the-air compliance, and the constrained run is a separately trained checkpoint, so the accuracy differences are not a clean causal penalty.</a:t>
            </a:r>
          </a:p>
        </p:txBody>
      </p:sp>
      <p:cxnSp>
        <p:nvCxnSpPr>
          <p:cNvPr id="25" name="Connector 24"/>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8" name="Rounded Rectangle 27"/>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0" name="TextBox 29"/>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06 · symbol-domain PAPR · 3.0 dB cap, 0.0001 dB tolerance</a:t>
            </a:r>
          </a:p>
        </p:txBody>
      </p:sp>
      <p:sp>
        <p:nvSpPr>
          <p:cNvPr id="31" name="TextBox 30"/>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Four controls, including one that went against us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188720"/>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60" b="1" i="0">
                <a:solidFill>
                  <a:srgbClr val="203A57"/>
                </a:solidFill>
                <a:latin typeface="Georgia"/>
              </a:rPr>
              <a:t>Each panel takes one design choice away from the classical chain and shows what it was worth.</a:t>
            </a:r>
          </a:p>
        </p:txBody>
      </p:sp>
      <p:pic>
        <p:nvPicPr>
          <p:cNvPr id="7" name="Picture 6" descr="07_secondary_controls.png"/>
          <p:cNvPicPr>
            <a:picLocks noChangeAspect="1"/>
          </p:cNvPicPr>
          <p:nvPr/>
        </p:nvPicPr>
        <p:blipFill>
          <a:blip r:embed="rId2"/>
          <a:stretch>
            <a:fillRect/>
          </a:stretch>
        </p:blipFill>
        <p:spPr>
          <a:xfrm>
            <a:off x="4049310" y="1481328"/>
            <a:ext cx="4093073" cy="2980944"/>
          </a:xfrm>
          <a:prstGeom prst="rect">
            <a:avLst/>
          </a:prstGeom>
        </p:spPr>
      </p:pic>
      <p:sp>
        <p:nvSpPr>
          <p:cNvPr id="8" name="Rounded Rectangle 7"/>
          <p:cNvSpPr/>
          <p:nvPr/>
        </p:nvSpPr>
        <p:spPr>
          <a:xfrm>
            <a:off x="749808" y="466344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466344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754879"/>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Fixed MCS</a:t>
            </a:r>
          </a:p>
        </p:txBody>
      </p:sp>
      <p:sp>
        <p:nvSpPr>
          <p:cNvPr id="11" name="TextBox 10"/>
          <p:cNvSpPr txBox="1"/>
          <p:nvPr/>
        </p:nvSpPr>
        <p:spPr>
          <a:xfrm>
            <a:off x="950976" y="502920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Outage floor until +6 dB, then 89.0%. Per-SNR selection buys real reach.</a:t>
            </a:r>
          </a:p>
        </p:txBody>
      </p:sp>
      <p:sp>
        <p:nvSpPr>
          <p:cNvPr id="12" name="Rounded Rectangle 11"/>
          <p:cNvSpPr/>
          <p:nvPr/>
        </p:nvSpPr>
        <p:spPr>
          <a:xfrm>
            <a:off x="6236208" y="466344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466344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4754879"/>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Fixed modulation</a:t>
            </a:r>
          </a:p>
        </p:txBody>
      </p:sp>
      <p:sp>
        <p:nvSpPr>
          <p:cNvPr id="15" name="TextBox 14"/>
          <p:cNvSpPr txBox="1"/>
          <p:nvPr/>
        </p:nvSpPr>
        <p:spPr>
          <a:xfrm>
            <a:off x="6437376" y="502920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Delivers later than adaptive selection, plateaus near 88.7%.</a:t>
            </a:r>
          </a:p>
        </p:txBody>
      </p:sp>
      <p:sp>
        <p:nvSpPr>
          <p:cNvPr id="16" name="Rounded Rectangle 15"/>
          <p:cNvSpPr/>
          <p:nvPr/>
        </p:nvSpPr>
        <p:spPr>
          <a:xfrm>
            <a:off x="749808" y="548640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8" y="5486400"/>
            <a:ext cx="54864" cy="731520"/>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577840"/>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JPEG secondary</a:t>
            </a:r>
          </a:p>
        </p:txBody>
      </p:sp>
      <p:sp>
        <p:nvSpPr>
          <p:cNvPr id="19" name="TextBox 18"/>
          <p:cNvSpPr txBox="1"/>
          <p:nvPr/>
        </p:nvSpPr>
        <p:spPr>
          <a:xfrm>
            <a:off x="950976" y="585216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88.6% at +18 dB, and a genuine 0% coverage / 10.0% point at +9 dB. Kept in.</a:t>
            </a:r>
          </a:p>
        </p:txBody>
      </p:sp>
      <p:sp>
        <p:nvSpPr>
          <p:cNvPr id="20" name="Rounded Rectangle 19"/>
          <p:cNvSpPr/>
          <p:nvPr/>
        </p:nvSpPr>
        <p:spPr>
          <a:xfrm>
            <a:off x="6236208" y="548640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6208" y="548640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5577840"/>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Predicted label</a:t>
            </a:r>
          </a:p>
        </p:txBody>
      </p:sp>
      <p:sp>
        <p:nvSpPr>
          <p:cNvPr id="23" name="TextBox 22"/>
          <p:cNvSpPr txBox="1"/>
          <p:nvPr/>
        </p:nvSpPr>
        <p:spPr>
          <a:xfrm>
            <a:off x="6437376" y="585216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82.0% once it delivers. A transmitted label, not the oracle true label.</a:t>
            </a:r>
          </a:p>
        </p:txBody>
      </p:sp>
      <p:cxnSp>
        <p:nvCxnSpPr>
          <p:cNvPr id="24" name="Connector 23"/>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7" name="Rounded Rectangle 26"/>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9" name="TextBox 28"/>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07 · selection, codec, transmitted label, reconstruction pathway</a:t>
            </a:r>
          </a:p>
        </p:txBody>
      </p:sp>
      <p:sp>
        <p:nvSpPr>
          <p:cNvPr id="30" name="TextBox 29"/>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11/18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Why the digital curve breaks where it does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6400800" cy="274320"/>
          </a:xfrm>
          <a:prstGeom prst="rect">
            <a:avLst/>
          </a:prstGeom>
          <a:noFill/>
        </p:spPr>
        <p:txBody>
          <a:bodyPr wrap="square" lIns="45720" rIns="45720" anchor="t">
            <a:spAutoFit/>
          </a:bodyPr>
          <a:lstStyle/>
          <a:p>
            <a:pPr algn="l">
              <a:lnSpc>
                <a:spcPct val="100000"/>
              </a:lnSpc>
              <a:spcBef>
                <a:spcPts val="0"/>
              </a:spcBef>
              <a:spcAft>
                <a:spcPts val="0"/>
              </a:spcAft>
            </a:pPr>
            <a:r>
              <a:rPr sz="1320" b="1" i="0">
                <a:solidFill>
                  <a:srgbClr val="203A57"/>
                </a:solidFill>
                <a:latin typeface="Georgia"/>
              </a:rPr>
              <a:t>Accuracy steps track delivery steps, one for one.</a:t>
            </a:r>
          </a:p>
        </p:txBody>
      </p:sp>
      <p:pic>
        <p:nvPicPr>
          <p:cNvPr id="7" name="Picture 6" descr="08_delivery_coverage.png"/>
          <p:cNvPicPr>
            <a:picLocks noChangeAspect="1"/>
          </p:cNvPicPr>
          <p:nvPr/>
        </p:nvPicPr>
        <p:blipFill>
          <a:blip r:embed="rId2"/>
          <a:stretch>
            <a:fillRect/>
          </a:stretch>
        </p:blipFill>
        <p:spPr>
          <a:xfrm>
            <a:off x="786384" y="1572768"/>
            <a:ext cx="4976529" cy="3840480"/>
          </a:xfrm>
          <a:prstGeom prst="rect">
            <a:avLst/>
          </a:prstGeom>
        </p:spPr>
      </p:pic>
      <p:sp>
        <p:nvSpPr>
          <p:cNvPr id="8" name="Rounded Rectangle 7"/>
          <p:cNvSpPr/>
          <p:nvPr/>
        </p:nvSpPr>
        <p:spPr>
          <a:xfrm>
            <a:off x="6035040" y="1572768"/>
            <a:ext cx="5413248" cy="384048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2784" y="1792224"/>
            <a:ext cx="120700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1828800"/>
            <a:ext cx="106070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READING IT</a:t>
            </a:r>
          </a:p>
        </p:txBody>
      </p:sp>
      <p:sp>
        <p:nvSpPr>
          <p:cNvPr id="11" name="Rectangle 10"/>
          <p:cNvSpPr/>
          <p:nvPr/>
        </p:nvSpPr>
        <p:spPr>
          <a:xfrm>
            <a:off x="6272784" y="2240279"/>
            <a:ext cx="50292" cy="274320"/>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5664" y="2212848"/>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The 10.0% floor is a policy, not a delivery</a:t>
            </a:r>
          </a:p>
        </p:txBody>
      </p:sp>
      <p:sp>
        <p:nvSpPr>
          <p:cNvPr id="13" name="TextBox 12"/>
          <p:cNvSpPr txBox="1"/>
          <p:nvPr/>
        </p:nvSpPr>
        <p:spPr>
          <a:xfrm>
            <a:off x="6455664" y="2505456"/>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When the digital chain cannot deliver, every image falls back to the single class selected on validation. On an exactly stratified split that is 100 of 1,000 images, so 10.0%.</a:t>
            </a:r>
          </a:p>
        </p:txBody>
      </p:sp>
      <p:sp>
        <p:nvSpPr>
          <p:cNvPr id="14" name="Rectangle 13"/>
          <p:cNvSpPr/>
          <p:nvPr/>
        </p:nvSpPr>
        <p:spPr>
          <a:xfrm>
            <a:off x="6272784" y="3300984"/>
            <a:ext cx="50292" cy="2743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3273552"/>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Outage is part of the result</a:t>
            </a:r>
          </a:p>
        </p:txBody>
      </p:sp>
      <p:sp>
        <p:nvSpPr>
          <p:cNvPr id="16" name="TextBox 15"/>
          <p:cNvSpPr txBox="1"/>
          <p:nvPr/>
        </p:nvSpPr>
        <p:spPr>
          <a:xfrm>
            <a:off x="6455664" y="3566160"/>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Coverage and accuracy are reported side by side on every row, so a reader can separate “the link failed” from “the classifier was wrong.”</a:t>
            </a:r>
          </a:p>
        </p:txBody>
      </p:sp>
      <p:sp>
        <p:nvSpPr>
          <p:cNvPr id="17" name="Rectangle 16"/>
          <p:cNvSpPr/>
          <p:nvPr/>
        </p:nvSpPr>
        <p:spPr>
          <a:xfrm>
            <a:off x="6272784" y="4361688"/>
            <a:ext cx="50292" cy="274320"/>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4334256"/>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Learned output availability is contractual</a:t>
            </a:r>
          </a:p>
        </p:txBody>
      </p:sp>
      <p:sp>
        <p:nvSpPr>
          <p:cNvPr id="19" name="TextBox 18"/>
          <p:cNvSpPr txBox="1"/>
          <p:nvPr/>
        </p:nvSpPr>
        <p:spPr>
          <a:xfrm>
            <a:off x="6455664" y="4626864"/>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The learned contract returns a label at every SNR, which is why its curve has no floor to sit on.</a:t>
            </a:r>
          </a:p>
        </p:txBody>
      </p:sp>
      <p:sp>
        <p:nvSpPr>
          <p:cNvPr id="20" name="TextBox 19"/>
          <p:cNvSpPr txBox="1"/>
          <p:nvPr/>
        </p:nvSpPr>
        <p:spPr>
          <a:xfrm>
            <a:off x="749808" y="5797296"/>
            <a:ext cx="5120640" cy="548640"/>
          </a:xfrm>
          <a:prstGeom prst="rect">
            <a:avLst/>
          </a:prstGeom>
          <a:noFill/>
        </p:spPr>
        <p:txBody>
          <a:bodyPr wrap="square" lIns="45720" rIns="45720" anchor="t">
            <a:spAutoFit/>
          </a:bodyPr>
          <a:lstStyle/>
          <a:p>
            <a:pPr algn="l">
              <a:lnSpc>
                <a:spcPct val="100000"/>
              </a:lnSpc>
              <a:spcBef>
                <a:spcPts val="0"/>
              </a:spcBef>
              <a:spcAft>
                <a:spcPts val="0"/>
              </a:spcAft>
            </a:pPr>
            <a:r>
              <a:rPr sz="940" b="0" i="1">
                <a:solidFill>
                  <a:srgbClr val="5B6570"/>
                </a:solidFill>
                <a:latin typeface="Arial"/>
              </a:rPr>
              <a:t>No points were inserted between measured SNRs, and no curve was smoothed to hide a step.</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4" name="Rounded Rectangle 23"/>
          <p:cNvSpPr/>
          <p:nvPr/>
        </p:nvSpPr>
        <p:spPr>
          <a:xfrm>
            <a:off x="1872691"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669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Figure 08 · delivery coverage explains the accuracy steps</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12/18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The numbers behind the figures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180" b="0" i="0">
                <a:solidFill>
                  <a:srgbClr val="5B6570"/>
                </a:solidFill>
                <a:latin typeface="Arial"/>
              </a:rPr>
              <a:t>End-to-end accuracy on the frozen validation split, counted per image including outage decisions.</a:t>
            </a:r>
          </a:p>
        </p:txBody>
      </p:sp>
      <p:sp>
        <p:nvSpPr>
          <p:cNvPr id="7" name="TextBox 6"/>
          <p:cNvSpPr txBox="1"/>
          <p:nvPr/>
        </p:nvSpPr>
        <p:spPr>
          <a:xfrm>
            <a:off x="749808" y="1627632"/>
            <a:ext cx="5285232" cy="219456"/>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8A3346"/>
                </a:solidFill>
                <a:latin typeface="Cascadia Mono"/>
              </a:rPr>
              <a:t>1/6 BANDWIDTH  ·  12,800 CHANNEL USES</a:t>
            </a:r>
          </a:p>
        </p:txBody>
      </p:sp>
      <p:sp>
        <p:nvSpPr>
          <p:cNvPr id="8" name="Rounded Rectangle 7"/>
          <p:cNvSpPr/>
          <p:nvPr/>
        </p:nvSpPr>
        <p:spPr>
          <a:xfrm>
            <a:off x="749808" y="1901952"/>
            <a:ext cx="5285232"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65960"/>
            <a:ext cx="1609344"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10" name="TextBox 9"/>
          <p:cNvSpPr txBox="1"/>
          <p:nvPr/>
        </p:nvSpPr>
        <p:spPr>
          <a:xfrm>
            <a:off x="2505456"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a:t>
            </a:r>
          </a:p>
        </p:txBody>
      </p:sp>
      <p:sp>
        <p:nvSpPr>
          <p:cNvPr id="11" name="TextBox 10"/>
          <p:cNvSpPr txBox="1"/>
          <p:nvPr/>
        </p:nvSpPr>
        <p:spPr>
          <a:xfrm>
            <a:off x="3093720"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−5</a:t>
            </a:r>
          </a:p>
        </p:txBody>
      </p:sp>
      <p:sp>
        <p:nvSpPr>
          <p:cNvPr id="12" name="TextBox 11"/>
          <p:cNvSpPr txBox="1"/>
          <p:nvPr/>
        </p:nvSpPr>
        <p:spPr>
          <a:xfrm>
            <a:off x="3681983"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13" name="TextBox 12"/>
          <p:cNvSpPr txBox="1"/>
          <p:nvPr/>
        </p:nvSpPr>
        <p:spPr>
          <a:xfrm>
            <a:off x="4270248"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a:t>
            </a:r>
          </a:p>
        </p:txBody>
      </p:sp>
      <p:sp>
        <p:nvSpPr>
          <p:cNvPr id="14" name="TextBox 13"/>
          <p:cNvSpPr txBox="1"/>
          <p:nvPr/>
        </p:nvSpPr>
        <p:spPr>
          <a:xfrm>
            <a:off x="4858512"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+9</a:t>
            </a:r>
          </a:p>
        </p:txBody>
      </p:sp>
      <p:sp>
        <p:nvSpPr>
          <p:cNvPr id="15" name="TextBox 14"/>
          <p:cNvSpPr txBox="1"/>
          <p:nvPr/>
        </p:nvSpPr>
        <p:spPr>
          <a:xfrm>
            <a:off x="5446776" y="1965960"/>
            <a:ext cx="588264"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a:t>
            </a:r>
          </a:p>
        </p:txBody>
      </p:sp>
      <p:sp>
        <p:nvSpPr>
          <p:cNvPr id="16" name="Rounded Rectangle 15"/>
          <p:cNvSpPr/>
          <p:nvPr/>
        </p:nvSpPr>
        <p:spPr>
          <a:xfrm>
            <a:off x="749808" y="2212848"/>
            <a:ext cx="5285232" cy="36576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749808" y="257860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2313432"/>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DJSCC</a:t>
            </a:r>
          </a:p>
        </p:txBody>
      </p:sp>
      <p:sp>
        <p:nvSpPr>
          <p:cNvPr id="19" name="TextBox 18"/>
          <p:cNvSpPr txBox="1"/>
          <p:nvPr/>
        </p:nvSpPr>
        <p:spPr>
          <a:xfrm>
            <a:off x="2505456"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72.8</a:t>
            </a:r>
          </a:p>
        </p:txBody>
      </p:sp>
      <p:sp>
        <p:nvSpPr>
          <p:cNvPr id="20" name="TextBox 19"/>
          <p:cNvSpPr txBox="1"/>
          <p:nvPr/>
        </p:nvSpPr>
        <p:spPr>
          <a:xfrm>
            <a:off x="3093720"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77.5</a:t>
            </a:r>
          </a:p>
        </p:txBody>
      </p:sp>
      <p:sp>
        <p:nvSpPr>
          <p:cNvPr id="21" name="TextBox 20"/>
          <p:cNvSpPr txBox="1"/>
          <p:nvPr/>
        </p:nvSpPr>
        <p:spPr>
          <a:xfrm>
            <a:off x="3681983"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79.4</a:t>
            </a:r>
          </a:p>
        </p:txBody>
      </p:sp>
      <p:sp>
        <p:nvSpPr>
          <p:cNvPr id="22" name="TextBox 21"/>
          <p:cNvSpPr txBox="1"/>
          <p:nvPr/>
        </p:nvSpPr>
        <p:spPr>
          <a:xfrm>
            <a:off x="4270248"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81.2</a:t>
            </a:r>
          </a:p>
        </p:txBody>
      </p:sp>
      <p:sp>
        <p:nvSpPr>
          <p:cNvPr id="23" name="TextBox 22"/>
          <p:cNvSpPr txBox="1"/>
          <p:nvPr/>
        </p:nvSpPr>
        <p:spPr>
          <a:xfrm>
            <a:off x="4858512"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83.8</a:t>
            </a:r>
          </a:p>
        </p:txBody>
      </p:sp>
      <p:sp>
        <p:nvSpPr>
          <p:cNvPr id="24" name="TextBox 23"/>
          <p:cNvSpPr txBox="1"/>
          <p:nvPr/>
        </p:nvSpPr>
        <p:spPr>
          <a:xfrm>
            <a:off x="5446776" y="231343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83.4</a:t>
            </a:r>
          </a:p>
        </p:txBody>
      </p:sp>
      <p:sp>
        <p:nvSpPr>
          <p:cNvPr id="25" name="Rounded Rectangle 24"/>
          <p:cNvSpPr/>
          <p:nvPr/>
        </p:nvSpPr>
        <p:spPr>
          <a:xfrm>
            <a:off x="749808" y="2578608"/>
            <a:ext cx="5285232" cy="36576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749808" y="294436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7" y="2679191"/>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Adaptive classical</a:t>
            </a:r>
          </a:p>
        </p:txBody>
      </p:sp>
      <p:sp>
        <p:nvSpPr>
          <p:cNvPr id="28" name="TextBox 27"/>
          <p:cNvSpPr txBox="1"/>
          <p:nvPr/>
        </p:nvSpPr>
        <p:spPr>
          <a:xfrm>
            <a:off x="2505456"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29" name="TextBox 28"/>
          <p:cNvSpPr txBox="1"/>
          <p:nvPr/>
        </p:nvSpPr>
        <p:spPr>
          <a:xfrm>
            <a:off x="3093720"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30" name="TextBox 29"/>
          <p:cNvSpPr txBox="1"/>
          <p:nvPr/>
        </p:nvSpPr>
        <p:spPr>
          <a:xfrm>
            <a:off x="3681983"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83.4</a:t>
            </a:r>
          </a:p>
        </p:txBody>
      </p:sp>
      <p:sp>
        <p:nvSpPr>
          <p:cNvPr id="31" name="TextBox 30"/>
          <p:cNvSpPr txBox="1"/>
          <p:nvPr/>
        </p:nvSpPr>
        <p:spPr>
          <a:xfrm>
            <a:off x="4270248"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87.3</a:t>
            </a:r>
          </a:p>
        </p:txBody>
      </p:sp>
      <p:sp>
        <p:nvSpPr>
          <p:cNvPr id="32" name="TextBox 31"/>
          <p:cNvSpPr txBox="1"/>
          <p:nvPr/>
        </p:nvSpPr>
        <p:spPr>
          <a:xfrm>
            <a:off x="4858512"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86.5</a:t>
            </a:r>
          </a:p>
        </p:txBody>
      </p:sp>
      <p:sp>
        <p:nvSpPr>
          <p:cNvPr id="33" name="TextBox 32"/>
          <p:cNvSpPr txBox="1"/>
          <p:nvPr/>
        </p:nvSpPr>
        <p:spPr>
          <a:xfrm>
            <a:off x="5446776" y="267919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89.3</a:t>
            </a:r>
          </a:p>
        </p:txBody>
      </p:sp>
      <p:cxnSp>
        <p:nvCxnSpPr>
          <p:cNvPr id="34" name="Connector 33"/>
          <p:cNvCxnSpPr/>
          <p:nvPr/>
        </p:nvCxnSpPr>
        <p:spPr>
          <a:xfrm>
            <a:off x="749808" y="3310127"/>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41247" y="3044951"/>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SNR-randomised</a:t>
            </a:r>
          </a:p>
        </p:txBody>
      </p:sp>
      <p:sp>
        <p:nvSpPr>
          <p:cNvPr id="36" name="TextBox 35"/>
          <p:cNvSpPr txBox="1"/>
          <p:nvPr/>
        </p:nvSpPr>
        <p:spPr>
          <a:xfrm>
            <a:off x="2505456"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77.0</a:t>
            </a:r>
          </a:p>
        </p:txBody>
      </p:sp>
      <p:sp>
        <p:nvSpPr>
          <p:cNvPr id="37" name="TextBox 36"/>
          <p:cNvSpPr txBox="1"/>
          <p:nvPr/>
        </p:nvSpPr>
        <p:spPr>
          <a:xfrm>
            <a:off x="3093720"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82.4</a:t>
            </a:r>
          </a:p>
        </p:txBody>
      </p:sp>
      <p:sp>
        <p:nvSpPr>
          <p:cNvPr id="38" name="TextBox 37"/>
          <p:cNvSpPr txBox="1"/>
          <p:nvPr/>
        </p:nvSpPr>
        <p:spPr>
          <a:xfrm>
            <a:off x="3681983"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82.4</a:t>
            </a:r>
          </a:p>
        </p:txBody>
      </p:sp>
      <p:sp>
        <p:nvSpPr>
          <p:cNvPr id="39" name="TextBox 38"/>
          <p:cNvSpPr txBox="1"/>
          <p:nvPr/>
        </p:nvSpPr>
        <p:spPr>
          <a:xfrm>
            <a:off x="4270248"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83.0</a:t>
            </a:r>
          </a:p>
        </p:txBody>
      </p:sp>
      <p:sp>
        <p:nvSpPr>
          <p:cNvPr id="40" name="TextBox 39"/>
          <p:cNvSpPr txBox="1"/>
          <p:nvPr/>
        </p:nvSpPr>
        <p:spPr>
          <a:xfrm>
            <a:off x="4858512"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84.1</a:t>
            </a:r>
          </a:p>
        </p:txBody>
      </p:sp>
      <p:sp>
        <p:nvSpPr>
          <p:cNvPr id="41" name="TextBox 40"/>
          <p:cNvSpPr txBox="1"/>
          <p:nvPr/>
        </p:nvSpPr>
        <p:spPr>
          <a:xfrm>
            <a:off x="5446776" y="3044951"/>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83.9</a:t>
            </a:r>
          </a:p>
        </p:txBody>
      </p:sp>
      <p:cxnSp>
        <p:nvCxnSpPr>
          <p:cNvPr id="42" name="Connector 41"/>
          <p:cNvCxnSpPr/>
          <p:nvPr/>
        </p:nvCxnSpPr>
        <p:spPr>
          <a:xfrm>
            <a:off x="749808" y="367588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41247" y="3410712"/>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ER-9 digital</a:t>
            </a:r>
          </a:p>
        </p:txBody>
      </p:sp>
      <p:sp>
        <p:nvSpPr>
          <p:cNvPr id="44" name="TextBox 43"/>
          <p:cNvSpPr txBox="1"/>
          <p:nvPr/>
        </p:nvSpPr>
        <p:spPr>
          <a:xfrm>
            <a:off x="2505456"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10.0</a:t>
            </a:r>
          </a:p>
        </p:txBody>
      </p:sp>
      <p:sp>
        <p:nvSpPr>
          <p:cNvPr id="45" name="TextBox 44"/>
          <p:cNvSpPr txBox="1"/>
          <p:nvPr/>
        </p:nvSpPr>
        <p:spPr>
          <a:xfrm>
            <a:off x="3093720"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10.0</a:t>
            </a:r>
          </a:p>
        </p:txBody>
      </p:sp>
      <p:sp>
        <p:nvSpPr>
          <p:cNvPr id="46" name="TextBox 45"/>
          <p:cNvSpPr txBox="1"/>
          <p:nvPr/>
        </p:nvSpPr>
        <p:spPr>
          <a:xfrm>
            <a:off x="3681983"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7" name="TextBox 46"/>
          <p:cNvSpPr txBox="1"/>
          <p:nvPr/>
        </p:nvSpPr>
        <p:spPr>
          <a:xfrm>
            <a:off x="4270248"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8" name="TextBox 47"/>
          <p:cNvSpPr txBox="1"/>
          <p:nvPr/>
        </p:nvSpPr>
        <p:spPr>
          <a:xfrm>
            <a:off x="4858512"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9" name="TextBox 48"/>
          <p:cNvSpPr txBox="1"/>
          <p:nvPr/>
        </p:nvSpPr>
        <p:spPr>
          <a:xfrm>
            <a:off x="5446776" y="341071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cxnSp>
        <p:nvCxnSpPr>
          <p:cNvPr id="50" name="Connector 49"/>
          <p:cNvCxnSpPr/>
          <p:nvPr/>
        </p:nvCxnSpPr>
        <p:spPr>
          <a:xfrm>
            <a:off x="749808" y="404164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41247" y="3776472"/>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PAPR-constrained</a:t>
            </a:r>
          </a:p>
        </p:txBody>
      </p:sp>
      <p:sp>
        <p:nvSpPr>
          <p:cNvPr id="52" name="TextBox 51"/>
          <p:cNvSpPr txBox="1"/>
          <p:nvPr/>
        </p:nvSpPr>
        <p:spPr>
          <a:xfrm>
            <a:off x="2505456"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75.9</a:t>
            </a:r>
          </a:p>
        </p:txBody>
      </p:sp>
      <p:sp>
        <p:nvSpPr>
          <p:cNvPr id="53" name="TextBox 52"/>
          <p:cNvSpPr txBox="1"/>
          <p:nvPr/>
        </p:nvSpPr>
        <p:spPr>
          <a:xfrm>
            <a:off x="3093720"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80.1</a:t>
            </a:r>
          </a:p>
        </p:txBody>
      </p:sp>
      <p:sp>
        <p:nvSpPr>
          <p:cNvPr id="54" name="TextBox 53"/>
          <p:cNvSpPr txBox="1"/>
          <p:nvPr/>
        </p:nvSpPr>
        <p:spPr>
          <a:xfrm>
            <a:off x="3681983"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80.5</a:t>
            </a:r>
          </a:p>
        </p:txBody>
      </p:sp>
      <p:sp>
        <p:nvSpPr>
          <p:cNvPr id="55" name="TextBox 54"/>
          <p:cNvSpPr txBox="1"/>
          <p:nvPr/>
        </p:nvSpPr>
        <p:spPr>
          <a:xfrm>
            <a:off x="4270248"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82.3</a:t>
            </a:r>
          </a:p>
        </p:txBody>
      </p:sp>
      <p:sp>
        <p:nvSpPr>
          <p:cNvPr id="56" name="TextBox 55"/>
          <p:cNvSpPr txBox="1"/>
          <p:nvPr/>
        </p:nvSpPr>
        <p:spPr>
          <a:xfrm>
            <a:off x="4858512"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83.0</a:t>
            </a:r>
          </a:p>
        </p:txBody>
      </p:sp>
      <p:sp>
        <p:nvSpPr>
          <p:cNvPr id="57" name="TextBox 56"/>
          <p:cNvSpPr txBox="1"/>
          <p:nvPr/>
        </p:nvSpPr>
        <p:spPr>
          <a:xfrm>
            <a:off x="5446776" y="3776472"/>
            <a:ext cx="588264"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83.2</a:t>
            </a:r>
          </a:p>
        </p:txBody>
      </p:sp>
      <p:sp>
        <p:nvSpPr>
          <p:cNvPr id="58" name="TextBox 57"/>
          <p:cNvSpPr txBox="1"/>
          <p:nvPr/>
        </p:nvSpPr>
        <p:spPr>
          <a:xfrm>
            <a:off x="6254496" y="1627632"/>
            <a:ext cx="5193792" cy="219456"/>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203A57"/>
                </a:solidFill>
                <a:latin typeface="Cascadia Mono"/>
              </a:rPr>
              <a:t>1/24 BANDWIDTH  ·  3,200 CHANNEL USES</a:t>
            </a:r>
          </a:p>
        </p:txBody>
      </p:sp>
      <p:sp>
        <p:nvSpPr>
          <p:cNvPr id="59" name="Rounded Rectangle 58"/>
          <p:cNvSpPr/>
          <p:nvPr/>
        </p:nvSpPr>
        <p:spPr>
          <a:xfrm>
            <a:off x="6254496" y="1901952"/>
            <a:ext cx="5193792"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45936" y="1965960"/>
            <a:ext cx="1609344"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61" name="TextBox 60"/>
          <p:cNvSpPr txBox="1"/>
          <p:nvPr/>
        </p:nvSpPr>
        <p:spPr>
          <a:xfrm>
            <a:off x="8010144"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a:t>
            </a:r>
          </a:p>
        </p:txBody>
      </p:sp>
      <p:sp>
        <p:nvSpPr>
          <p:cNvPr id="62" name="TextBox 61"/>
          <p:cNvSpPr txBox="1"/>
          <p:nvPr/>
        </p:nvSpPr>
        <p:spPr>
          <a:xfrm>
            <a:off x="8583168"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63" name="TextBox 62"/>
          <p:cNvSpPr txBox="1"/>
          <p:nvPr/>
        </p:nvSpPr>
        <p:spPr>
          <a:xfrm>
            <a:off x="9156192"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−2</a:t>
            </a:r>
          </a:p>
        </p:txBody>
      </p:sp>
      <p:sp>
        <p:nvSpPr>
          <p:cNvPr id="64" name="TextBox 63"/>
          <p:cNvSpPr txBox="1"/>
          <p:nvPr/>
        </p:nvSpPr>
        <p:spPr>
          <a:xfrm>
            <a:off x="9729216"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a:t>
            </a:r>
          </a:p>
        </p:txBody>
      </p:sp>
      <p:sp>
        <p:nvSpPr>
          <p:cNvPr id="65" name="TextBox 64"/>
          <p:cNvSpPr txBox="1"/>
          <p:nvPr/>
        </p:nvSpPr>
        <p:spPr>
          <a:xfrm>
            <a:off x="10302240"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66" name="TextBox 65"/>
          <p:cNvSpPr txBox="1"/>
          <p:nvPr/>
        </p:nvSpPr>
        <p:spPr>
          <a:xfrm>
            <a:off x="10875264" y="1965960"/>
            <a:ext cx="573023"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a:t>
            </a:r>
          </a:p>
        </p:txBody>
      </p:sp>
      <p:sp>
        <p:nvSpPr>
          <p:cNvPr id="67" name="Rounded Rectangle 66"/>
          <p:cNvSpPr/>
          <p:nvPr/>
        </p:nvSpPr>
        <p:spPr>
          <a:xfrm>
            <a:off x="6254496" y="2212848"/>
            <a:ext cx="5193792" cy="36576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6254496" y="2578608"/>
            <a:ext cx="519379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6345936" y="2313432"/>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DJSCC</a:t>
            </a:r>
          </a:p>
        </p:txBody>
      </p:sp>
      <p:sp>
        <p:nvSpPr>
          <p:cNvPr id="70" name="TextBox 69"/>
          <p:cNvSpPr txBox="1"/>
          <p:nvPr/>
        </p:nvSpPr>
        <p:spPr>
          <a:xfrm>
            <a:off x="8010144"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49.4</a:t>
            </a:r>
          </a:p>
        </p:txBody>
      </p:sp>
      <p:sp>
        <p:nvSpPr>
          <p:cNvPr id="71" name="TextBox 70"/>
          <p:cNvSpPr txBox="1"/>
          <p:nvPr/>
        </p:nvSpPr>
        <p:spPr>
          <a:xfrm>
            <a:off x="8583168"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69.3</a:t>
            </a:r>
          </a:p>
        </p:txBody>
      </p:sp>
      <p:sp>
        <p:nvSpPr>
          <p:cNvPr id="72" name="TextBox 71"/>
          <p:cNvSpPr txBox="1"/>
          <p:nvPr/>
        </p:nvSpPr>
        <p:spPr>
          <a:xfrm>
            <a:off x="9156192"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76.2</a:t>
            </a:r>
          </a:p>
        </p:txBody>
      </p:sp>
      <p:sp>
        <p:nvSpPr>
          <p:cNvPr id="73" name="TextBox 72"/>
          <p:cNvSpPr txBox="1"/>
          <p:nvPr/>
        </p:nvSpPr>
        <p:spPr>
          <a:xfrm>
            <a:off x="9729216"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78.7</a:t>
            </a:r>
          </a:p>
        </p:txBody>
      </p:sp>
      <p:sp>
        <p:nvSpPr>
          <p:cNvPr id="74" name="TextBox 73"/>
          <p:cNvSpPr txBox="1"/>
          <p:nvPr/>
        </p:nvSpPr>
        <p:spPr>
          <a:xfrm>
            <a:off x="10302240"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82.0</a:t>
            </a:r>
          </a:p>
        </p:txBody>
      </p:sp>
      <p:sp>
        <p:nvSpPr>
          <p:cNvPr id="75" name="TextBox 74"/>
          <p:cNvSpPr txBox="1"/>
          <p:nvPr/>
        </p:nvSpPr>
        <p:spPr>
          <a:xfrm>
            <a:off x="10875264" y="2313432"/>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82.8</a:t>
            </a:r>
          </a:p>
        </p:txBody>
      </p:sp>
      <p:sp>
        <p:nvSpPr>
          <p:cNvPr id="76" name="Rounded Rectangle 75"/>
          <p:cNvSpPr/>
          <p:nvPr/>
        </p:nvSpPr>
        <p:spPr>
          <a:xfrm>
            <a:off x="6254496" y="2578608"/>
            <a:ext cx="5193792" cy="36576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254496" y="2944368"/>
            <a:ext cx="519379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6345936" y="2679191"/>
            <a:ext cx="1609344"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Adaptive classical</a:t>
            </a:r>
          </a:p>
        </p:txBody>
      </p:sp>
      <p:sp>
        <p:nvSpPr>
          <p:cNvPr id="79" name="TextBox 78"/>
          <p:cNvSpPr txBox="1"/>
          <p:nvPr/>
        </p:nvSpPr>
        <p:spPr>
          <a:xfrm>
            <a:off x="8010144"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80" name="TextBox 79"/>
          <p:cNvSpPr txBox="1"/>
          <p:nvPr/>
        </p:nvSpPr>
        <p:spPr>
          <a:xfrm>
            <a:off x="8583168"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81" name="TextBox 80"/>
          <p:cNvSpPr txBox="1"/>
          <p:nvPr/>
        </p:nvSpPr>
        <p:spPr>
          <a:xfrm>
            <a:off x="9156192"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31.0</a:t>
            </a:r>
          </a:p>
        </p:txBody>
      </p:sp>
      <p:sp>
        <p:nvSpPr>
          <p:cNvPr id="82" name="TextBox 81"/>
          <p:cNvSpPr txBox="1"/>
          <p:nvPr/>
        </p:nvSpPr>
        <p:spPr>
          <a:xfrm>
            <a:off x="9729216"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69.4</a:t>
            </a:r>
          </a:p>
        </p:txBody>
      </p:sp>
      <p:sp>
        <p:nvSpPr>
          <p:cNvPr id="83" name="TextBox 82"/>
          <p:cNvSpPr txBox="1"/>
          <p:nvPr/>
        </p:nvSpPr>
        <p:spPr>
          <a:xfrm>
            <a:off x="10302240"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83.4</a:t>
            </a:r>
          </a:p>
        </p:txBody>
      </p:sp>
      <p:sp>
        <p:nvSpPr>
          <p:cNvPr id="84" name="TextBox 83"/>
          <p:cNvSpPr txBox="1"/>
          <p:nvPr/>
        </p:nvSpPr>
        <p:spPr>
          <a:xfrm>
            <a:off x="10875264" y="2679191"/>
            <a:ext cx="573023"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87.7</a:t>
            </a:r>
          </a:p>
        </p:txBody>
      </p:sp>
      <p:sp>
        <p:nvSpPr>
          <p:cNvPr id="85" name="Rounded Rectangle 84"/>
          <p:cNvSpPr/>
          <p:nvPr/>
        </p:nvSpPr>
        <p:spPr>
          <a:xfrm>
            <a:off x="6254496" y="3017520"/>
            <a:ext cx="5193792" cy="969264"/>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55664" y="3127248"/>
            <a:ext cx="4791456" cy="219456"/>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496B5A"/>
                </a:solidFill>
                <a:latin typeface="Georgia"/>
              </a:rPr>
              <a:t>G-10, the crossover decision</a:t>
            </a:r>
          </a:p>
        </p:txBody>
      </p:sp>
      <p:sp>
        <p:nvSpPr>
          <p:cNvPr id="87" name="TextBox 86"/>
          <p:cNvSpPr txBox="1"/>
          <p:nvPr/>
        </p:nvSpPr>
        <p:spPr>
          <a:xfrm>
            <a:off x="6455664" y="3419856"/>
            <a:ext cx="4791456" cy="475488"/>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18212B"/>
                </a:solidFill>
                <a:latin typeface="Arial"/>
              </a:rPr>
              <a:t>The measured sign of the learned-minus-classical gap flips between −5 dB and −4 dB at 1/6. That is an expected-direction crossover and it closes gate G-10.</a:t>
            </a:r>
          </a:p>
        </p:txBody>
      </p:sp>
      <p:sp>
        <p:nvSpPr>
          <p:cNvPr id="88" name="Rounded Rectangle 87"/>
          <p:cNvSpPr/>
          <p:nvPr/>
        </p:nvSpPr>
        <p:spPr>
          <a:xfrm>
            <a:off x="749808" y="4242816"/>
            <a:ext cx="10698480" cy="1700784"/>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987552" y="4462272"/>
            <a:ext cx="148132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060704" y="4498848"/>
            <a:ext cx="133502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WHAT THE TABLE IS NOT</a:t>
            </a:r>
          </a:p>
        </p:txBody>
      </p:sp>
      <p:sp>
        <p:nvSpPr>
          <p:cNvPr id="91" name="TextBox 90"/>
          <p:cNvSpPr txBox="1"/>
          <p:nvPr/>
        </p:nvSpPr>
        <p:spPr>
          <a:xfrm>
            <a:off x="987552" y="4901184"/>
            <a:ext cx="10222992" cy="859536"/>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These are 21 SNR points on one grid, not 21 independent replications. Every cell comes from the same 1,000-image validation set at one frozen seed cell, so the smoothness of a curve carries no statistical information. A one- or two-point difference between rows should be described as an observed difference and nothing more. The bulk per-image rows that would support paired uncertainty intervals are not in this checkout, so we have not computed any.</a:t>
            </a:r>
          </a:p>
        </p:txBody>
      </p:sp>
      <p:cxnSp>
        <p:nvCxnSpPr>
          <p:cNvPr id="92" name="Connector 91"/>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93" name="Rounded Rectangle 92"/>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95" name="Rounded Rectangle 94"/>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97" name="TextBox 96"/>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End-to-end top-1 accuracy, n_correct / 1000, validation split</a:t>
            </a:r>
          </a:p>
        </p:txBody>
      </p:sp>
      <p:sp>
        <p:nvSpPr>
          <p:cNvPr id="98" name="TextBox 97"/>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13/18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this evidence cannot tell you</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71600"/>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371600"/>
            <a:ext cx="54864" cy="8595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499616"/>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One seed cell, validation only</a:t>
            </a:r>
          </a:p>
        </p:txBody>
      </p:sp>
      <p:sp>
        <p:nvSpPr>
          <p:cNvPr id="9" name="TextBox 8"/>
          <p:cNvSpPr txBox="1"/>
          <p:nvPr/>
        </p:nvSpPr>
        <p:spPr>
          <a:xfrm>
            <a:off x="4425696" y="1481328"/>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Every number here is descriptive. No population interval, no significance claim, no replication count.</a:t>
            </a:r>
          </a:p>
        </p:txBody>
      </p:sp>
      <p:sp>
        <p:nvSpPr>
          <p:cNvPr id="10" name="Rounded Rectangle 9"/>
          <p:cNvSpPr/>
          <p:nvPr/>
        </p:nvSpPr>
        <p:spPr>
          <a:xfrm>
            <a:off x="749808" y="2340864"/>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2340864"/>
            <a:ext cx="54864" cy="8595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468880"/>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Different scorers on the two sides</a:t>
            </a:r>
          </a:p>
        </p:txBody>
      </p:sp>
      <p:sp>
        <p:nvSpPr>
          <p:cNvPr id="13" name="TextBox 12"/>
          <p:cNvSpPr txBox="1"/>
          <p:nvPr/>
        </p:nvSpPr>
        <p:spPr>
          <a:xfrm>
            <a:off x="4425696" y="2450592"/>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learned arms use their own task head, the classical arms the artifact-finetuned classifier. The gap is a system-level quantity, not a controlled test of channel coding.</a:t>
            </a:r>
          </a:p>
        </p:txBody>
      </p:sp>
      <p:sp>
        <p:nvSpPr>
          <p:cNvPr id="14" name="Rounded Rectangle 13"/>
          <p:cNvSpPr/>
          <p:nvPr/>
        </p:nvSpPr>
        <p:spPr>
          <a:xfrm>
            <a:off x="749808" y="3310128"/>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3310128"/>
            <a:ext cx="54864" cy="859536"/>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438144"/>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Not equal optimisation effort</a:t>
            </a:r>
          </a:p>
        </p:txBody>
      </p:sp>
      <p:sp>
        <p:nvSpPr>
          <p:cNvPr id="17" name="TextBox 16"/>
          <p:cNvSpPr txBox="1"/>
          <p:nvPr/>
        </p:nvSpPr>
        <p:spPr>
          <a:xfrm>
            <a:off x="4425696" y="3419856"/>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classical selection rules and artifact scorer were frozen from validation work; the learned controls are separate training runs. Specific and fair, but not matched compute.</a:t>
            </a:r>
          </a:p>
        </p:txBody>
      </p:sp>
      <p:sp>
        <p:nvSpPr>
          <p:cNvPr id="18" name="Rounded Rectangle 17"/>
          <p:cNvSpPr/>
          <p:nvPr/>
        </p:nvSpPr>
        <p:spPr>
          <a:xfrm>
            <a:off x="749808" y="4279392"/>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4279392"/>
            <a:ext cx="54864" cy="859536"/>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407407"/>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No waveform or amplifier data</a:t>
            </a:r>
          </a:p>
        </p:txBody>
      </p:sp>
      <p:sp>
        <p:nvSpPr>
          <p:cNvPr id="21" name="TextBox 20"/>
          <p:cNvSpPr txBox="1"/>
          <p:nvPr/>
        </p:nvSpPr>
        <p:spPr>
          <a:xfrm>
            <a:off x="4425696" y="4389120"/>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PAPR is measured on channel symbols. Nothing here establishes RF behaviour, and the project stays simulation-first.</a:t>
            </a:r>
          </a:p>
        </p:txBody>
      </p:sp>
      <p:sp>
        <p:nvSpPr>
          <p:cNvPr id="22" name="Rounded Rectangle 21"/>
          <p:cNvSpPr/>
          <p:nvPr/>
        </p:nvSpPr>
        <p:spPr>
          <a:xfrm>
            <a:off x="749808" y="5248656"/>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8" y="5248656"/>
            <a:ext cx="54864" cy="859536"/>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376672"/>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Discrete, frozen choices produce steps</a:t>
            </a:r>
          </a:p>
        </p:txBody>
      </p:sp>
      <p:sp>
        <p:nvSpPr>
          <p:cNvPr id="25" name="TextBox 24"/>
          <p:cNvSpPr txBox="1"/>
          <p:nvPr/>
        </p:nvSpPr>
        <p:spPr>
          <a:xfrm>
            <a:off x="4425696" y="5358384"/>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Outage fallback, 1,000 images and frozen operating points give abrupt changes and a few non-monotone points. We did not smooth them.</a:t>
            </a:r>
          </a:p>
        </p:txBody>
      </p:sp>
      <p:sp>
        <p:nvSpPr>
          <p:cNvPr id="26" name="TextBox 25"/>
          <p:cNvSpPr txBox="1"/>
          <p:nvPr/>
        </p:nvSpPr>
        <p:spPr>
          <a:xfrm>
            <a:off x="749808" y="6272784"/>
            <a:ext cx="10698480" cy="182880"/>
          </a:xfrm>
          <a:prstGeom prst="rect">
            <a:avLst/>
          </a:prstGeom>
          <a:noFill/>
        </p:spPr>
        <p:txBody>
          <a:bodyPr wrap="square" lIns="45720" rIns="45720" anchor="t">
            <a:spAutoFit/>
          </a:bodyPr>
          <a:lstStyle/>
          <a:p>
            <a:pPr algn="ctr">
              <a:lnSpc>
                <a:spcPct val="100000"/>
              </a:lnSpc>
              <a:spcBef>
                <a:spcPts val="0"/>
              </a:spcBef>
              <a:spcAft>
                <a:spcPts val="0"/>
              </a:spcAft>
            </a:pPr>
            <a:r>
              <a:rPr sz="919" b="0" i="1">
                <a:solidFill>
                  <a:srgbClr val="8A3346"/>
                </a:solidFill>
                <a:latin typeface="Arial"/>
              </a:rPr>
              <a:t>SPEC §2 treats both a crossover and learned dominance as complete Tier 1 outcomes. Neither result undoes the other.</a:t>
            </a:r>
          </a:p>
        </p:txBody>
      </p:sp>
      <p:cxnSp>
        <p:nvCxnSpPr>
          <p:cNvPr id="27" name="Connector 2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59"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0" name="Rounded Rectangle 29"/>
          <p:cNvSpPr/>
          <p:nvPr/>
        </p:nvSpPr>
        <p:spPr>
          <a:xfrm>
            <a:off x="1872691"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3669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2" name="TextBox 31"/>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Stated plainly so the third review is not a surprise</a:t>
            </a:r>
          </a:p>
        </p:txBody>
      </p:sp>
      <p:sp>
        <p:nvSpPr>
          <p:cNvPr id="33" name="TextBox 32"/>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14/18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Four times we changed the approach because of what we found</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The rubric asks what we decided based on the results obtained. These are the four that count.</a:t>
            </a:r>
          </a:p>
        </p:txBody>
      </p:sp>
      <p:sp>
        <p:nvSpPr>
          <p:cNvPr id="7" name="Rounded Rectangle 6"/>
          <p:cNvSpPr/>
          <p:nvPr/>
        </p:nvSpPr>
        <p:spPr>
          <a:xfrm>
            <a:off x="749808" y="1627632"/>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627632"/>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1828800"/>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AM-34 · DEC-16</a:t>
            </a:r>
          </a:p>
        </p:txBody>
      </p:sp>
      <p:sp>
        <p:nvSpPr>
          <p:cNvPr id="10" name="TextBox 9"/>
          <p:cNvSpPr txBox="1"/>
          <p:nvPr/>
        </p:nvSpPr>
        <p:spPr>
          <a:xfrm>
            <a:off x="969264" y="2157984"/>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The baseline was capped at QPSK, which made a crossover arithmetically impossible. We added 16-QAM and made modulation adaptive per SNR, so the baseline transmits more as the link improves.</a:t>
            </a:r>
          </a:p>
        </p:txBody>
      </p:sp>
      <p:cxnSp>
        <p:nvCxnSpPr>
          <p:cNvPr id="11" name="Connector 10"/>
          <p:cNvCxnSpPr/>
          <p:nvPr/>
        </p:nvCxnSpPr>
        <p:spPr>
          <a:xfrm>
            <a:off x="969264" y="2980944"/>
            <a:ext cx="4773167"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3090672"/>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The rule we adopted: every lever strengthens the baseline or is preregistered. We never weaken the learned system.</a:t>
            </a:r>
          </a:p>
        </p:txBody>
      </p:sp>
      <p:sp>
        <p:nvSpPr>
          <p:cNvPr id="13" name="Rounded Rectangle 12"/>
          <p:cNvSpPr/>
          <p:nvPr/>
        </p:nvSpPr>
        <p:spPr>
          <a:xfrm>
            <a:off x="6236208" y="1627632"/>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6208" y="1627632"/>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1828800"/>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AM-52</a:t>
            </a:r>
          </a:p>
        </p:txBody>
      </p:sp>
      <p:sp>
        <p:nvSpPr>
          <p:cNvPr id="16" name="TextBox 15"/>
          <p:cNvSpPr txBox="1"/>
          <p:nvPr/>
        </p:nvSpPr>
        <p:spPr>
          <a:xfrm>
            <a:off x="6455664" y="2157984"/>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Our SNR grid was sampled every 2 dB exactly where the BPSK waterfall sits, so the classical cliff could have been smeared or missed. We added −7, −5 and −3 dB before the curve mattered.</a:t>
            </a:r>
          </a:p>
        </p:txBody>
      </p:sp>
      <p:cxnSp>
        <p:nvCxnSpPr>
          <p:cNvPr id="17" name="Connector 16"/>
          <p:cNvCxnSpPr/>
          <p:nvPr/>
        </p:nvCxnSpPr>
        <p:spPr>
          <a:xfrm>
            <a:off x="6455664" y="2980944"/>
            <a:ext cx="4773168"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55664" y="3090672"/>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Dense where the effect lives, not where sampling was convenient.</a:t>
            </a:r>
          </a:p>
        </p:txBody>
      </p:sp>
      <p:sp>
        <p:nvSpPr>
          <p:cNvPr id="19" name="Rounded Rectangle 18"/>
          <p:cNvSpPr/>
          <p:nvPr/>
        </p:nvSpPr>
        <p:spPr>
          <a:xfrm>
            <a:off x="749808" y="3931920"/>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3931920"/>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33087"/>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AM-58</a:t>
            </a:r>
          </a:p>
        </p:txBody>
      </p:sp>
      <p:sp>
        <p:nvSpPr>
          <p:cNvPr id="22" name="TextBox 21"/>
          <p:cNvSpPr txBox="1"/>
          <p:nvPr/>
        </p:nvSpPr>
        <p:spPr>
          <a:xfrm>
            <a:off x="969264" y="4462272"/>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The packetisation checker reported zero failures while violating four of its own rules, including byte alignment and exact code-block division. We fixed the checker, not the results.</a:t>
            </a:r>
          </a:p>
        </p:txBody>
      </p:sp>
      <p:cxnSp>
        <p:nvCxnSpPr>
          <p:cNvPr id="23" name="Connector 22"/>
          <p:cNvCxnSpPr/>
          <p:nvPr/>
        </p:nvCxnSpPr>
        <p:spPr>
          <a:xfrm>
            <a:off x="969264" y="5285231"/>
            <a:ext cx="4773167"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5394960"/>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All 215 configurations stayed feasible and every scientific outcome was unchanged.</a:t>
            </a:r>
          </a:p>
        </p:txBody>
      </p:sp>
      <p:sp>
        <p:nvSpPr>
          <p:cNvPr id="25" name="Rounded Rectangle 24"/>
          <p:cNvSpPr/>
          <p:nvPr/>
        </p:nvSpPr>
        <p:spPr>
          <a:xfrm>
            <a:off x="6236208" y="3931920"/>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6208" y="3931920"/>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55664" y="4133087"/>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AM-60</a:t>
            </a:r>
          </a:p>
        </p:txBody>
      </p:sp>
      <p:sp>
        <p:nvSpPr>
          <p:cNvPr id="28" name="TextBox 27"/>
          <p:cNvSpPr txBox="1"/>
          <p:nvPr/>
        </p:nvSpPr>
        <p:spPr>
          <a:xfrm>
            <a:off x="6455664" y="4462272"/>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Test access was set to release at G-10, which sits in week 9. That opened the test split about three weeks before the freeze manifest existed.</a:t>
            </a:r>
          </a:p>
        </p:txBody>
      </p:sp>
      <p:cxnSp>
        <p:nvCxnSpPr>
          <p:cNvPr id="29" name="Connector 28"/>
          <p:cNvCxnSpPr/>
          <p:nvPr/>
        </p:nvCxnSpPr>
        <p:spPr>
          <a:xfrm>
            <a:off x="6455664" y="5285231"/>
            <a:ext cx="4773168"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55664" y="5394960"/>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The release moved to G-12 in week 11. It has stayed sealed since.</a:t>
            </a:r>
          </a:p>
        </p:txBody>
      </p:sp>
      <p:sp>
        <p:nvSpPr>
          <p:cNvPr id="31" name="Rounded Rectangle 30"/>
          <p:cNvSpPr/>
          <p:nvPr/>
        </p:nvSpPr>
        <p:spPr>
          <a:xfrm>
            <a:off x="749808" y="6035040"/>
            <a:ext cx="10698480" cy="310896"/>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6099048"/>
            <a:ext cx="10369296" cy="182880"/>
          </a:xfrm>
          <a:prstGeom prst="rect">
            <a:avLst/>
          </a:prstGeom>
          <a:noFill/>
        </p:spPr>
        <p:txBody>
          <a:bodyPr wrap="square" lIns="45720" rIns="45720" anchor="t">
            <a:spAutoFit/>
          </a:bodyPr>
          <a:lstStyle/>
          <a:p>
            <a:pPr algn="ctr">
              <a:lnSpc>
                <a:spcPct val="100000"/>
              </a:lnSpc>
              <a:spcBef>
                <a:spcPts val="0"/>
              </a:spcBef>
              <a:spcAft>
                <a:spcPts val="0"/>
              </a:spcAft>
            </a:pPr>
            <a:r>
              <a:rPr sz="940" b="1" i="0">
                <a:solidFill>
                  <a:srgbClr val="496B5A"/>
                </a:solidFill>
                <a:latin typeface="Arial"/>
              </a:rPr>
              <a:t>Twenty-two further amendments are recorded in SPEC §17, including three checks that were wrong and had to be repaired.</a:t>
            </a:r>
          </a:p>
        </p:txBody>
      </p:sp>
      <p:cxnSp>
        <p:nvCxnSpPr>
          <p:cNvPr id="33" name="Connector 32"/>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5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6" name="TextBox 3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Required by PR-8(c): a one-slide distillation of SPEC §17</a:t>
            </a:r>
          </a:p>
        </p:txBody>
      </p:sp>
      <p:sp>
        <p:nvSpPr>
          <p:cNvPr id="37" name="TextBox 3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15/18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we claim as new, and what we do not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Two claims, both tied to the experimental design rather than to the idea of semantic communication.</a:t>
            </a:r>
          </a:p>
        </p:txBody>
      </p:sp>
      <p:sp>
        <p:nvSpPr>
          <p:cNvPr id="7" name="Rounded Rectangle 6"/>
          <p:cNvSpPr/>
          <p:nvPr/>
        </p:nvSpPr>
        <p:spPr>
          <a:xfrm>
            <a:off x="749808" y="1627632"/>
            <a:ext cx="6839712" cy="138988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627632"/>
            <a:ext cx="54864" cy="1389888"/>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73936"/>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8212B"/>
                </a:solidFill>
                <a:latin typeface="Georgia"/>
              </a:rPr>
              <a:t>ER-9 attribution decomposition</a:t>
            </a:r>
          </a:p>
        </p:txBody>
      </p:sp>
      <p:sp>
        <p:nvSpPr>
          <p:cNvPr id="10" name="TextBox 9"/>
          <p:cNvSpPr txBox="1"/>
          <p:nvPr/>
        </p:nvSpPr>
        <p:spPr>
          <a:xfrm>
            <a:off x="987552" y="2121408"/>
            <a:ext cx="6382512" cy="512064"/>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A task-aware digital arm sends learned features over the same LDPC and modulation chain at the same channel-use budget. It separates task-aware representation from joint coding inside one experiment.</a:t>
            </a:r>
          </a:p>
        </p:txBody>
      </p:sp>
      <p:sp>
        <p:nvSpPr>
          <p:cNvPr id="11" name="TextBox 10"/>
          <p:cNvSpPr txBox="1"/>
          <p:nvPr/>
        </p:nvSpPr>
        <p:spPr>
          <a:xfrm>
            <a:off x="987552" y="2670048"/>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880" b="0" i="1">
                <a:solidFill>
                  <a:srgbClr val="8A3346"/>
                </a:solidFill>
                <a:latin typeface="Arial"/>
              </a:rPr>
              <a:t>Distinguished from: work that reports a learned-versus-classical gap without such a control.</a:t>
            </a:r>
          </a:p>
        </p:txBody>
      </p:sp>
      <p:sp>
        <p:nvSpPr>
          <p:cNvPr id="12" name="Rounded Rectangle 11"/>
          <p:cNvSpPr/>
          <p:nvPr/>
        </p:nvSpPr>
        <p:spPr>
          <a:xfrm>
            <a:off x="749808" y="3200400"/>
            <a:ext cx="6839712" cy="138988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8" y="3200400"/>
            <a:ext cx="54864" cy="1389888"/>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3346704"/>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8212B"/>
                </a:solidFill>
                <a:latin typeface="Georgia"/>
              </a:rPr>
              <a:t>BR-11 format-overhead-controlled baseline</a:t>
            </a:r>
          </a:p>
        </p:txBody>
      </p:sp>
      <p:sp>
        <p:nvSpPr>
          <p:cNvPr id="15" name="TextBox 14"/>
          <p:cNvSpPr txBox="1"/>
          <p:nvPr/>
        </p:nvSpPr>
        <p:spPr>
          <a:xfrm>
            <a:off x="987552" y="3694176"/>
            <a:ext cx="6382512" cy="512064"/>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Codec container, framing, CRC, segmentation and rate-matching overhead are measured, charged and published, so the classical arm is tuned on the payload it can actually use.</a:t>
            </a:r>
          </a:p>
        </p:txBody>
      </p:sp>
      <p:sp>
        <p:nvSpPr>
          <p:cNvPr id="16" name="TextBox 15"/>
          <p:cNvSpPr txBox="1"/>
          <p:nvPr/>
        </p:nvSpPr>
        <p:spPr>
          <a:xfrm>
            <a:off x="987552" y="4242816"/>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880" b="0" i="1">
                <a:solidFill>
                  <a:srgbClr val="203A57"/>
                </a:solidFill>
                <a:latin typeface="Arial"/>
              </a:rPr>
              <a:t>Distinguished from: pipelines that quote a nominal ratio and leave the overhead unaccounted.</a:t>
            </a:r>
          </a:p>
        </p:txBody>
      </p:sp>
      <p:sp>
        <p:nvSpPr>
          <p:cNvPr id="17" name="Rounded Rectangle 16"/>
          <p:cNvSpPr/>
          <p:nvPr/>
        </p:nvSpPr>
        <p:spPr>
          <a:xfrm>
            <a:off x="7900416" y="1627632"/>
            <a:ext cx="3547872" cy="3145536"/>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56448" y="1847088"/>
            <a:ext cx="1700784" cy="2468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883664"/>
            <a:ext cx="1554480"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8A3346"/>
                </a:solidFill>
                <a:latin typeface="Arial"/>
              </a:rPr>
              <a:t>NOT CLAIMED AS NEW</a:t>
            </a:r>
          </a:p>
        </p:txBody>
      </p:sp>
      <p:sp>
        <p:nvSpPr>
          <p:cNvPr id="20" name="Rectangle 19"/>
          <p:cNvSpPr/>
          <p:nvPr/>
        </p:nvSpPr>
        <p:spPr>
          <a:xfrm>
            <a:off x="8156448" y="24231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7616" y="23408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Graceful degradation under noise</a:t>
            </a:r>
          </a:p>
        </p:txBody>
      </p:sp>
      <p:sp>
        <p:nvSpPr>
          <p:cNvPr id="22" name="Rectangle 21"/>
          <p:cNvSpPr/>
          <p:nvPr/>
        </p:nvSpPr>
        <p:spPr>
          <a:xfrm>
            <a:off x="8156448" y="28803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7616" y="27980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Avoiding the digital cliff</a:t>
            </a:r>
          </a:p>
        </p:txBody>
      </p:sp>
      <p:sp>
        <p:nvSpPr>
          <p:cNvPr id="24" name="Rectangle 23"/>
          <p:cNvSpPr/>
          <p:nvPr/>
        </p:nvSpPr>
        <p:spPr>
          <a:xfrm>
            <a:off x="8156448" y="33375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32552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A task-aware digital semantic system</a:t>
            </a:r>
          </a:p>
        </p:txBody>
      </p:sp>
      <p:sp>
        <p:nvSpPr>
          <p:cNvPr id="26" name="Rectangle 25"/>
          <p:cNvSpPr/>
          <p:nvPr/>
        </p:nvSpPr>
        <p:spPr>
          <a:xfrm>
            <a:off x="8156448" y="37947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57616" y="37124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DeepJSCC as a method</a:t>
            </a:r>
          </a:p>
        </p:txBody>
      </p:sp>
      <p:sp>
        <p:nvSpPr>
          <p:cNvPr id="28" name="TextBox 27"/>
          <p:cNvSpPr txBox="1"/>
          <p:nvPr/>
        </p:nvSpPr>
        <p:spPr>
          <a:xfrm>
            <a:off x="8156448" y="4224528"/>
            <a:ext cx="3072384" cy="457200"/>
          </a:xfrm>
          <a:prstGeom prst="rect">
            <a:avLst/>
          </a:prstGeom>
          <a:noFill/>
        </p:spPr>
        <p:txBody>
          <a:bodyPr wrap="square" lIns="45720" rIns="45720" anchor="t">
            <a:spAutoFit/>
          </a:bodyPr>
          <a:lstStyle/>
          <a:p>
            <a:pPr algn="ctr">
              <a:lnSpc>
                <a:spcPct val="100000"/>
              </a:lnSpc>
              <a:spcBef>
                <a:spcPts val="0"/>
              </a:spcBef>
              <a:spcAft>
                <a:spcPts val="0"/>
              </a:spcAft>
            </a:pPr>
            <a:r>
              <a:rPr sz="960" b="0" i="1">
                <a:solidFill>
                  <a:srgbClr val="8A3346"/>
                </a:solidFill>
                <a:latin typeface="Arial"/>
              </a:rPr>
              <a:t>All four have substantial prior art. Claiming any of them would cost more than it earns.</a:t>
            </a:r>
          </a:p>
        </p:txBody>
      </p:sp>
      <p:sp>
        <p:nvSpPr>
          <p:cNvPr id="29" name="Rounded Rectangle 28"/>
          <p:cNvSpPr/>
          <p:nvPr/>
        </p:nvSpPr>
        <p:spPr>
          <a:xfrm>
            <a:off x="749808" y="4974336"/>
            <a:ext cx="10698480" cy="122529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87552" y="5175504"/>
            <a:ext cx="1371600"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5212080"/>
            <a:ext cx="1225296"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NEGATIVE CHECK</a:t>
            </a:r>
          </a:p>
        </p:txBody>
      </p:sp>
      <p:sp>
        <p:nvSpPr>
          <p:cNvPr id="32" name="TextBox 31"/>
          <p:cNvSpPr txBox="1"/>
          <p:nvPr/>
        </p:nvSpPr>
        <p:spPr>
          <a:xfrm>
            <a:off x="987552" y="5541264"/>
            <a:ext cx="10222992" cy="548640"/>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Each claim above is checked against the 30 references in docs/literature-review.md, and each negative assertion in the novelty statement must resolve to that list rather than to this specification. The full PR-7 statement ships with the third review package.</a:t>
            </a:r>
          </a:p>
        </p:txBody>
      </p:sp>
      <p:cxnSp>
        <p:nvCxnSpPr>
          <p:cNvPr id="33" name="Connector 32"/>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5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ORIGINALITY</a:t>
            </a:r>
          </a:p>
        </p:txBody>
      </p:sp>
      <p:sp>
        <p:nvSpPr>
          <p:cNvPr id="36" name="Rounded Rectangle 35"/>
          <p:cNvSpPr/>
          <p:nvPr/>
        </p:nvSpPr>
        <p:spPr>
          <a:xfrm>
            <a:off x="1521561"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58556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NOVELTY</a:t>
            </a:r>
          </a:p>
        </p:txBody>
      </p:sp>
      <p:sp>
        <p:nvSpPr>
          <p:cNvPr id="38" name="TextBox 37"/>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SPEC PR-7 · DEC-13 · claims resolvable to the 30-source review</a:t>
            </a:r>
          </a:p>
        </p:txBody>
      </p:sp>
      <p:sp>
        <p:nvSpPr>
          <p:cNvPr id="39" name="TextBox 38"/>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16/18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Where the remaining weeks went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572768" y="1700784"/>
            <a:ext cx="0" cy="4315968"/>
          </a:xfrm>
          <a:prstGeom prst="line">
            <a:avLst/>
          </a:prstGeom>
          <a:ln w="15240">
            <a:solidFill>
              <a:srgbClr val="D7D2C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153619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496B5A"/>
                </a:solidFill>
                <a:latin typeface="Cascadia Mono"/>
              </a:rPr>
              <a:t>W10</a:t>
            </a:r>
          </a:p>
        </p:txBody>
      </p:sp>
      <p:sp>
        <p:nvSpPr>
          <p:cNvPr id="8" name="Oval 7"/>
          <p:cNvSpPr/>
          <p:nvPr/>
        </p:nvSpPr>
        <p:spPr>
          <a:xfrm>
            <a:off x="1481328" y="1554480"/>
            <a:ext cx="182880" cy="182880"/>
          </a:xfrm>
          <a:prstGeom prst="ellipse">
            <a:avLst/>
          </a:prstGeom>
          <a:solidFill>
            <a:srgbClr val="496B5A"/>
          </a:solidFill>
          <a:ln w="17780">
            <a:solidFill>
              <a:srgbClr val="496B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10512" y="148132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29 Sep – 3 Oct</a:t>
            </a:r>
          </a:p>
        </p:txBody>
      </p:sp>
      <p:sp>
        <p:nvSpPr>
          <p:cNvPr id="10" name="TextBox 9"/>
          <p:cNvSpPr txBox="1"/>
          <p:nvPr/>
        </p:nvSpPr>
        <p:spPr>
          <a:xfrm>
            <a:off x="3438144" y="146304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Second Review</a:t>
            </a:r>
          </a:p>
        </p:txBody>
      </p:sp>
      <p:sp>
        <p:nvSpPr>
          <p:cNvPr id="11" name="TextBox 10"/>
          <p:cNvSpPr txBox="1"/>
          <p:nvPr/>
        </p:nvSpPr>
        <p:spPr>
          <a:xfrm>
            <a:off x="5614416" y="148132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Validation rehearsal complete; package and figures frozen</a:t>
            </a:r>
          </a:p>
        </p:txBody>
      </p:sp>
      <p:sp>
        <p:nvSpPr>
          <p:cNvPr id="12" name="TextBox 11"/>
          <p:cNvSpPr txBox="1"/>
          <p:nvPr/>
        </p:nvSpPr>
        <p:spPr>
          <a:xfrm>
            <a:off x="10625328" y="148132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496B5A"/>
                </a:solidFill>
                <a:latin typeface="Arial"/>
              </a:rPr>
              <a:t>done</a:t>
            </a:r>
          </a:p>
        </p:txBody>
      </p:sp>
      <p:sp>
        <p:nvSpPr>
          <p:cNvPr id="13" name="TextBox 12"/>
          <p:cNvSpPr txBox="1"/>
          <p:nvPr/>
        </p:nvSpPr>
        <p:spPr>
          <a:xfrm>
            <a:off x="749808" y="208483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W11</a:t>
            </a:r>
          </a:p>
        </p:txBody>
      </p:sp>
      <p:sp>
        <p:nvSpPr>
          <p:cNvPr id="14" name="Oval 13"/>
          <p:cNvSpPr/>
          <p:nvPr/>
        </p:nvSpPr>
        <p:spPr>
          <a:xfrm>
            <a:off x="1481328" y="210312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202996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5 – 11 Oct</a:t>
            </a:r>
          </a:p>
        </p:txBody>
      </p:sp>
      <p:sp>
        <p:nvSpPr>
          <p:cNvPr id="16" name="TextBox 15"/>
          <p:cNvSpPr txBox="1"/>
          <p:nvPr/>
        </p:nvSpPr>
        <p:spPr>
          <a:xfrm>
            <a:off x="3438144" y="201168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Test campaign</a:t>
            </a:r>
          </a:p>
        </p:txBody>
      </p:sp>
      <p:sp>
        <p:nvSpPr>
          <p:cNvPr id="17" name="TextBox 16"/>
          <p:cNvSpPr txBox="1"/>
          <p:nvPr/>
        </p:nvSpPr>
        <p:spPr>
          <a:xfrm>
            <a:off x="5614416" y="202996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One guarded opening at G-12 after the freeze manifest is signed</a:t>
            </a:r>
          </a:p>
        </p:txBody>
      </p:sp>
      <p:sp>
        <p:nvSpPr>
          <p:cNvPr id="18" name="TextBox 17"/>
          <p:cNvSpPr txBox="1"/>
          <p:nvPr/>
        </p:nvSpPr>
        <p:spPr>
          <a:xfrm>
            <a:off x="10625328" y="202996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19" name="TextBox 18"/>
          <p:cNvSpPr txBox="1"/>
          <p:nvPr/>
        </p:nvSpPr>
        <p:spPr>
          <a:xfrm>
            <a:off x="749808" y="263347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W12</a:t>
            </a:r>
          </a:p>
        </p:txBody>
      </p:sp>
      <p:sp>
        <p:nvSpPr>
          <p:cNvPr id="20" name="Oval 19"/>
          <p:cNvSpPr/>
          <p:nvPr/>
        </p:nvSpPr>
        <p:spPr>
          <a:xfrm>
            <a:off x="1481328" y="265176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257860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12 – 18 Oct</a:t>
            </a:r>
          </a:p>
        </p:txBody>
      </p:sp>
      <p:sp>
        <p:nvSpPr>
          <p:cNvPr id="22" name="TextBox 21"/>
          <p:cNvSpPr txBox="1"/>
          <p:nvPr/>
        </p:nvSpPr>
        <p:spPr>
          <a:xfrm>
            <a:off x="3438144" y="256032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Tier 1 close</a:t>
            </a:r>
          </a:p>
        </p:txBody>
      </p:sp>
      <p:sp>
        <p:nvSpPr>
          <p:cNvPr id="23" name="TextBox 22"/>
          <p:cNvSpPr txBox="1"/>
          <p:nvPr/>
        </p:nvSpPr>
        <p:spPr>
          <a:xfrm>
            <a:off x="5614416" y="257860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Every hypothesis decided; ER-1 to ER-4, ER-9, ER-10 frozen</a:t>
            </a:r>
          </a:p>
        </p:txBody>
      </p:sp>
      <p:sp>
        <p:nvSpPr>
          <p:cNvPr id="24" name="TextBox 23"/>
          <p:cNvSpPr txBox="1"/>
          <p:nvPr/>
        </p:nvSpPr>
        <p:spPr>
          <a:xfrm>
            <a:off x="10625328" y="257860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25" name="TextBox 24"/>
          <p:cNvSpPr txBox="1"/>
          <p:nvPr/>
        </p:nvSpPr>
        <p:spPr>
          <a:xfrm>
            <a:off x="749808" y="318211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W13</a:t>
            </a:r>
          </a:p>
        </p:txBody>
      </p:sp>
      <p:sp>
        <p:nvSpPr>
          <p:cNvPr id="26" name="Oval 25"/>
          <p:cNvSpPr/>
          <p:nvPr/>
        </p:nvSpPr>
        <p:spPr>
          <a:xfrm>
            <a:off x="1481328" y="320040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12724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19 – 25 Oct</a:t>
            </a:r>
          </a:p>
        </p:txBody>
      </p:sp>
      <p:sp>
        <p:nvSpPr>
          <p:cNvPr id="28" name="TextBox 27"/>
          <p:cNvSpPr txBox="1"/>
          <p:nvPr/>
        </p:nvSpPr>
        <p:spPr>
          <a:xfrm>
            <a:off x="3438144" y="310896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Demo</a:t>
            </a:r>
          </a:p>
        </p:txBody>
      </p:sp>
      <p:sp>
        <p:nvSpPr>
          <p:cNvPr id="29" name="TextBox 28"/>
          <p:cNvSpPr txBox="1"/>
          <p:nvPr/>
        </p:nvSpPr>
        <p:spPr>
          <a:xfrm>
            <a:off x="5614416" y="312724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SNR slider, both pipelines side by side, frozen plot</a:t>
            </a:r>
          </a:p>
        </p:txBody>
      </p:sp>
      <p:sp>
        <p:nvSpPr>
          <p:cNvPr id="30" name="TextBox 29"/>
          <p:cNvSpPr txBox="1"/>
          <p:nvPr/>
        </p:nvSpPr>
        <p:spPr>
          <a:xfrm>
            <a:off x="10625328" y="312724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31" name="TextBox 30"/>
          <p:cNvSpPr txBox="1"/>
          <p:nvPr/>
        </p:nvSpPr>
        <p:spPr>
          <a:xfrm>
            <a:off x="749808" y="3730751"/>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5B6570"/>
                </a:solidFill>
                <a:latin typeface="Cascadia Mono"/>
              </a:rPr>
              <a:t>W14</a:t>
            </a:r>
          </a:p>
        </p:txBody>
      </p:sp>
      <p:sp>
        <p:nvSpPr>
          <p:cNvPr id="32" name="Oval 31"/>
          <p:cNvSpPr/>
          <p:nvPr/>
        </p:nvSpPr>
        <p:spPr>
          <a:xfrm>
            <a:off x="1481328" y="3749039"/>
            <a:ext cx="182880" cy="182880"/>
          </a:xfrm>
          <a:prstGeom prst="ellipse">
            <a:avLst/>
          </a:prstGeom>
          <a:solidFill>
            <a:srgbClr val="5B6570"/>
          </a:solidFill>
          <a:ln w="17780">
            <a:solidFill>
              <a:srgbClr val="5B65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10512" y="3675887"/>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26 Oct – 1 Nov</a:t>
            </a:r>
          </a:p>
        </p:txBody>
      </p:sp>
      <p:sp>
        <p:nvSpPr>
          <p:cNvPr id="34" name="TextBox 33"/>
          <p:cNvSpPr txBox="1"/>
          <p:nvPr/>
        </p:nvSpPr>
        <p:spPr>
          <a:xfrm>
            <a:off x="3438144" y="3657599"/>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Poster + optional SDR</a:t>
            </a:r>
          </a:p>
        </p:txBody>
      </p:sp>
      <p:sp>
        <p:nvSpPr>
          <p:cNvPr id="35" name="TextBox 34"/>
          <p:cNvSpPr txBox="1"/>
          <p:nvPr/>
        </p:nvSpPr>
        <p:spPr>
          <a:xfrm>
            <a:off x="5614416" y="3675887"/>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Poster draft; hardware replay only if Tier 1 leaves room</a:t>
            </a:r>
          </a:p>
        </p:txBody>
      </p:sp>
      <p:sp>
        <p:nvSpPr>
          <p:cNvPr id="36" name="TextBox 35"/>
          <p:cNvSpPr txBox="1"/>
          <p:nvPr/>
        </p:nvSpPr>
        <p:spPr>
          <a:xfrm>
            <a:off x="10625328" y="3675887"/>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37" name="TextBox 36"/>
          <p:cNvSpPr txBox="1"/>
          <p:nvPr/>
        </p:nvSpPr>
        <p:spPr>
          <a:xfrm>
            <a:off x="749808" y="427939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5B6570"/>
                </a:solidFill>
                <a:latin typeface="Cascadia Mono"/>
              </a:rPr>
              <a:t>W15</a:t>
            </a:r>
          </a:p>
        </p:txBody>
      </p:sp>
      <p:sp>
        <p:nvSpPr>
          <p:cNvPr id="38" name="Oval 37"/>
          <p:cNvSpPr/>
          <p:nvPr/>
        </p:nvSpPr>
        <p:spPr>
          <a:xfrm>
            <a:off x="1481328" y="4297680"/>
            <a:ext cx="182880" cy="182880"/>
          </a:xfrm>
          <a:prstGeom prst="ellipse">
            <a:avLst/>
          </a:prstGeom>
          <a:solidFill>
            <a:srgbClr val="5B6570"/>
          </a:solidFill>
          <a:ln w="17780">
            <a:solidFill>
              <a:srgbClr val="5B65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10512" y="422452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 – 8 Nov</a:t>
            </a:r>
          </a:p>
        </p:txBody>
      </p:sp>
      <p:sp>
        <p:nvSpPr>
          <p:cNvPr id="40" name="TextBox 39"/>
          <p:cNvSpPr txBox="1"/>
          <p:nvPr/>
        </p:nvSpPr>
        <p:spPr>
          <a:xfrm>
            <a:off x="3438144" y="420624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Internal freeze</a:t>
            </a:r>
          </a:p>
        </p:txBody>
      </p:sp>
      <p:sp>
        <p:nvSpPr>
          <p:cNvPr id="41" name="TextBox 40"/>
          <p:cNvSpPr txBox="1"/>
          <p:nvPr/>
        </p:nvSpPr>
        <p:spPr>
          <a:xfrm>
            <a:off x="5614416" y="422452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Report complete in the prescribed format</a:t>
            </a:r>
          </a:p>
        </p:txBody>
      </p:sp>
      <p:sp>
        <p:nvSpPr>
          <p:cNvPr id="42" name="TextBox 41"/>
          <p:cNvSpPr txBox="1"/>
          <p:nvPr/>
        </p:nvSpPr>
        <p:spPr>
          <a:xfrm>
            <a:off x="10625328" y="422452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43" name="TextBox 42"/>
          <p:cNvSpPr txBox="1"/>
          <p:nvPr/>
        </p:nvSpPr>
        <p:spPr>
          <a:xfrm>
            <a:off x="749808" y="4828031"/>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A8AFB6"/>
                </a:solidFill>
                <a:latin typeface="Cascadia Mono"/>
              </a:rPr>
              <a:t>W16</a:t>
            </a:r>
          </a:p>
        </p:txBody>
      </p:sp>
      <p:sp>
        <p:nvSpPr>
          <p:cNvPr id="44" name="Oval 43"/>
          <p:cNvSpPr/>
          <p:nvPr/>
        </p:nvSpPr>
        <p:spPr>
          <a:xfrm>
            <a:off x="1481328" y="4846320"/>
            <a:ext cx="182880" cy="182880"/>
          </a:xfrm>
          <a:prstGeom prst="ellipse">
            <a:avLst/>
          </a:prstGeom>
          <a:solidFill>
            <a:srgbClr val="FFFEFA"/>
          </a:solidFill>
          <a:ln w="17780">
            <a:solidFill>
              <a:srgbClr val="A8AF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810512" y="477316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9 – 15 Nov</a:t>
            </a:r>
          </a:p>
        </p:txBody>
      </p:sp>
      <p:sp>
        <p:nvSpPr>
          <p:cNvPr id="46" name="TextBox 45"/>
          <p:cNvSpPr txBox="1"/>
          <p:nvPr/>
        </p:nvSpPr>
        <p:spPr>
          <a:xfrm>
            <a:off x="3438144" y="475488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Contingency</a:t>
            </a:r>
          </a:p>
        </p:txBody>
      </p:sp>
      <p:sp>
        <p:nvSpPr>
          <p:cNvPr id="47" name="TextBox 46"/>
          <p:cNvSpPr txBox="1"/>
          <p:nvPr/>
        </p:nvSpPr>
        <p:spPr>
          <a:xfrm>
            <a:off x="5614416" y="477316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Report completion and audit only. No new experiments</a:t>
            </a:r>
          </a:p>
        </p:txBody>
      </p:sp>
      <p:sp>
        <p:nvSpPr>
          <p:cNvPr id="48" name="TextBox 47"/>
          <p:cNvSpPr txBox="1"/>
          <p:nvPr/>
        </p:nvSpPr>
        <p:spPr>
          <a:xfrm>
            <a:off x="10625328" y="477316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49" name="TextBox 48"/>
          <p:cNvSpPr txBox="1"/>
          <p:nvPr/>
        </p:nvSpPr>
        <p:spPr>
          <a:xfrm>
            <a:off x="749808" y="537667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W17</a:t>
            </a:r>
          </a:p>
        </p:txBody>
      </p:sp>
      <p:sp>
        <p:nvSpPr>
          <p:cNvPr id="50" name="Oval 49"/>
          <p:cNvSpPr/>
          <p:nvPr/>
        </p:nvSpPr>
        <p:spPr>
          <a:xfrm>
            <a:off x="1481328" y="539496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810512" y="532180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16 – 22 Nov</a:t>
            </a:r>
          </a:p>
        </p:txBody>
      </p:sp>
      <p:sp>
        <p:nvSpPr>
          <p:cNvPr id="52" name="TextBox 51"/>
          <p:cNvSpPr txBox="1"/>
          <p:nvPr/>
        </p:nvSpPr>
        <p:spPr>
          <a:xfrm>
            <a:off x="3438144" y="5303520"/>
            <a:ext cx="2103120"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Final Review</a:t>
            </a:r>
          </a:p>
        </p:txBody>
      </p:sp>
      <p:sp>
        <p:nvSpPr>
          <p:cNvPr id="53" name="TextBox 52"/>
          <p:cNvSpPr txBox="1"/>
          <p:nvPr/>
        </p:nvSpPr>
        <p:spPr>
          <a:xfrm>
            <a:off x="5614416" y="5321808"/>
            <a:ext cx="4846320"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Final review 17–21 Nov; report and supporting material due 20 Nov</a:t>
            </a:r>
          </a:p>
        </p:txBody>
      </p:sp>
      <p:sp>
        <p:nvSpPr>
          <p:cNvPr id="54" name="TextBox 53"/>
          <p:cNvSpPr txBox="1"/>
          <p:nvPr/>
        </p:nvSpPr>
        <p:spPr>
          <a:xfrm>
            <a:off x="10625328" y="532180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55" name="Rounded Rectangle 54"/>
          <p:cNvSpPr/>
          <p:nvPr/>
        </p:nvSpPr>
        <p:spPr>
          <a:xfrm>
            <a:off x="749808" y="5961888"/>
            <a:ext cx="10698480" cy="384048"/>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6035040"/>
            <a:ext cx="10369296" cy="237744"/>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A46A28"/>
                </a:solidFill>
                <a:latin typeface="Arial"/>
              </a:rPr>
              <a:t>The report deadline falls inside Final Review week, which is why W15 carries an internal freeze and W16 holds no experimental scope.</a:t>
            </a:r>
          </a:p>
        </p:txBody>
      </p:sp>
      <p:cxnSp>
        <p:nvCxnSpPr>
          <p:cNvPr id="57" name="Connector 5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30352" y="6519672"/>
            <a:ext cx="72420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59" y="6547104"/>
            <a:ext cx="59618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TIMELINE</a:t>
            </a:r>
          </a:p>
        </p:txBody>
      </p:sp>
      <p:sp>
        <p:nvSpPr>
          <p:cNvPr id="60" name="TextBox 59"/>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Second Review 29 Sep–3 Oct · Final Review 17–21 Nov · report due 20 Nov</a:t>
            </a:r>
          </a:p>
        </p:txBody>
      </p:sp>
      <p:sp>
        <p:nvSpPr>
          <p:cNvPr id="61" name="TextBox 60"/>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17/18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Where this leaves the project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71600"/>
            <a:ext cx="10698480" cy="1316736"/>
          </a:xfrm>
          <a:prstGeom prst="roundRect">
            <a:avLst/>
          </a:prstGeom>
          <a:solidFill>
            <a:srgbClr val="FFFEFA"/>
          </a:solidFill>
          <a:ln w="1397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2415" y="1591056"/>
            <a:ext cx="10113264" cy="859536"/>
          </a:xfrm>
          <a:prstGeom prst="rect">
            <a:avLst/>
          </a:prstGeom>
          <a:noFill/>
        </p:spPr>
        <p:txBody>
          <a:bodyPr wrap="square" lIns="45720" rIns="45720" anchor="ctr">
            <a:spAutoFit/>
          </a:bodyPr>
          <a:lstStyle/>
          <a:p>
            <a:pPr algn="ctr">
              <a:lnSpc>
                <a:spcPct val="100000"/>
              </a:lnSpc>
              <a:spcBef>
                <a:spcPts val="0"/>
              </a:spcBef>
              <a:spcAft>
                <a:spcPts val="0"/>
              </a:spcAft>
            </a:pPr>
            <a:r>
              <a:rPr sz="1540" b="0" i="0">
                <a:solidFill>
                  <a:srgbClr val="18212B"/>
                </a:solidFill>
                <a:latin typeface="Georgia"/>
              </a:rPr>
              <a:t>A learned system trained for the task keeps answering when the link is too poor for the digital chain to deliver anything. Once the digital chain delivers, it is the more accurate system, and the curves cross between −5 and −4 dB.</a:t>
            </a:r>
          </a:p>
        </p:txBody>
      </p:sp>
      <p:sp>
        <p:nvSpPr>
          <p:cNvPr id="8" name="Rounded Rectangle 7"/>
          <p:cNvSpPr/>
          <p:nvPr/>
        </p:nvSpPr>
        <p:spPr>
          <a:xfrm>
            <a:off x="749808"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926080"/>
            <a:ext cx="54864" cy="13167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Next</a:t>
            </a:r>
          </a:p>
        </p:txBody>
      </p:sp>
      <p:sp>
        <p:nvSpPr>
          <p:cNvPr id="11" name="TextBox 10"/>
          <p:cNvSpPr txBox="1"/>
          <p:nvPr/>
        </p:nvSpPr>
        <p:spPr>
          <a:xfrm>
            <a:off x="969264"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One guarded test campaign at G-12, once the freeze manifest is signed. Test access is 0 today.</a:t>
            </a:r>
          </a:p>
        </p:txBody>
      </p:sp>
      <p:sp>
        <p:nvSpPr>
          <p:cNvPr id="12" name="Rounded Rectangle 11"/>
          <p:cNvSpPr/>
          <p:nvPr/>
        </p:nvSpPr>
        <p:spPr>
          <a:xfrm>
            <a:off x="4352544"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2544" y="2926080"/>
            <a:ext cx="54864" cy="1316736"/>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Then</a:t>
            </a:r>
          </a:p>
        </p:txBody>
      </p:sp>
      <p:sp>
        <p:nvSpPr>
          <p:cNvPr id="15" name="TextBox 14"/>
          <p:cNvSpPr txBox="1"/>
          <p:nvPr/>
        </p:nvSpPr>
        <p:spPr>
          <a:xfrm>
            <a:off x="4572000"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Every hypothesis decided on the test split, and Tier 1 frozen at G-5.</a:t>
            </a:r>
          </a:p>
        </p:txBody>
      </p:sp>
      <p:sp>
        <p:nvSpPr>
          <p:cNvPr id="16" name="Rounded Rectangle 15"/>
          <p:cNvSpPr/>
          <p:nvPr/>
        </p:nvSpPr>
        <p:spPr>
          <a:xfrm>
            <a:off x="7955279"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2926080"/>
            <a:ext cx="54864" cy="1316736"/>
          </a:xfrm>
          <a:prstGeom prst="rect">
            <a:avLst/>
          </a:prstGeom>
          <a:solidFill>
            <a:srgbClr val="5B6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Later</a:t>
            </a:r>
          </a:p>
        </p:txBody>
      </p:sp>
      <p:sp>
        <p:nvSpPr>
          <p:cNvPr id="19" name="TextBox 18"/>
          <p:cNvSpPr txBox="1"/>
          <p:nvPr/>
        </p:nvSpPr>
        <p:spPr>
          <a:xfrm>
            <a:off x="8174736"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Tier 2 SDR replay and the live demo are stretch. The project does not depend on them.</a:t>
            </a:r>
          </a:p>
        </p:txBody>
      </p:sp>
      <p:sp>
        <p:nvSpPr>
          <p:cNvPr id="20" name="Rounded Rectangle 19"/>
          <p:cNvSpPr/>
          <p:nvPr/>
        </p:nvSpPr>
        <p:spPr>
          <a:xfrm>
            <a:off x="749808" y="4480560"/>
            <a:ext cx="10698480" cy="969264"/>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87552" y="4663440"/>
            <a:ext cx="157276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4700016"/>
            <a:ext cx="142646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EVIDENCE TRAIL</a:t>
            </a:r>
          </a:p>
        </p:txBody>
      </p:sp>
      <p:sp>
        <p:nvSpPr>
          <p:cNvPr id="23" name="TextBox 22"/>
          <p:cNvSpPr txBox="1"/>
          <p:nvPr/>
        </p:nvSpPr>
        <p:spPr>
          <a:xfrm>
            <a:off x="987552" y="5029200"/>
            <a:ext cx="10222992" cy="310896"/>
          </a:xfrm>
          <a:prstGeom prst="rect">
            <a:avLst/>
          </a:prstGeom>
          <a:noFill/>
        </p:spPr>
        <p:txBody>
          <a:bodyPr wrap="square" lIns="45720" rIns="45720" anchor="t">
            <a:spAutoFit/>
          </a:bodyPr>
          <a:lstStyle/>
          <a:p>
            <a:pPr algn="ctr">
              <a:lnSpc>
                <a:spcPct val="100000"/>
              </a:lnSpc>
              <a:spcBef>
                <a:spcPts val="0"/>
              </a:spcBef>
              <a:spcAft>
                <a:spcPts val="0"/>
              </a:spcAft>
            </a:pPr>
            <a:r>
              <a:rPr sz="1000" b="0" i="0">
                <a:solidFill>
                  <a:srgbClr val="203A57"/>
                </a:solidFill>
                <a:latin typeface="Cascadia Mono"/>
              </a:rPr>
              <a:t>252-unit aggregate and per-image manifest in results/learned/w10/ · figures and CSVs in presentation-results/ · requirements and amendments in spec/SPEC.md §17</a:t>
            </a:r>
          </a:p>
        </p:txBody>
      </p:sp>
      <p:sp>
        <p:nvSpPr>
          <p:cNvPr id="24" name="Rounded Rectangle 23"/>
          <p:cNvSpPr/>
          <p:nvPr/>
        </p:nvSpPr>
        <p:spPr>
          <a:xfrm>
            <a:off x="749808" y="5632704"/>
            <a:ext cx="10698480" cy="566928"/>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742432"/>
            <a:ext cx="10259568" cy="365760"/>
          </a:xfrm>
          <a:prstGeom prst="rect">
            <a:avLst/>
          </a:prstGeom>
          <a:noFill/>
        </p:spPr>
        <p:txBody>
          <a:bodyPr wrap="square" lIns="45720" rIns="45720" anchor="t">
            <a:spAutoFit/>
          </a:bodyPr>
          <a:lstStyle/>
          <a:p>
            <a:pPr algn="ctr">
              <a:lnSpc>
                <a:spcPct val="100000"/>
              </a:lnSpc>
              <a:spcBef>
                <a:spcPts val="0"/>
              </a:spcBef>
              <a:spcAft>
                <a:spcPts val="0"/>
              </a:spcAft>
            </a:pPr>
            <a:r>
              <a:rPr sz="1100" b="1" i="0">
                <a:solidFill>
                  <a:srgbClr val="8A3346"/>
                </a:solidFill>
                <a:latin typeface="Arial"/>
              </a:rPr>
              <a:t>The test split has not been opened. test_access = 0 across every gate, every run and every artifact in this project.</a:t>
            </a:r>
          </a:p>
        </p:txBody>
      </p:sp>
      <p:cxnSp>
        <p:nvCxnSpPr>
          <p:cNvPr id="26" name="Connector 25"/>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9" name="Rounded Rectangle 28"/>
          <p:cNvSpPr/>
          <p:nvPr/>
        </p:nvSpPr>
        <p:spPr>
          <a:xfrm>
            <a:off x="1287475"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1483"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1" name="TextBox 30"/>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Questions welcome — the detail is in the repository, not on this slide</a:t>
            </a:r>
          </a:p>
        </p:txBody>
      </p:sp>
      <p:sp>
        <p:nvSpPr>
          <p:cNvPr id="32" name="TextBox 31"/>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18/18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Task-Oriented Deep Joint Source–Channel Coding — Second Review</dc:title>
  <dc:subject>Capstone Second Review, 29 September – 3 October 2026</dc:subject>
  <dc:creator>Capstone project team</dc:creator>
  <cp:keywords/>
  <dc:description>W10 validation evidence only; test split sealed. Editable native shapes and text.</dc:description>
  <cp:lastModifiedBy>Steve Canny</cp:lastModifiedBy>
  <cp:revision>1</cp:revision>
  <dcterms:created xsi:type="dcterms:W3CDTF">2013-01-27T09:14:16Z</dcterms:created>
  <dcterms:modified xsi:type="dcterms:W3CDTF">2013-01-27T09:15:58Z</dcterms:modified>
  <cp:category/>
</cp:coreProperties>
</file>