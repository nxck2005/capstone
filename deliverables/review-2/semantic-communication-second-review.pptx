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Task-Oriented Deep Joint Source–Channel Coding</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389888"/>
            <a:ext cx="11018520" cy="402336"/>
          </a:xfrm>
          <a:prstGeom prst="rect">
            <a:avLst/>
          </a:prstGeom>
          <a:noFill/>
        </p:spPr>
        <p:txBody>
          <a:bodyPr wrap="square" lIns="45720" rIns="45720" anchor="t">
            <a:spAutoFit/>
          </a:bodyPr>
          <a:lstStyle/>
          <a:p>
            <a:pPr algn="ctr">
              <a:lnSpc>
                <a:spcPct val="100000"/>
              </a:lnSpc>
              <a:spcBef>
                <a:spcPts val="0"/>
              </a:spcBef>
              <a:spcAft>
                <a:spcPts val="0"/>
              </a:spcAft>
            </a:pPr>
            <a:r>
              <a:rPr sz="2000" b="0" i="1">
                <a:solidFill>
                  <a:srgbClr val="111111"/>
                </a:solidFill>
                <a:latin typeface="Arial"/>
              </a:rPr>
              <a:t>What a camera should send when the receiver only needs the answer</a:t>
            </a:r>
          </a:p>
        </p:txBody>
      </p:sp>
      <p:sp>
        <p:nvSpPr>
          <p:cNvPr id="5" name="Rectangle 4"/>
          <p:cNvSpPr/>
          <p:nvPr/>
        </p:nvSpPr>
        <p:spPr>
          <a:xfrm>
            <a:off x="1005840" y="2212848"/>
            <a:ext cx="2468880" cy="122529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2542032"/>
            <a:ext cx="2249424" cy="274320"/>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Edge camera</a:t>
            </a:r>
          </a:p>
        </p:txBody>
      </p:sp>
      <p:sp>
        <p:nvSpPr>
          <p:cNvPr id="7" name="TextBox 6"/>
          <p:cNvSpPr txBox="1"/>
          <p:nvPr/>
        </p:nvSpPr>
        <p:spPr>
          <a:xfrm>
            <a:off x="1115568" y="2999232"/>
            <a:ext cx="2249424" cy="274320"/>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sees an image</a:t>
            </a:r>
          </a:p>
        </p:txBody>
      </p:sp>
      <p:sp>
        <p:nvSpPr>
          <p:cNvPr id="8" name="Rectangle 7"/>
          <p:cNvSpPr/>
          <p:nvPr/>
        </p:nvSpPr>
        <p:spPr>
          <a:xfrm>
            <a:off x="4663440" y="2212848"/>
            <a:ext cx="3017520" cy="122529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73168" y="2542032"/>
            <a:ext cx="2798063" cy="274320"/>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Short, noisy link</a:t>
            </a:r>
          </a:p>
        </p:txBody>
      </p:sp>
      <p:sp>
        <p:nvSpPr>
          <p:cNvPr id="10" name="TextBox 9"/>
          <p:cNvSpPr txBox="1"/>
          <p:nvPr/>
        </p:nvSpPr>
        <p:spPr>
          <a:xfrm>
            <a:off x="4773168" y="2999232"/>
            <a:ext cx="2798063" cy="274320"/>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cannot carry every picture reliably</a:t>
            </a:r>
          </a:p>
        </p:txBody>
      </p:sp>
      <p:sp>
        <p:nvSpPr>
          <p:cNvPr id="11" name="Rectangle 10"/>
          <p:cNvSpPr/>
          <p:nvPr/>
        </p:nvSpPr>
        <p:spPr>
          <a:xfrm>
            <a:off x="8503920" y="2212848"/>
            <a:ext cx="2194560" cy="122529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13648" y="2542032"/>
            <a:ext cx="1975104" cy="274320"/>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Receiver classifier</a:t>
            </a:r>
          </a:p>
        </p:txBody>
      </p:sp>
      <p:sp>
        <p:nvSpPr>
          <p:cNvPr id="13" name="TextBox 12"/>
          <p:cNvSpPr txBox="1"/>
          <p:nvPr/>
        </p:nvSpPr>
        <p:spPr>
          <a:xfrm>
            <a:off x="8613648" y="2999232"/>
            <a:ext cx="1975104" cy="274320"/>
          </a:xfrm>
          <a:prstGeom prst="rect">
            <a:avLst/>
          </a:prstGeom>
          <a:noFill/>
        </p:spPr>
        <p:txBody>
          <a:bodyPr wrap="square" lIns="45720" rIns="45720" anchor="t">
            <a:spAutoFit/>
          </a:bodyPr>
          <a:lstStyle/>
          <a:p>
            <a:pPr algn="ctr">
              <a:lnSpc>
                <a:spcPct val="100000"/>
              </a:lnSpc>
              <a:spcBef>
                <a:spcPts val="0"/>
              </a:spcBef>
              <a:spcAft>
                <a:spcPts val="0"/>
              </a:spcAft>
            </a:pPr>
            <a:r>
              <a:rPr sz="1150" b="0" i="0">
                <a:solidFill>
                  <a:srgbClr val="555555"/>
                </a:solidFill>
                <a:latin typeface="Arial"/>
              </a:rPr>
              <a:t>needs one label back</a:t>
            </a:r>
          </a:p>
        </p:txBody>
      </p:sp>
      <p:cxnSp>
        <p:nvCxnSpPr>
          <p:cNvPr id="14" name="Connector 13"/>
          <p:cNvCxnSpPr/>
          <p:nvPr/>
        </p:nvCxnSpPr>
        <p:spPr>
          <a:xfrm>
            <a:off x="3529584" y="2825496"/>
            <a:ext cx="1024128" cy="0"/>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4489704" y="2775203"/>
            <a:ext cx="128016" cy="100584"/>
          </a:xfrm>
          <a:prstGeom prst="triangle">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7735824" y="2825496"/>
            <a:ext cx="658368" cy="0"/>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8330184" y="2775203"/>
            <a:ext cx="128016" cy="100584"/>
          </a:xfrm>
          <a:prstGeom prst="triangle">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31920"/>
            <a:ext cx="11018520" cy="1188720"/>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187952"/>
            <a:ext cx="10579608" cy="402336"/>
          </a:xfrm>
          <a:prstGeom prst="rect">
            <a:avLst/>
          </a:prstGeom>
          <a:noFill/>
        </p:spPr>
        <p:txBody>
          <a:bodyPr wrap="square" lIns="45720" rIns="45720" anchor="ctr">
            <a:spAutoFit/>
          </a:bodyPr>
          <a:lstStyle/>
          <a:p>
            <a:pPr algn="ctr">
              <a:lnSpc>
                <a:spcPct val="100000"/>
              </a:lnSpc>
              <a:spcBef>
                <a:spcPts val="0"/>
              </a:spcBef>
              <a:spcAft>
                <a:spcPts val="0"/>
              </a:spcAft>
            </a:pPr>
            <a:r>
              <a:rPr sz="1700" b="0" i="0">
                <a:solidFill>
                  <a:srgbClr val="111111"/>
                </a:solidFill>
                <a:latin typeface="Arial"/>
              </a:rPr>
              <a:t>Train the sender and the receiver together so the classification decision survives a short, noisy link.</a:t>
            </a:r>
          </a:p>
        </p:txBody>
      </p:sp>
      <p:sp>
        <p:nvSpPr>
          <p:cNvPr id="20" name="TextBox 19"/>
          <p:cNvSpPr txBox="1"/>
          <p:nvPr/>
        </p:nvSpPr>
        <p:spPr>
          <a:xfrm>
            <a:off x="786384" y="4626864"/>
            <a:ext cx="10579608" cy="310896"/>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555555"/>
                </a:solidFill>
                <a:latin typeface="Arial"/>
              </a:rPr>
              <a:t>The thesis</a:t>
            </a:r>
          </a:p>
        </p:txBody>
      </p:sp>
      <p:cxnSp>
        <p:nvCxnSpPr>
          <p:cNvPr id="21" name="Connector 20"/>
          <p:cNvCxnSpPr/>
          <p:nvPr/>
        </p:nvCxnSpPr>
        <p:spPr>
          <a:xfrm>
            <a:off x="566928" y="5431536"/>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5632704"/>
            <a:ext cx="11018520" cy="31089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Second Review, 29 September – 3 October 2026. Everything here was measured on held-back pictures; the exam set has not been opened.</a:t>
            </a:r>
          </a:p>
        </p:txBody>
      </p:sp>
      <p:cxnSp>
        <p:nvCxnSpPr>
          <p:cNvPr id="23" name="Connector 22"/>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Presentation</a:t>
            </a:r>
          </a:p>
        </p:txBody>
      </p:sp>
      <p:sp>
        <p:nvSpPr>
          <p:cNvPr id="25" name="TextBox 24"/>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Held-back pictures only · the exam set has never been opened</a:t>
            </a:r>
          </a:p>
        </p:txBody>
      </p:sp>
      <p:sp>
        <p:nvSpPr>
          <p:cNvPr id="26" name="TextBox 25"/>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has changed since the first review</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0" i="0">
                <a:solidFill>
                  <a:srgbClr val="555555"/>
                </a:solidFill>
                <a:latin typeface="Arial"/>
              </a:rPr>
              <a:t>In August we had a working digital system and no trained learned model. We have both now.</a:t>
            </a:r>
          </a:p>
        </p:txBody>
      </p:sp>
      <p:sp>
        <p:nvSpPr>
          <p:cNvPr id="5" name="TextBox 4"/>
          <p:cNvSpPr txBox="1"/>
          <p:nvPr/>
        </p:nvSpPr>
        <p:spPr>
          <a:xfrm>
            <a:off x="658368" y="179222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Aug · Digital system</a:t>
            </a:r>
          </a:p>
        </p:txBody>
      </p:sp>
      <p:sp>
        <p:nvSpPr>
          <p:cNvPr id="6" name="TextBox 5"/>
          <p:cNvSpPr txBox="1"/>
          <p:nvPr/>
        </p:nvSpPr>
        <p:spPr>
          <a:xfrm>
            <a:off x="2990087" y="177393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Measured how badly it loses pictures at every setting, tested it on all 288,000 held-back combinations, and froze the settings it should use at each signal strength.</a:t>
            </a:r>
          </a:p>
        </p:txBody>
      </p:sp>
      <p:cxnSp>
        <p:nvCxnSpPr>
          <p:cNvPr id="7" name="Connector 6"/>
          <p:cNvCxnSpPr/>
          <p:nvPr/>
        </p:nvCxnSpPr>
        <p:spPr>
          <a:xfrm>
            <a:off x="658368" y="221284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234086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Aug · Learned system</a:t>
            </a:r>
          </a:p>
        </p:txBody>
      </p:sp>
      <p:sp>
        <p:nvSpPr>
          <p:cNvPr id="9" name="TextBox 8"/>
          <p:cNvSpPr txBox="1"/>
          <p:nvPr/>
        </p:nvSpPr>
        <p:spPr>
          <a:xfrm>
            <a:off x="2990087" y="232257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Built the training loop, trained models at several seeds, and froze three of them at half rate.</a:t>
            </a:r>
          </a:p>
        </p:txBody>
      </p:sp>
      <p:cxnSp>
        <p:nvCxnSpPr>
          <p:cNvPr id="10" name="Connector 9"/>
          <p:cNvCxnSpPr/>
          <p:nvPr/>
        </p:nvCxnSpPr>
        <p:spPr>
          <a:xfrm>
            <a:off x="658368" y="276148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288950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Sep · Fair comparison</a:t>
            </a:r>
          </a:p>
        </p:txBody>
      </p:sp>
      <p:sp>
        <p:nvSpPr>
          <p:cNvPr id="12" name="TextBox 11"/>
          <p:cNvSpPr txBox="1"/>
          <p:nvPr/>
        </p:nvSpPr>
        <p:spPr>
          <a:xfrm>
            <a:off x="2990087" y="287121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Built the control that sends learned features digitally, so we are not just comparing against a normal compressed picture.</a:t>
            </a:r>
          </a:p>
        </p:txBody>
      </p:sp>
      <p:cxnSp>
        <p:nvCxnSpPr>
          <p:cNvPr id="13" name="Connector 12"/>
          <p:cNvCxnSpPr/>
          <p:nvPr/>
        </p:nvCxnSpPr>
        <p:spPr>
          <a:xfrm>
            <a:off x="658368" y="331012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43814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Sep · Weak-link training</a:t>
            </a:r>
          </a:p>
        </p:txBody>
      </p:sp>
      <p:sp>
        <p:nvSpPr>
          <p:cNvPr id="15" name="TextBox 14"/>
          <p:cNvSpPr txBox="1"/>
          <p:nvPr/>
        </p:nvSpPr>
        <p:spPr>
          <a:xfrm>
            <a:off x="2990087" y="341985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Trained a second version with the signal strength picked at random, and compared it against the first.</a:t>
            </a:r>
          </a:p>
        </p:txBody>
      </p:sp>
      <p:cxnSp>
        <p:nvCxnSpPr>
          <p:cNvPr id="16" name="Connector 15"/>
          <p:cNvCxnSpPr/>
          <p:nvPr/>
        </p:nvCxnSpPr>
        <p:spPr>
          <a:xfrm>
            <a:off x="658368" y="385876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58368" y="3986783"/>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Sep · Crossing question</a:t>
            </a:r>
          </a:p>
        </p:txBody>
      </p:sp>
      <p:sp>
        <p:nvSpPr>
          <p:cNvPr id="18" name="TextBox 17"/>
          <p:cNvSpPr txBox="1"/>
          <p:nvPr/>
        </p:nvSpPr>
        <p:spPr>
          <a:xfrm>
            <a:off x="2990087" y="396849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Decided it on held-back pictures before seeing the answer: the two lines cross between −5 and −4 dB.</a:t>
            </a:r>
          </a:p>
        </p:txBody>
      </p:sp>
      <p:cxnSp>
        <p:nvCxnSpPr>
          <p:cNvPr id="19" name="Connector 18"/>
          <p:cNvCxnSpPr/>
          <p:nvPr/>
        </p:nvCxnSpPr>
        <p:spPr>
          <a:xfrm>
            <a:off x="658368" y="4407407"/>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453542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Sep · Power limits</a:t>
            </a:r>
          </a:p>
        </p:txBody>
      </p:sp>
      <p:sp>
        <p:nvSpPr>
          <p:cNvPr id="21" name="TextBox 20"/>
          <p:cNvSpPr txBox="1"/>
          <p:nvPr/>
        </p:nvSpPr>
        <p:spPr>
          <a:xfrm>
            <a:off x="2990087" y="451713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Trained one model under a hard limit on how tall the signal spikes may get.</a:t>
            </a:r>
          </a:p>
        </p:txBody>
      </p:sp>
      <p:cxnSp>
        <p:nvCxnSpPr>
          <p:cNvPr id="22" name="Connector 21"/>
          <p:cNvCxnSpPr/>
          <p:nvPr/>
        </p:nvCxnSpPr>
        <p:spPr>
          <a:xfrm>
            <a:off x="658368" y="495604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508406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Oct · Measurements</a:t>
            </a:r>
          </a:p>
        </p:txBody>
      </p:sp>
      <p:sp>
        <p:nvSpPr>
          <p:cNvPr id="24" name="TextBox 23"/>
          <p:cNvSpPr txBox="1"/>
          <p:nvPr/>
        </p:nvSpPr>
        <p:spPr>
          <a:xfrm>
            <a:off x="2990087" y="506577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252 measurements across twelve versions of the system and twenty-one signal strengths, 1,000 held-back pictures each.</a:t>
            </a:r>
          </a:p>
        </p:txBody>
      </p:sp>
      <p:cxnSp>
        <p:nvCxnSpPr>
          <p:cNvPr id="25" name="Connector 24"/>
          <p:cNvCxnSpPr/>
          <p:nvPr/>
        </p:nvCxnSpPr>
        <p:spPr>
          <a:xfrm>
            <a:off x="658368" y="550468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5632704"/>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Nov · Exam set</a:t>
            </a:r>
          </a:p>
        </p:txBody>
      </p:sp>
      <p:sp>
        <p:nvSpPr>
          <p:cNvPr id="27" name="TextBox 26"/>
          <p:cNvSpPr txBox="1"/>
          <p:nvPr/>
        </p:nvSpPr>
        <p:spPr>
          <a:xfrm>
            <a:off x="2990087" y="5614416"/>
            <a:ext cx="8412480" cy="49377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Still locked. It opens in week 11 once the locking document is signed.</a:t>
            </a:r>
          </a:p>
        </p:txBody>
      </p:sp>
      <p:cxnSp>
        <p:nvCxnSpPr>
          <p:cNvPr id="28" name="Connector 27"/>
          <p:cNvCxnSpPr/>
          <p:nvPr/>
        </p:nvCxnSpPr>
        <p:spPr>
          <a:xfrm>
            <a:off x="658368" y="6016752"/>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8368" y="6071616"/>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Everything above ran on held-back pictures. The exam set stays locked until gate G-12.</a:t>
            </a:r>
          </a:p>
        </p:txBody>
      </p:sp>
      <p:cxnSp>
        <p:nvCxnSpPr>
          <p:cNvPr id="30" name="Connector 29"/>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Timeline, Results</a:t>
            </a:r>
          </a:p>
        </p:txBody>
      </p:sp>
      <p:sp>
        <p:nvSpPr>
          <p:cNvPr id="32" name="TextBox 31"/>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First review 18–22 Aug 2026 · Second review 29 Sep–3 Oct 2026</a:t>
            </a:r>
          </a:p>
        </p:txBody>
      </p:sp>
      <p:sp>
        <p:nvSpPr>
          <p:cNvPr id="33" name="TextBox 32"/>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Objectives, stated as completion criteria</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The rubric asks whether we finished what we set out to do, so we wrote it as things we did, not results we hoped for.</a:t>
            </a:r>
          </a:p>
        </p:txBody>
      </p:sp>
      <p:sp>
        <p:nvSpPr>
          <p:cNvPr id="5" name="TextBox 4"/>
          <p:cNvSpPr txBox="1"/>
          <p:nvPr/>
        </p:nvSpPr>
        <p:spPr>
          <a:xfrm>
            <a:off x="658368" y="1700784"/>
            <a:ext cx="630936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What we set out to do</a:t>
            </a:r>
          </a:p>
        </p:txBody>
      </p:sp>
      <p:sp>
        <p:nvSpPr>
          <p:cNvPr id="6" name="TextBox 5"/>
          <p:cNvSpPr txBox="1"/>
          <p:nvPr/>
        </p:nvSpPr>
        <p:spPr>
          <a:xfrm>
            <a:off x="658368" y="2103120"/>
            <a:ext cx="210312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1.  Build it</a:t>
            </a:r>
          </a:p>
        </p:txBody>
      </p:sp>
      <p:sp>
        <p:nvSpPr>
          <p:cNvPr id="7" name="TextBox 6"/>
          <p:cNvSpPr txBox="1"/>
          <p:nvPr/>
        </p:nvSpPr>
        <p:spPr>
          <a:xfrm>
            <a:off x="2834640" y="2084831"/>
            <a:ext cx="4133087"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Train a learned sender and receiver together, so the picture goes through the same kind of noise a radio adds.</a:t>
            </a:r>
          </a:p>
        </p:txBody>
      </p:sp>
      <p:cxnSp>
        <p:nvCxnSpPr>
          <p:cNvPr id="8" name="Connector 7"/>
          <p:cNvCxnSpPr/>
          <p:nvPr/>
        </p:nvCxnSpPr>
        <p:spPr>
          <a:xfrm>
            <a:off x="658368" y="2670048"/>
            <a:ext cx="630936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2816352"/>
            <a:ext cx="210312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2.  Same radio time</a:t>
            </a:r>
          </a:p>
        </p:txBody>
      </p:sp>
      <p:sp>
        <p:nvSpPr>
          <p:cNvPr id="10" name="TextBox 9"/>
          <p:cNvSpPr txBox="1"/>
          <p:nvPr/>
        </p:nvSpPr>
        <p:spPr>
          <a:xfrm>
            <a:off x="2834640" y="2798064"/>
            <a:ext cx="4133087"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every signal strength and rate, both systems get the same number of chances to use the radio.</a:t>
            </a:r>
          </a:p>
        </p:txBody>
      </p:sp>
      <p:cxnSp>
        <p:nvCxnSpPr>
          <p:cNvPr id="11" name="Connector 10"/>
          <p:cNvCxnSpPr/>
          <p:nvPr/>
        </p:nvCxnSpPr>
        <p:spPr>
          <a:xfrm>
            <a:off x="658368" y="3383280"/>
            <a:ext cx="630936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3529584"/>
            <a:ext cx="210312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3.  Charge the overhead</a:t>
            </a:r>
          </a:p>
        </p:txBody>
      </p:sp>
      <p:sp>
        <p:nvSpPr>
          <p:cNvPr id="13" name="TextBox 12"/>
          <p:cNvSpPr txBox="1"/>
          <p:nvPr/>
        </p:nvSpPr>
        <p:spPr>
          <a:xfrm>
            <a:off x="2834640" y="3511296"/>
            <a:ext cx="4133087"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Checksums, padding and error-correction bytes come out of the budget before any picture data.</a:t>
            </a:r>
          </a:p>
        </p:txBody>
      </p:sp>
      <p:cxnSp>
        <p:nvCxnSpPr>
          <p:cNvPr id="14" name="Connector 13"/>
          <p:cNvCxnSpPr/>
          <p:nvPr/>
        </p:nvCxnSpPr>
        <p:spPr>
          <a:xfrm>
            <a:off x="658368" y="4096511"/>
            <a:ext cx="630936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4242816"/>
            <a:ext cx="210312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4.  Pick the setting fairly</a:t>
            </a:r>
          </a:p>
        </p:txBody>
      </p:sp>
      <p:sp>
        <p:nvSpPr>
          <p:cNvPr id="16" name="TextBox 15"/>
          <p:cNvSpPr txBox="1"/>
          <p:nvPr/>
        </p:nvSpPr>
        <p:spPr>
          <a:xfrm>
            <a:off x="2834640" y="4224528"/>
            <a:ext cx="4133087"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operating point is chosen using the digital system alone, before anyone sees the learned curve.</a:t>
            </a:r>
          </a:p>
        </p:txBody>
      </p:sp>
      <p:cxnSp>
        <p:nvCxnSpPr>
          <p:cNvPr id="17" name="Connector 16"/>
          <p:cNvCxnSpPr/>
          <p:nvPr/>
        </p:nvCxnSpPr>
        <p:spPr>
          <a:xfrm>
            <a:off x="658368" y="4809744"/>
            <a:ext cx="630936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4956048"/>
            <a:ext cx="210312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5.  Report per picture</a:t>
            </a:r>
          </a:p>
        </p:txBody>
      </p:sp>
      <p:sp>
        <p:nvSpPr>
          <p:cNvPr id="19" name="TextBox 18"/>
          <p:cNvSpPr txBox="1"/>
          <p:nvPr/>
        </p:nvSpPr>
        <p:spPr>
          <a:xfrm>
            <a:off x="2834640" y="4937760"/>
            <a:ext cx="4133087"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Every row records what happened to one picture, including the ones that never arrived.</a:t>
            </a:r>
          </a:p>
        </p:txBody>
      </p:sp>
      <p:sp>
        <p:nvSpPr>
          <p:cNvPr id="20" name="Rectangle 19"/>
          <p:cNvSpPr/>
          <p:nvPr/>
        </p:nvSpPr>
        <p:spPr>
          <a:xfrm>
            <a:off x="7260336" y="1700784"/>
            <a:ext cx="4279392" cy="3840480"/>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1883664"/>
            <a:ext cx="384048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What we did not aim for</a:t>
            </a:r>
          </a:p>
        </p:txBody>
      </p:sp>
      <p:sp>
        <p:nvSpPr>
          <p:cNvPr id="22" name="TextBox 21"/>
          <p:cNvSpPr txBox="1"/>
          <p:nvPr/>
        </p:nvSpPr>
        <p:spPr>
          <a:xfrm>
            <a:off x="7479792" y="2286000"/>
            <a:ext cx="3840480" cy="1097280"/>
          </a:xfrm>
          <a:prstGeom prst="rect">
            <a:avLst/>
          </a:prstGeom>
          <a:noFill/>
        </p:spPr>
        <p:txBody>
          <a:bodyPr wrap="square" lIns="45720" rIns="45720" anchor="t">
            <a:spAutoFit/>
          </a:bodyPr>
          <a:lstStyle/>
          <a:p>
            <a:pPr algn="ctr">
              <a:lnSpc>
                <a:spcPct val="100000"/>
              </a:lnSpc>
              <a:spcBef>
                <a:spcPts val="0"/>
              </a:spcBef>
              <a:spcAft>
                <a:spcPts val="0"/>
              </a:spcAft>
            </a:pPr>
            <a:r>
              <a:rPr sz="1600" b="1" i="0">
                <a:solidFill>
                  <a:srgbClr val="111111"/>
                </a:solidFill>
                <a:latin typeface="Arial"/>
              </a:rPr>
              <a:t>“Show that the learned system beats the digital one.”</a:t>
            </a:r>
          </a:p>
        </p:txBody>
      </p:sp>
      <p:sp>
        <p:nvSpPr>
          <p:cNvPr id="23" name="TextBox 22"/>
          <p:cNvSpPr txBox="1"/>
          <p:nvPr/>
        </p:nvSpPr>
        <p:spPr>
          <a:xfrm>
            <a:off x="7479792" y="3529584"/>
            <a:ext cx="3840480" cy="179222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That is a result, not an objective. Our specification treats both a crossing and the learned system winning everywhere as complete, successful outcomes. The rubric scores this review on what we set out to do, not on which way the curve went.</a:t>
            </a:r>
          </a:p>
        </p:txBody>
      </p:sp>
      <p:cxnSp>
        <p:nvCxnSpPr>
          <p:cNvPr id="24" name="Connector 23"/>
          <p:cNvCxnSpPr/>
          <p:nvPr/>
        </p:nvCxnSpPr>
        <p:spPr>
          <a:xfrm>
            <a:off x="658368" y="5870448"/>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5925312"/>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We found a crossing, so the fallback we had planned for never happened and the objectives were not rewritten.</a:t>
            </a:r>
          </a:p>
        </p:txBody>
      </p:sp>
      <p:cxnSp>
        <p:nvCxnSpPr>
          <p:cNvPr id="26" name="Connector 2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Objectives Met, Methodology</a:t>
            </a:r>
          </a:p>
        </p:txBody>
      </p:sp>
      <p:sp>
        <p:nvSpPr>
          <p:cNvPr id="28" name="TextBox 2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Objectives are not restated at this review</a:t>
            </a:r>
          </a:p>
        </p:txBody>
      </p:sp>
      <p:sp>
        <p:nvSpPr>
          <p:cNvPr id="29" name="TextBox 2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Before the numbers, one picture</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350" b="0" i="0">
                <a:solidFill>
                  <a:srgbClr val="555555"/>
                </a:solidFill>
                <a:latin typeface="Arial"/>
              </a:rPr>
              <a:t>Every chart that follows runs from a very weak radio signal on the left to a clean one on the right.</a:t>
            </a:r>
          </a:p>
        </p:txBody>
      </p:sp>
      <p:sp>
        <p:nvSpPr>
          <p:cNvPr id="5" name="Rectangle 4"/>
          <p:cNvSpPr/>
          <p:nvPr/>
        </p:nvSpPr>
        <p:spPr>
          <a:xfrm>
            <a:off x="658368" y="1682496"/>
            <a:ext cx="7818120" cy="365760"/>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83080"/>
            <a:ext cx="3072384" cy="201168"/>
          </a:xfrm>
          <a:prstGeom prst="rect">
            <a:avLst/>
          </a:prstGeom>
          <a:noFill/>
        </p:spPr>
        <p:txBody>
          <a:bodyPr wrap="square" lIns="45720" rIns="45720" anchor="ctr">
            <a:spAutoFit/>
          </a:bodyPr>
          <a:lstStyle/>
          <a:p>
            <a:pPr algn="l">
              <a:lnSpc>
                <a:spcPct val="100000"/>
              </a:lnSpc>
              <a:spcBef>
                <a:spcPts val="0"/>
              </a:spcBef>
              <a:spcAft>
                <a:spcPts val="0"/>
              </a:spcAft>
            </a:pPr>
            <a:r>
              <a:rPr sz="1050" b="1" i="0">
                <a:solidFill>
                  <a:srgbClr val="111111"/>
                </a:solidFill>
                <a:latin typeface="Arial"/>
              </a:rPr>
              <a:t>Plain words</a:t>
            </a:r>
          </a:p>
        </p:txBody>
      </p:sp>
      <p:sp>
        <p:nvSpPr>
          <p:cNvPr id="7" name="TextBox 6"/>
          <p:cNvSpPr txBox="1"/>
          <p:nvPr/>
        </p:nvSpPr>
        <p:spPr>
          <a:xfrm>
            <a:off x="4078224" y="1783080"/>
            <a:ext cx="1975104" cy="201168"/>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Our term</a:t>
            </a:r>
          </a:p>
        </p:txBody>
      </p:sp>
      <p:sp>
        <p:nvSpPr>
          <p:cNvPr id="8" name="TextBox 7"/>
          <p:cNvSpPr txBox="1"/>
          <p:nvPr/>
        </p:nvSpPr>
        <p:spPr>
          <a:xfrm>
            <a:off x="6272783" y="1783080"/>
            <a:ext cx="2112263" cy="201168"/>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Where you see it</a:t>
            </a:r>
          </a:p>
        </p:txBody>
      </p:sp>
      <p:sp>
        <p:nvSpPr>
          <p:cNvPr id="9" name="Rectangle 8"/>
          <p:cNvSpPr/>
          <p:nvPr/>
        </p:nvSpPr>
        <p:spPr>
          <a:xfrm>
            <a:off x="658368" y="2048256"/>
            <a:ext cx="7818120" cy="49377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48840"/>
            <a:ext cx="3072384" cy="329184"/>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How strong the signal is</a:t>
            </a:r>
          </a:p>
        </p:txBody>
      </p:sp>
      <p:sp>
        <p:nvSpPr>
          <p:cNvPr id="11" name="TextBox 10"/>
          <p:cNvSpPr txBox="1"/>
          <p:nvPr/>
        </p:nvSpPr>
        <p:spPr>
          <a:xfrm>
            <a:off x="4078224" y="2148840"/>
            <a:ext cx="1975104"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SNR, in decibels</a:t>
            </a:r>
          </a:p>
        </p:txBody>
      </p:sp>
      <p:sp>
        <p:nvSpPr>
          <p:cNvPr id="12" name="TextBox 11"/>
          <p:cNvSpPr txBox="1"/>
          <p:nvPr/>
        </p:nvSpPr>
        <p:spPr>
          <a:xfrm>
            <a:off x="6272783" y="2148840"/>
            <a:ext cx="2112263"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the left-to-right axis</a:t>
            </a:r>
          </a:p>
        </p:txBody>
      </p:sp>
      <p:sp>
        <p:nvSpPr>
          <p:cNvPr id="13" name="Rectangle 12"/>
          <p:cNvSpPr/>
          <p:nvPr/>
        </p:nvSpPr>
        <p:spPr>
          <a:xfrm>
            <a:off x="658368" y="2542032"/>
            <a:ext cx="7818120" cy="49377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2642616"/>
            <a:ext cx="3072384" cy="329184"/>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How many pictures got through</a:t>
            </a:r>
          </a:p>
        </p:txBody>
      </p:sp>
      <p:sp>
        <p:nvSpPr>
          <p:cNvPr id="15" name="TextBox 14"/>
          <p:cNvSpPr txBox="1"/>
          <p:nvPr/>
        </p:nvSpPr>
        <p:spPr>
          <a:xfrm>
            <a:off x="4078224" y="2642616"/>
            <a:ext cx="1975104"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delivery coverage</a:t>
            </a:r>
          </a:p>
        </p:txBody>
      </p:sp>
      <p:sp>
        <p:nvSpPr>
          <p:cNvPr id="16" name="TextBox 15"/>
          <p:cNvSpPr txBox="1"/>
          <p:nvPr/>
        </p:nvSpPr>
        <p:spPr>
          <a:xfrm>
            <a:off x="6272783" y="2642616"/>
            <a:ext cx="2112263"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the flat 10% line</a:t>
            </a:r>
          </a:p>
        </p:txBody>
      </p:sp>
      <p:sp>
        <p:nvSpPr>
          <p:cNvPr id="17" name="Rectangle 16"/>
          <p:cNvSpPr/>
          <p:nvPr/>
        </p:nvSpPr>
        <p:spPr>
          <a:xfrm>
            <a:off x="658368" y="3035808"/>
            <a:ext cx="7818120" cy="49377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3136392"/>
            <a:ext cx="3072384" cy="329184"/>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How many we labelled correctly</a:t>
            </a:r>
          </a:p>
        </p:txBody>
      </p:sp>
      <p:sp>
        <p:nvSpPr>
          <p:cNvPr id="19" name="TextBox 18"/>
          <p:cNvSpPr txBox="1"/>
          <p:nvPr/>
        </p:nvSpPr>
        <p:spPr>
          <a:xfrm>
            <a:off x="4078224" y="3136392"/>
            <a:ext cx="1975104"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top-1 accuracy</a:t>
            </a:r>
          </a:p>
        </p:txBody>
      </p:sp>
      <p:sp>
        <p:nvSpPr>
          <p:cNvPr id="20" name="TextBox 19"/>
          <p:cNvSpPr txBox="1"/>
          <p:nvPr/>
        </p:nvSpPr>
        <p:spPr>
          <a:xfrm>
            <a:off x="6272783" y="3136392"/>
            <a:ext cx="2112263"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the up-and-down axis</a:t>
            </a:r>
          </a:p>
        </p:txBody>
      </p:sp>
      <p:sp>
        <p:nvSpPr>
          <p:cNvPr id="21" name="Rectangle 20"/>
          <p:cNvSpPr/>
          <p:nvPr/>
        </p:nvSpPr>
        <p:spPr>
          <a:xfrm>
            <a:off x="658368" y="3529584"/>
            <a:ext cx="7818120" cy="49377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630168"/>
            <a:ext cx="3072384" cy="329184"/>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How many times we use the radio</a:t>
            </a:r>
          </a:p>
        </p:txBody>
      </p:sp>
      <p:sp>
        <p:nvSpPr>
          <p:cNvPr id="23" name="TextBox 22"/>
          <p:cNvSpPr txBox="1"/>
          <p:nvPr/>
        </p:nvSpPr>
        <p:spPr>
          <a:xfrm>
            <a:off x="4078224" y="3630168"/>
            <a:ext cx="1975104"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channel-use budget</a:t>
            </a:r>
          </a:p>
        </p:txBody>
      </p:sp>
      <p:sp>
        <p:nvSpPr>
          <p:cNvPr id="24" name="TextBox 23"/>
          <p:cNvSpPr txBox="1"/>
          <p:nvPr/>
        </p:nvSpPr>
        <p:spPr>
          <a:xfrm>
            <a:off x="6272783" y="3630168"/>
            <a:ext cx="2112263" cy="329184"/>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12,800 or 3,200 per picture</a:t>
            </a:r>
          </a:p>
        </p:txBody>
      </p:sp>
      <p:cxnSp>
        <p:nvCxnSpPr>
          <p:cNvPr id="25" name="Connector 24"/>
          <p:cNvCxnSpPr/>
          <p:nvPr/>
        </p:nvCxnSpPr>
        <p:spPr>
          <a:xfrm>
            <a:off x="3950208" y="1682496"/>
            <a:ext cx="0" cy="2340864"/>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144768" y="1682496"/>
            <a:ext cx="0" cy="2340864"/>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3968496"/>
            <a:ext cx="7818120" cy="256032"/>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Every point on every chart is the same 1,000 pictures, at that one signal strength.</a:t>
            </a:r>
          </a:p>
        </p:txBody>
      </p:sp>
      <p:sp>
        <p:nvSpPr>
          <p:cNvPr id="28" name="Rectangle 27"/>
          <p:cNvSpPr/>
          <p:nvPr/>
        </p:nvSpPr>
        <p:spPr>
          <a:xfrm>
            <a:off x="8887968" y="1682496"/>
            <a:ext cx="2651760" cy="4041648"/>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0" y="1847088"/>
            <a:ext cx="2322576" cy="256032"/>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One example</a:t>
            </a:r>
          </a:p>
        </p:txBody>
      </p:sp>
      <p:sp>
        <p:nvSpPr>
          <p:cNvPr id="30" name="TextBox 29"/>
          <p:cNvSpPr txBox="1"/>
          <p:nvPr/>
        </p:nvSpPr>
        <p:spPr>
          <a:xfrm>
            <a:off x="9052560" y="2157984"/>
            <a:ext cx="2322576" cy="23774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At the weakest signal we measured:</a:t>
            </a:r>
          </a:p>
        </p:txBody>
      </p:sp>
      <p:sp>
        <p:nvSpPr>
          <p:cNvPr id="31" name="TextBox 30"/>
          <p:cNvSpPr txBox="1"/>
          <p:nvPr/>
        </p:nvSpPr>
        <p:spPr>
          <a:xfrm>
            <a:off x="9052560" y="2487168"/>
            <a:ext cx="2322576" cy="1700784"/>
          </a:xfrm>
          <a:prstGeom prst="rect">
            <a:avLst/>
          </a:prstGeom>
          <a:noFill/>
        </p:spPr>
        <p:txBody>
          <a:bodyPr wrap="square" lIns="45720" rIns="45720" anchor="t">
            <a:spAutoFit/>
          </a:bodyPr>
          <a:lstStyle/>
          <a:p>
            <a:pPr algn="l">
              <a:lnSpc>
                <a:spcPct val="100000"/>
              </a:lnSpc>
              <a:spcBef>
                <a:spcPts val="0"/>
              </a:spcBef>
              <a:spcAft>
                <a:spcPts val="0"/>
              </a:spcAft>
            </a:pPr>
            <a:r>
              <a:rPr sz="1050" b="0" i="0">
                <a:solidFill>
                  <a:srgbClr val="555555"/>
                </a:solidFill>
                <a:latin typeface="Arial"/>
              </a:rPr>
              <a:t>The learned system labelled 728 of the 1,000 pictures correctly.</a:t>
            </a:r>
            <a:br/>
            <a:br/>
            <a:r>
              <a:rPr sz="1050" b="0" i="0">
                <a:solidFill>
                  <a:srgbClr val="555555"/>
                </a:solidFill>
                <a:latin typeface="Arial"/>
              </a:rPr>
              <a:t>The digital system got almost nothing through, so every picture fell back to one fixed answer — and that answer happens to be right 100 times out of 1,000. So 10%.</a:t>
            </a:r>
          </a:p>
        </p:txBody>
      </p:sp>
      <p:cxnSp>
        <p:nvCxnSpPr>
          <p:cNvPr id="32" name="Connector 31"/>
          <p:cNvCxnSpPr/>
          <p:nvPr/>
        </p:nvCxnSpPr>
        <p:spPr>
          <a:xfrm>
            <a:off x="9052560" y="4315968"/>
            <a:ext cx="2322576"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052560" y="4443984"/>
            <a:ext cx="2322576" cy="1115568"/>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That flat 10% is not a bad prediction. It is 1,000 pictures that never arrived.</a:t>
            </a:r>
          </a:p>
        </p:txBody>
      </p:sp>
      <p:cxnSp>
        <p:nvCxnSpPr>
          <p:cNvPr id="34" name="Connector 33"/>
          <p:cNvCxnSpPr/>
          <p:nvPr/>
        </p:nvCxnSpPr>
        <p:spPr>
          <a:xfrm>
            <a:off x="658368" y="5870448"/>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5925312"/>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These were 1,000 held-back pictures. The exam set stays locked until week 11.</a:t>
            </a:r>
          </a:p>
        </p:txBody>
      </p:sp>
      <p:cxnSp>
        <p:nvCxnSpPr>
          <p:cNvPr id="36" name="Connector 3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38" name="TextBox 3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Nothing technical on this slide. The next fourteen depend on it.</a:t>
            </a:r>
          </a:p>
        </p:txBody>
      </p:sp>
      <p:sp>
        <p:nvSpPr>
          <p:cNvPr id="39" name="TextBox 3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we measured for this review</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350" b="0" i="0">
                <a:solidFill>
                  <a:srgbClr val="555555"/>
                </a:solidFill>
                <a:latin typeface="Arial"/>
              </a:rPr>
              <a:t>We built twelve versions of the system and tested each one at twenty-one signal strengths.</a:t>
            </a:r>
          </a:p>
        </p:txBody>
      </p:sp>
      <p:sp>
        <p:nvSpPr>
          <p:cNvPr id="5" name="Rectangle 4"/>
          <p:cNvSpPr/>
          <p:nvPr/>
        </p:nvSpPr>
        <p:spPr>
          <a:xfrm>
            <a:off x="658368" y="1664208"/>
            <a:ext cx="10744200" cy="384048"/>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64792"/>
            <a:ext cx="2889504" cy="219456"/>
          </a:xfrm>
          <a:prstGeom prst="rect">
            <a:avLst/>
          </a:prstGeom>
          <a:noFill/>
        </p:spPr>
        <p:txBody>
          <a:bodyPr wrap="square" lIns="45720" rIns="45720" anchor="ctr">
            <a:spAutoFit/>
          </a:bodyPr>
          <a:lstStyle/>
          <a:p>
            <a:pPr algn="l">
              <a:lnSpc>
                <a:spcPct val="100000"/>
              </a:lnSpc>
              <a:spcBef>
                <a:spcPts val="0"/>
              </a:spcBef>
              <a:spcAft>
                <a:spcPts val="0"/>
              </a:spcAft>
            </a:pPr>
            <a:r>
              <a:rPr sz="1050" b="1" i="0">
                <a:solidFill>
                  <a:srgbClr val="111111"/>
                </a:solidFill>
                <a:latin typeface="Arial"/>
              </a:rPr>
              <a:t>Item</a:t>
            </a:r>
          </a:p>
        </p:txBody>
      </p:sp>
      <p:sp>
        <p:nvSpPr>
          <p:cNvPr id="7" name="TextBox 6"/>
          <p:cNvSpPr txBox="1"/>
          <p:nvPr/>
        </p:nvSpPr>
        <p:spPr>
          <a:xfrm>
            <a:off x="3895344" y="1764792"/>
            <a:ext cx="133502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Figure</a:t>
            </a:r>
          </a:p>
        </p:txBody>
      </p:sp>
      <p:sp>
        <p:nvSpPr>
          <p:cNvPr id="8" name="TextBox 7"/>
          <p:cNvSpPr txBox="1"/>
          <p:nvPr/>
        </p:nvSpPr>
        <p:spPr>
          <a:xfrm>
            <a:off x="5449823" y="1764792"/>
            <a:ext cx="586130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What it is</a:t>
            </a:r>
          </a:p>
        </p:txBody>
      </p:sp>
      <p:sp>
        <p:nvSpPr>
          <p:cNvPr id="9" name="Rectangle 8"/>
          <p:cNvSpPr/>
          <p:nvPr/>
        </p:nvSpPr>
        <p:spPr>
          <a:xfrm>
            <a:off x="658368" y="2048256"/>
            <a:ext cx="1074420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48840"/>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Measurements</a:t>
            </a:r>
          </a:p>
        </p:txBody>
      </p:sp>
      <p:sp>
        <p:nvSpPr>
          <p:cNvPr id="11" name="TextBox 10"/>
          <p:cNvSpPr txBox="1"/>
          <p:nvPr/>
        </p:nvSpPr>
        <p:spPr>
          <a:xfrm>
            <a:off x="3895344" y="2148840"/>
            <a:ext cx="133502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252</a:t>
            </a:r>
          </a:p>
        </p:txBody>
      </p:sp>
      <p:sp>
        <p:nvSpPr>
          <p:cNvPr id="12" name="TextBox 11"/>
          <p:cNvSpPr txBox="1"/>
          <p:nvPr/>
        </p:nvSpPr>
        <p:spPr>
          <a:xfrm>
            <a:off x="5449823" y="2148840"/>
            <a:ext cx="58613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One row each in the published record</a:t>
            </a:r>
          </a:p>
        </p:txBody>
      </p:sp>
      <p:sp>
        <p:nvSpPr>
          <p:cNvPr id="13" name="Rectangle 12"/>
          <p:cNvSpPr/>
          <p:nvPr/>
        </p:nvSpPr>
        <p:spPr>
          <a:xfrm>
            <a:off x="658368" y="2468880"/>
            <a:ext cx="1074420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2569464"/>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Versions of the system</a:t>
            </a:r>
          </a:p>
        </p:txBody>
      </p:sp>
      <p:sp>
        <p:nvSpPr>
          <p:cNvPr id="15" name="TextBox 14"/>
          <p:cNvSpPr txBox="1"/>
          <p:nvPr/>
        </p:nvSpPr>
        <p:spPr>
          <a:xfrm>
            <a:off x="3895344" y="2569464"/>
            <a:ext cx="133502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12</a:t>
            </a:r>
          </a:p>
        </p:txBody>
      </p:sp>
      <p:sp>
        <p:nvSpPr>
          <p:cNvPr id="16" name="TextBox 15"/>
          <p:cNvSpPr txBox="1"/>
          <p:nvPr/>
        </p:nvSpPr>
        <p:spPr>
          <a:xfrm>
            <a:off x="5449823" y="2569464"/>
            <a:ext cx="58613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Five of them are controls rather than headline systems</a:t>
            </a:r>
          </a:p>
        </p:txBody>
      </p:sp>
      <p:sp>
        <p:nvSpPr>
          <p:cNvPr id="17" name="Rectangle 16"/>
          <p:cNvSpPr/>
          <p:nvPr/>
        </p:nvSpPr>
        <p:spPr>
          <a:xfrm>
            <a:off x="658368" y="2889504"/>
            <a:ext cx="1074420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2990088"/>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Signal strengths</a:t>
            </a:r>
          </a:p>
        </p:txBody>
      </p:sp>
      <p:sp>
        <p:nvSpPr>
          <p:cNvPr id="19" name="TextBox 18"/>
          <p:cNvSpPr txBox="1"/>
          <p:nvPr/>
        </p:nvSpPr>
        <p:spPr>
          <a:xfrm>
            <a:off x="3895344" y="2990088"/>
            <a:ext cx="133502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21</a:t>
            </a:r>
          </a:p>
        </p:txBody>
      </p:sp>
      <p:sp>
        <p:nvSpPr>
          <p:cNvPr id="20" name="TextBox 19"/>
          <p:cNvSpPr txBox="1"/>
          <p:nvPr/>
        </p:nvSpPr>
        <p:spPr>
          <a:xfrm>
            <a:off x="5449823" y="2990088"/>
            <a:ext cx="58613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From very weak to very clean</a:t>
            </a:r>
          </a:p>
        </p:txBody>
      </p:sp>
      <p:sp>
        <p:nvSpPr>
          <p:cNvPr id="21" name="Rectangle 20"/>
          <p:cNvSpPr/>
          <p:nvPr/>
        </p:nvSpPr>
        <p:spPr>
          <a:xfrm>
            <a:off x="658368" y="3310128"/>
            <a:ext cx="1074420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410712"/>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Pictures per point</a:t>
            </a:r>
          </a:p>
        </p:txBody>
      </p:sp>
      <p:sp>
        <p:nvSpPr>
          <p:cNvPr id="23" name="TextBox 22"/>
          <p:cNvSpPr txBox="1"/>
          <p:nvPr/>
        </p:nvSpPr>
        <p:spPr>
          <a:xfrm>
            <a:off x="3895344" y="3410712"/>
            <a:ext cx="133502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1,000</a:t>
            </a:r>
          </a:p>
        </p:txBody>
      </p:sp>
      <p:sp>
        <p:nvSpPr>
          <p:cNvPr id="24" name="TextBox 23"/>
          <p:cNvSpPr txBox="1"/>
          <p:nvPr/>
        </p:nvSpPr>
        <p:spPr>
          <a:xfrm>
            <a:off x="5449823" y="3410712"/>
            <a:ext cx="58613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The same held-back pictures every time</a:t>
            </a:r>
          </a:p>
        </p:txBody>
      </p:sp>
      <p:sp>
        <p:nvSpPr>
          <p:cNvPr id="25" name="Rectangle 24"/>
          <p:cNvSpPr/>
          <p:nvPr/>
        </p:nvSpPr>
        <p:spPr>
          <a:xfrm>
            <a:off x="658368" y="3730752"/>
            <a:ext cx="1074420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3831336"/>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Exam pictures opened</a:t>
            </a:r>
          </a:p>
        </p:txBody>
      </p:sp>
      <p:sp>
        <p:nvSpPr>
          <p:cNvPr id="27" name="TextBox 26"/>
          <p:cNvSpPr txBox="1"/>
          <p:nvPr/>
        </p:nvSpPr>
        <p:spPr>
          <a:xfrm>
            <a:off x="3895344" y="3831336"/>
            <a:ext cx="133502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0</a:t>
            </a:r>
          </a:p>
        </p:txBody>
      </p:sp>
      <p:sp>
        <p:nvSpPr>
          <p:cNvPr id="28" name="TextBox 27"/>
          <p:cNvSpPr txBox="1"/>
          <p:nvPr/>
        </p:nvSpPr>
        <p:spPr>
          <a:xfrm>
            <a:off x="5449823" y="3831336"/>
            <a:ext cx="58613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The exam set has never been read</a:t>
            </a:r>
          </a:p>
        </p:txBody>
      </p:sp>
      <p:cxnSp>
        <p:nvCxnSpPr>
          <p:cNvPr id="29" name="Connector 28"/>
          <p:cNvCxnSpPr/>
          <p:nvPr/>
        </p:nvCxnSpPr>
        <p:spPr>
          <a:xfrm>
            <a:off x="3767328" y="1664208"/>
            <a:ext cx="0" cy="2487168"/>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321807" y="1664208"/>
            <a:ext cx="0" cy="2487168"/>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4187952"/>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4315968"/>
            <a:ext cx="1074420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Two things that govern how every later chart should be read</a:t>
            </a:r>
          </a:p>
        </p:txBody>
      </p:sp>
      <p:sp>
        <p:nvSpPr>
          <p:cNvPr id="33" name="TextBox 32"/>
          <p:cNvSpPr txBox="1"/>
          <p:nvPr/>
        </p:nvSpPr>
        <p:spPr>
          <a:xfrm>
            <a:off x="658368" y="4718304"/>
            <a:ext cx="1737360"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Radio time</a:t>
            </a:r>
          </a:p>
        </p:txBody>
      </p:sp>
      <p:sp>
        <p:nvSpPr>
          <p:cNvPr id="34" name="TextBox 33"/>
          <p:cNvSpPr txBox="1"/>
          <p:nvPr/>
        </p:nvSpPr>
        <p:spPr>
          <a:xfrm>
            <a:off x="2487168" y="4700016"/>
            <a:ext cx="8915400" cy="585215"/>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Half rate uses the radio 12,800 times per picture; quarter rate uses it 3,200 times. Within one rate both systems get the same amount of radio time. It does not mean they send the same information.</a:t>
            </a:r>
          </a:p>
        </p:txBody>
      </p:sp>
      <p:cxnSp>
        <p:nvCxnSpPr>
          <p:cNvPr id="35" name="Connector 34"/>
          <p:cNvCxnSpPr/>
          <p:nvPr/>
        </p:nvCxnSpPr>
        <p:spPr>
          <a:xfrm>
            <a:off x="658368" y="523036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358384"/>
            <a:ext cx="1737360"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Who marks it</a:t>
            </a:r>
          </a:p>
        </p:txBody>
      </p:sp>
      <p:sp>
        <p:nvSpPr>
          <p:cNvPr id="37" name="TextBox 36"/>
          <p:cNvSpPr txBox="1"/>
          <p:nvPr/>
        </p:nvSpPr>
        <p:spPr>
          <a:xfrm>
            <a:off x="2487168" y="5340096"/>
            <a:ext cx="8915400" cy="585215"/>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learned systems are marked by the classifier built into them. The digital systems are marked by one we trained on compressed-looking images. So we compare whole systems: the link, the representation, and the marker.</a:t>
            </a:r>
          </a:p>
        </p:txBody>
      </p:sp>
      <p:cxnSp>
        <p:nvCxnSpPr>
          <p:cNvPr id="38" name="Connector 37"/>
          <p:cNvCxnSpPr/>
          <p:nvPr/>
        </p:nvCxnSpPr>
        <p:spPr>
          <a:xfrm>
            <a:off x="658368" y="6016752"/>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58368" y="6071616"/>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One training run. These are observed differences, not confidence intervals.</a:t>
            </a:r>
          </a:p>
        </p:txBody>
      </p:sp>
      <p:cxnSp>
        <p:nvCxnSpPr>
          <p:cNvPr id="40" name="Connector 39"/>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42" name="TextBox 41"/>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252 measurements = 12 versions of the system × 21 signal strengths</a:t>
            </a:r>
          </a:p>
        </p:txBody>
      </p:sp>
      <p:sp>
        <p:nvSpPr>
          <p:cNvPr id="43" name="TextBox 42"/>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the digital system gives up, and where it takes over</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The learned system keeps answering the whole way across. The digital system stays silent, then overtakes it.</a:t>
            </a:r>
          </a:p>
        </p:txBody>
      </p:sp>
      <p:pic>
        <p:nvPicPr>
          <p:cNvPr id="5" name="Picture 4" descr="01_headline_full_snr.png"/>
          <p:cNvPicPr>
            <a:picLocks noChangeAspect="1"/>
          </p:cNvPicPr>
          <p:nvPr/>
        </p:nvPicPr>
        <p:blipFill>
          <a:blip r:embed="rId2"/>
          <a:stretch>
            <a:fillRect/>
          </a:stretch>
        </p:blipFill>
        <p:spPr>
          <a:xfrm>
            <a:off x="2362380" y="1645920"/>
            <a:ext cx="7466933" cy="3986784"/>
          </a:xfrm>
          <a:prstGeom prst="rect">
            <a:avLst/>
          </a:prstGeom>
        </p:spPr>
      </p:pic>
      <p:cxnSp>
        <p:nvCxnSpPr>
          <p:cNvPr id="6" name="Connector 5"/>
          <p:cNvCxnSpPr/>
          <p:nvPr/>
        </p:nvCxnSpPr>
        <p:spPr>
          <a:xfrm>
            <a:off x="658368" y="5797296"/>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5870448"/>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At the weakest signal the learned system is right on 728 of 1,000 and the digital system got nothing through. At −4 dB the digital system starts delivering and goes ahead. At +18 dB it is well ahead.</a:t>
            </a:r>
          </a:p>
        </p:txBody>
      </p:sp>
      <p:cxnSp>
        <p:nvCxnSpPr>
          <p:cNvPr id="8" name="Connector 7"/>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a:t>
            </a:r>
          </a:p>
        </p:txBody>
      </p:sp>
      <p:sp>
        <p:nvSpPr>
          <p:cNvPr id="10" name="TextBox 9"/>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Half rate · all 21 measured signal strengths · held-back pictures</a:t>
            </a:r>
          </a:p>
        </p:txBody>
      </p:sp>
      <p:sp>
        <p:nvSpPr>
          <p:cNvPr id="11" name="TextBox 10"/>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Close-up: the moment the digital system starts working</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Between −5 and −4 dB the digital system begins getting pictures through, and its score jumps 73 points.</a:t>
            </a:r>
          </a:p>
        </p:txBody>
      </p:sp>
      <p:pic>
        <p:nvPicPr>
          <p:cNvPr id="5" name="Picture 4" descr="02_low_snr_closeup.png"/>
          <p:cNvPicPr>
            <a:picLocks noChangeAspect="1"/>
          </p:cNvPicPr>
          <p:nvPr/>
        </p:nvPicPr>
        <p:blipFill>
          <a:blip r:embed="rId2"/>
          <a:stretch>
            <a:fillRect/>
          </a:stretch>
        </p:blipFill>
        <p:spPr>
          <a:xfrm>
            <a:off x="3538839" y="1645920"/>
            <a:ext cx="5114015" cy="3017520"/>
          </a:xfrm>
          <a:prstGeom prst="rect">
            <a:avLst/>
          </a:prstGeom>
        </p:spPr>
      </p:pic>
      <p:sp>
        <p:nvSpPr>
          <p:cNvPr id="6" name="TextBox 5"/>
          <p:cNvSpPr txBox="1"/>
          <p:nvPr/>
        </p:nvSpPr>
        <p:spPr>
          <a:xfrm>
            <a:off x="658368" y="4846320"/>
            <a:ext cx="128016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At −8 dB</a:t>
            </a:r>
          </a:p>
        </p:txBody>
      </p:sp>
      <p:sp>
        <p:nvSpPr>
          <p:cNvPr id="7" name="TextBox 6"/>
          <p:cNvSpPr txBox="1"/>
          <p:nvPr/>
        </p:nvSpPr>
        <p:spPr>
          <a:xfrm>
            <a:off x="2029967" y="4828032"/>
            <a:ext cx="9372600" cy="34747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learned system is right on 728 of 1,000. The digital system got nothing through, so it scores 10%.</a:t>
            </a:r>
          </a:p>
        </p:txBody>
      </p:sp>
      <p:cxnSp>
        <p:nvCxnSpPr>
          <p:cNvPr id="8" name="Connector 7"/>
          <p:cNvCxnSpPr/>
          <p:nvPr/>
        </p:nvCxnSpPr>
        <p:spPr>
          <a:xfrm>
            <a:off x="658368" y="5120640"/>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248656"/>
            <a:ext cx="128016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At −4 dB</a:t>
            </a:r>
          </a:p>
        </p:txBody>
      </p:sp>
      <p:sp>
        <p:nvSpPr>
          <p:cNvPr id="10" name="TextBox 9"/>
          <p:cNvSpPr txBox="1"/>
          <p:nvPr/>
        </p:nvSpPr>
        <p:spPr>
          <a:xfrm>
            <a:off x="2029967" y="5230368"/>
            <a:ext cx="9372600" cy="34747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digital system now gets everything through and reaches 83.4%, ahead of the learned system's 79.4%.</a:t>
            </a:r>
          </a:p>
        </p:txBody>
      </p:sp>
      <p:cxnSp>
        <p:nvCxnSpPr>
          <p:cNvPr id="11" name="Connector 10"/>
          <p:cNvCxnSpPr/>
          <p:nvPr/>
        </p:nvCxnSpPr>
        <p:spPr>
          <a:xfrm>
            <a:off x="658368" y="5522976"/>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5650992"/>
            <a:ext cx="128016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After that</a:t>
            </a:r>
          </a:p>
        </p:txBody>
      </p:sp>
      <p:sp>
        <p:nvSpPr>
          <p:cNvPr id="13" name="TextBox 12"/>
          <p:cNvSpPr txBox="1"/>
          <p:nvPr/>
        </p:nvSpPr>
        <p:spPr>
          <a:xfrm>
            <a:off x="2029967" y="5632704"/>
            <a:ext cx="9372600" cy="34747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It dips at −2 dB and again at +9 dB, so its line is not perfectly smooth.</a:t>
            </a:r>
          </a:p>
        </p:txBody>
      </p:sp>
      <p:cxnSp>
        <p:nvCxnSpPr>
          <p:cNvPr id="14" name="Connector 13"/>
          <p:cNvCxnSpPr/>
          <p:nvPr/>
        </p:nvCxnSpPr>
        <p:spPr>
          <a:xfrm>
            <a:off x="658368" y="6016752"/>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6071616"/>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We never measured a strength between −5 and −4 dB, so this is a gap between two points, not a known threshold.</a:t>
            </a:r>
          </a:p>
        </p:txBody>
      </p:sp>
      <p:cxnSp>
        <p:nvCxnSpPr>
          <p:cNvPr id="16" name="Connector 1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18" name="TextBox 1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−8 to +2 dB · measured points only, nothing in between</a:t>
            </a:r>
          </a:p>
        </p:txBody>
      </p:sp>
      <p:sp>
        <p:nvSpPr>
          <p:cNvPr id="19" name="TextBox 1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happens when we quarter the radio time</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On a quarter of the radio time, the digital system loses far more at the weak end than the learned one does.</a:t>
            </a:r>
          </a:p>
        </p:txBody>
      </p:sp>
      <p:pic>
        <p:nvPicPr>
          <p:cNvPr id="5" name="Picture 4" descr="03_bandwidth_efficiency.png"/>
          <p:cNvPicPr>
            <a:picLocks noChangeAspect="1"/>
          </p:cNvPicPr>
          <p:nvPr/>
        </p:nvPicPr>
        <p:blipFill>
          <a:blip r:embed="rId2"/>
          <a:stretch>
            <a:fillRect/>
          </a:stretch>
        </p:blipFill>
        <p:spPr>
          <a:xfrm>
            <a:off x="2802672" y="1645920"/>
            <a:ext cx="6586350" cy="2670047"/>
          </a:xfrm>
          <a:prstGeom prst="rect">
            <a:avLst/>
          </a:prstGeom>
        </p:spPr>
      </p:pic>
      <p:sp>
        <p:nvSpPr>
          <p:cNvPr id="6" name="TextBox 5"/>
          <p:cNvSpPr txBox="1"/>
          <p:nvPr/>
        </p:nvSpPr>
        <p:spPr>
          <a:xfrm>
            <a:off x="658368" y="4572000"/>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Weak signal</a:t>
            </a:r>
          </a:p>
        </p:txBody>
      </p:sp>
      <p:sp>
        <p:nvSpPr>
          <p:cNvPr id="7" name="TextBox 6"/>
          <p:cNvSpPr txBox="1"/>
          <p:nvPr/>
        </p:nvSpPr>
        <p:spPr>
          <a:xfrm>
            <a:off x="2578608" y="4553712"/>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Going from half to quarter rate drops the learned system from 72.8% to 49.4%. That is a 23 point loss.</a:t>
            </a:r>
          </a:p>
        </p:txBody>
      </p:sp>
      <p:cxnSp>
        <p:nvCxnSpPr>
          <p:cNvPr id="8" name="Connector 7"/>
          <p:cNvCxnSpPr/>
          <p:nvPr/>
        </p:nvCxnSpPr>
        <p:spPr>
          <a:xfrm>
            <a:off x="658368" y="4901184"/>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029200"/>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At 0 dB, quarter rate</a:t>
            </a:r>
          </a:p>
        </p:txBody>
      </p:sp>
      <p:sp>
        <p:nvSpPr>
          <p:cNvPr id="10" name="TextBox 9"/>
          <p:cNvSpPr txBox="1"/>
          <p:nvPr/>
        </p:nvSpPr>
        <p:spPr>
          <a:xfrm>
            <a:off x="2578608" y="5010912"/>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Learned 78.7% against digital 69.4%. The learned system is still ahead.</a:t>
            </a:r>
          </a:p>
        </p:txBody>
      </p:sp>
      <p:cxnSp>
        <p:nvCxnSpPr>
          <p:cNvPr id="11" name="Connector 10"/>
          <p:cNvCxnSpPr/>
          <p:nvPr/>
        </p:nvCxnSpPr>
        <p:spPr>
          <a:xfrm>
            <a:off x="658368" y="5358384"/>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5486400"/>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Catches up, then slips</a:t>
            </a:r>
          </a:p>
        </p:txBody>
      </p:sp>
      <p:sp>
        <p:nvSpPr>
          <p:cNvPr id="13" name="TextBox 12"/>
          <p:cNvSpPr txBox="1"/>
          <p:nvPr/>
        </p:nvSpPr>
        <p:spPr>
          <a:xfrm>
            <a:off x="2578608" y="5468112"/>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Digital passes learned at the +4 dB point, loses the lead at +9 dB, then goes ahead again.</a:t>
            </a:r>
          </a:p>
        </p:txBody>
      </p:sp>
      <p:cxnSp>
        <p:nvCxnSpPr>
          <p:cNvPr id="14" name="Connector 13"/>
          <p:cNvCxnSpPr/>
          <p:nvPr/>
        </p:nvCxnSpPr>
        <p:spPr>
          <a:xfrm>
            <a:off x="658368" y="6016752"/>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6071616"/>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Because it crosses and then uncrosses, we should not claim one clean crossover at this rate.</a:t>
            </a:r>
          </a:p>
        </p:txBody>
      </p:sp>
      <p:cxnSp>
        <p:nvCxnSpPr>
          <p:cNvPr id="16" name="Connector 1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18" name="TextBox 1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Quarter rate against half rate · compare within each panel</a:t>
            </a:r>
          </a:p>
        </p:txBody>
      </p:sp>
      <p:sp>
        <p:nvSpPr>
          <p:cNvPr id="19" name="TextBox 1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Training across signal strengths instead of one</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Picking the training signal strength at random each time lifts the whole weak end of the line.</a:t>
            </a:r>
          </a:p>
        </p:txBody>
      </p:sp>
      <p:pic>
        <p:nvPicPr>
          <p:cNvPr id="5" name="Picture 4" descr="04_training_robustness.png"/>
          <p:cNvPicPr>
            <a:picLocks noChangeAspect="1"/>
          </p:cNvPicPr>
          <p:nvPr/>
        </p:nvPicPr>
        <p:blipFill>
          <a:blip r:embed="rId2"/>
          <a:stretch>
            <a:fillRect/>
          </a:stretch>
        </p:blipFill>
        <p:spPr>
          <a:xfrm>
            <a:off x="3237160" y="1645920"/>
            <a:ext cx="5717374" cy="2889504"/>
          </a:xfrm>
          <a:prstGeom prst="rect">
            <a:avLst/>
          </a:prstGeom>
        </p:spPr>
      </p:pic>
      <p:sp>
        <p:nvSpPr>
          <p:cNvPr id="6" name="Rectangle 5"/>
          <p:cNvSpPr/>
          <p:nvPr/>
        </p:nvSpPr>
        <p:spPr>
          <a:xfrm>
            <a:off x="2011680" y="4700016"/>
            <a:ext cx="7680960" cy="384048"/>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39696" y="4800600"/>
            <a:ext cx="2432304" cy="219456"/>
          </a:xfrm>
          <a:prstGeom prst="rect">
            <a:avLst/>
          </a:prstGeom>
          <a:noFill/>
        </p:spPr>
        <p:txBody>
          <a:bodyPr wrap="square" lIns="45720" rIns="45720" anchor="ctr">
            <a:spAutoFit/>
          </a:bodyPr>
          <a:lstStyle/>
          <a:p>
            <a:pPr algn="l">
              <a:lnSpc>
                <a:spcPct val="100000"/>
              </a:lnSpc>
              <a:spcBef>
                <a:spcPts val="0"/>
              </a:spcBef>
              <a:spcAft>
                <a:spcPts val="0"/>
              </a:spcAft>
            </a:pPr>
            <a:r>
              <a:rPr sz="1050" b="1" i="0">
                <a:solidFill>
                  <a:srgbClr val="111111"/>
                </a:solidFill>
                <a:latin typeface="Arial"/>
              </a:rPr>
              <a:t>Training</a:t>
            </a:r>
          </a:p>
        </p:txBody>
      </p:sp>
      <p:sp>
        <p:nvSpPr>
          <p:cNvPr id="8" name="TextBox 7"/>
          <p:cNvSpPr txBox="1"/>
          <p:nvPr/>
        </p:nvSpPr>
        <p:spPr>
          <a:xfrm>
            <a:off x="4791455" y="4800600"/>
            <a:ext cx="78638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−8 dB</a:t>
            </a:r>
          </a:p>
        </p:txBody>
      </p:sp>
      <p:sp>
        <p:nvSpPr>
          <p:cNvPr id="9" name="TextBox 8"/>
          <p:cNvSpPr txBox="1"/>
          <p:nvPr/>
        </p:nvSpPr>
        <p:spPr>
          <a:xfrm>
            <a:off x="5797296" y="4800600"/>
            <a:ext cx="78638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−4 dB</a:t>
            </a:r>
          </a:p>
        </p:txBody>
      </p:sp>
      <p:sp>
        <p:nvSpPr>
          <p:cNvPr id="10" name="TextBox 9"/>
          <p:cNvSpPr txBox="1"/>
          <p:nvPr/>
        </p:nvSpPr>
        <p:spPr>
          <a:xfrm>
            <a:off x="6803136" y="4800600"/>
            <a:ext cx="78638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0 dB</a:t>
            </a:r>
          </a:p>
        </p:txBody>
      </p:sp>
      <p:sp>
        <p:nvSpPr>
          <p:cNvPr id="11" name="TextBox 10"/>
          <p:cNvSpPr txBox="1"/>
          <p:nvPr/>
        </p:nvSpPr>
        <p:spPr>
          <a:xfrm>
            <a:off x="7808976" y="4800600"/>
            <a:ext cx="78638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+9 dB</a:t>
            </a:r>
          </a:p>
        </p:txBody>
      </p:sp>
      <p:sp>
        <p:nvSpPr>
          <p:cNvPr id="12" name="TextBox 11"/>
          <p:cNvSpPr txBox="1"/>
          <p:nvPr/>
        </p:nvSpPr>
        <p:spPr>
          <a:xfrm>
            <a:off x="8814816" y="4800600"/>
            <a:ext cx="78638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+18 dB</a:t>
            </a:r>
          </a:p>
        </p:txBody>
      </p:sp>
      <p:sp>
        <p:nvSpPr>
          <p:cNvPr id="13" name="Rectangle 12"/>
          <p:cNvSpPr/>
          <p:nvPr/>
        </p:nvSpPr>
        <p:spPr>
          <a:xfrm>
            <a:off x="2011680" y="5084064"/>
            <a:ext cx="7680960" cy="420624"/>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9696" y="5184648"/>
            <a:ext cx="2432304" cy="256032"/>
          </a:xfrm>
          <a:prstGeom prst="rect">
            <a:avLst/>
          </a:prstGeom>
          <a:noFill/>
        </p:spPr>
        <p:txBody>
          <a:bodyPr wrap="square" lIns="45720" rIns="45720" anchor="ctr">
            <a:spAutoFit/>
          </a:bodyPr>
          <a:lstStyle/>
          <a:p>
            <a:pPr algn="l">
              <a:lnSpc>
                <a:spcPct val="100000"/>
              </a:lnSpc>
              <a:spcBef>
                <a:spcPts val="0"/>
              </a:spcBef>
              <a:spcAft>
                <a:spcPts val="0"/>
              </a:spcAft>
            </a:pPr>
            <a:r>
              <a:rPr sz="1150" b="1" i="0">
                <a:solidFill>
                  <a:srgbClr val="111111"/>
                </a:solidFill>
                <a:latin typeface="Arial"/>
              </a:rPr>
              <a:t>Random each time</a:t>
            </a:r>
          </a:p>
        </p:txBody>
      </p:sp>
      <p:sp>
        <p:nvSpPr>
          <p:cNvPr id="15" name="TextBox 14"/>
          <p:cNvSpPr txBox="1"/>
          <p:nvPr/>
        </p:nvSpPr>
        <p:spPr>
          <a:xfrm>
            <a:off x="4791455" y="5184648"/>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77.0</a:t>
            </a:r>
          </a:p>
        </p:txBody>
      </p:sp>
      <p:sp>
        <p:nvSpPr>
          <p:cNvPr id="16" name="TextBox 15"/>
          <p:cNvSpPr txBox="1"/>
          <p:nvPr/>
        </p:nvSpPr>
        <p:spPr>
          <a:xfrm>
            <a:off x="5797296" y="5184648"/>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82.4</a:t>
            </a:r>
          </a:p>
        </p:txBody>
      </p:sp>
      <p:sp>
        <p:nvSpPr>
          <p:cNvPr id="17" name="TextBox 16"/>
          <p:cNvSpPr txBox="1"/>
          <p:nvPr/>
        </p:nvSpPr>
        <p:spPr>
          <a:xfrm>
            <a:off x="6803136" y="5184648"/>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83.0</a:t>
            </a:r>
          </a:p>
        </p:txBody>
      </p:sp>
      <p:sp>
        <p:nvSpPr>
          <p:cNvPr id="18" name="TextBox 17"/>
          <p:cNvSpPr txBox="1"/>
          <p:nvPr/>
        </p:nvSpPr>
        <p:spPr>
          <a:xfrm>
            <a:off x="7808976" y="5184648"/>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84.1</a:t>
            </a:r>
          </a:p>
        </p:txBody>
      </p:sp>
      <p:sp>
        <p:nvSpPr>
          <p:cNvPr id="19" name="TextBox 18"/>
          <p:cNvSpPr txBox="1"/>
          <p:nvPr/>
        </p:nvSpPr>
        <p:spPr>
          <a:xfrm>
            <a:off x="8814816" y="5184648"/>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83.9</a:t>
            </a:r>
          </a:p>
        </p:txBody>
      </p:sp>
      <p:sp>
        <p:nvSpPr>
          <p:cNvPr id="20" name="Rectangle 19"/>
          <p:cNvSpPr/>
          <p:nvPr/>
        </p:nvSpPr>
        <p:spPr>
          <a:xfrm>
            <a:off x="2011680" y="5504688"/>
            <a:ext cx="768096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39696" y="5605272"/>
            <a:ext cx="24323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One fixed strength</a:t>
            </a:r>
          </a:p>
        </p:txBody>
      </p:sp>
      <p:sp>
        <p:nvSpPr>
          <p:cNvPr id="22" name="TextBox 21"/>
          <p:cNvSpPr txBox="1"/>
          <p:nvPr/>
        </p:nvSpPr>
        <p:spPr>
          <a:xfrm>
            <a:off x="4791455" y="5605272"/>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72.8</a:t>
            </a:r>
          </a:p>
        </p:txBody>
      </p:sp>
      <p:sp>
        <p:nvSpPr>
          <p:cNvPr id="23" name="TextBox 22"/>
          <p:cNvSpPr txBox="1"/>
          <p:nvPr/>
        </p:nvSpPr>
        <p:spPr>
          <a:xfrm>
            <a:off x="5797296" y="5605272"/>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79.4</a:t>
            </a:r>
          </a:p>
        </p:txBody>
      </p:sp>
      <p:sp>
        <p:nvSpPr>
          <p:cNvPr id="24" name="TextBox 23"/>
          <p:cNvSpPr txBox="1"/>
          <p:nvPr/>
        </p:nvSpPr>
        <p:spPr>
          <a:xfrm>
            <a:off x="6803136" y="5605272"/>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81.2</a:t>
            </a:r>
          </a:p>
        </p:txBody>
      </p:sp>
      <p:sp>
        <p:nvSpPr>
          <p:cNvPr id="25" name="TextBox 24"/>
          <p:cNvSpPr txBox="1"/>
          <p:nvPr/>
        </p:nvSpPr>
        <p:spPr>
          <a:xfrm>
            <a:off x="7808976" y="5605272"/>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83.8</a:t>
            </a:r>
          </a:p>
        </p:txBody>
      </p:sp>
      <p:sp>
        <p:nvSpPr>
          <p:cNvPr id="26" name="TextBox 25"/>
          <p:cNvSpPr txBox="1"/>
          <p:nvPr/>
        </p:nvSpPr>
        <p:spPr>
          <a:xfrm>
            <a:off x="8814816" y="5605272"/>
            <a:ext cx="78638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83.4</a:t>
            </a:r>
          </a:p>
        </p:txBody>
      </p:sp>
      <p:cxnSp>
        <p:nvCxnSpPr>
          <p:cNvPr id="27" name="Connector 26"/>
          <p:cNvCxnSpPr/>
          <p:nvPr/>
        </p:nvCxnSpPr>
        <p:spPr>
          <a:xfrm>
            <a:off x="4663440" y="4700016"/>
            <a:ext cx="0" cy="1225296"/>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669280" y="4700016"/>
            <a:ext cx="0" cy="1225296"/>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675120" y="4700016"/>
            <a:ext cx="0" cy="1225296"/>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0960" y="4700016"/>
            <a:ext cx="0" cy="1225296"/>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686800" y="4700016"/>
            <a:ext cx="0" cy="1225296"/>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58368" y="5998464"/>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58368" y="6053328"/>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Two separately trained models from one run. This is not a measure of how much results vary between runs.</a:t>
            </a:r>
          </a:p>
        </p:txBody>
      </p:sp>
      <p:cxnSp>
        <p:nvCxnSpPr>
          <p:cNvPr id="34" name="Connector 33"/>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36" name="TextBox 35"/>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Two separately trained versions of the learned system</a:t>
            </a:r>
          </a:p>
        </p:txBody>
      </p:sp>
      <p:sp>
        <p:nvSpPr>
          <p:cNvPr id="37" name="TextBox 36"/>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The control that keeps the comparison honest</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If we had only compared against a normal compressed image, the weak-signal story would be too easy to believe.</a:t>
            </a:r>
          </a:p>
        </p:txBody>
      </p:sp>
      <p:pic>
        <p:nvPicPr>
          <p:cNvPr id="5" name="Picture 4" descr="05_task_aware_digital.png"/>
          <p:cNvPicPr>
            <a:picLocks noChangeAspect="1"/>
          </p:cNvPicPr>
          <p:nvPr/>
        </p:nvPicPr>
        <p:blipFill>
          <a:blip r:embed="rId2"/>
          <a:stretch>
            <a:fillRect/>
          </a:stretch>
        </p:blipFill>
        <p:spPr>
          <a:xfrm>
            <a:off x="3074323" y="1645920"/>
            <a:ext cx="6043048" cy="3054095"/>
          </a:xfrm>
          <a:prstGeom prst="rect">
            <a:avLst/>
          </a:prstGeom>
        </p:spPr>
      </p:pic>
      <p:sp>
        <p:nvSpPr>
          <p:cNvPr id="6" name="TextBox 5"/>
          <p:cNvSpPr txBox="1"/>
          <p:nvPr/>
        </p:nvSpPr>
        <p:spPr>
          <a:xfrm>
            <a:off x="658368" y="4864608"/>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What this arm does</a:t>
            </a:r>
          </a:p>
        </p:txBody>
      </p:sp>
      <p:sp>
        <p:nvSpPr>
          <p:cNvPr id="7" name="TextBox 6"/>
          <p:cNvSpPr txBox="1"/>
          <p:nvPr/>
        </p:nvSpPr>
        <p:spPr>
          <a:xfrm>
            <a:off x="2578608" y="4846320"/>
            <a:ext cx="8823960" cy="62179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Instead of a JPEG image it sends the learned features themselves, through the same error-correction code and radio settings, using the same 12,800 uses of the radio. It separates “knows the task” from “codes both at once”.</a:t>
            </a:r>
          </a:p>
        </p:txBody>
      </p:sp>
      <p:cxnSp>
        <p:nvCxnSpPr>
          <p:cNvPr id="8" name="Connector 7"/>
          <p:cNvCxnSpPr/>
          <p:nvPr/>
        </p:nvCxnSpPr>
        <p:spPr>
          <a:xfrm>
            <a:off x="658368" y="541324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541264"/>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What it settles</a:t>
            </a:r>
          </a:p>
        </p:txBody>
      </p:sp>
      <p:sp>
        <p:nvSpPr>
          <p:cNvPr id="10" name="TextBox 9"/>
          <p:cNvSpPr txBox="1"/>
          <p:nvPr/>
        </p:nvSpPr>
        <p:spPr>
          <a:xfrm>
            <a:off x="2578608" y="5522976"/>
            <a:ext cx="8823960" cy="621792"/>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It holds 82.0% at every strength from −4 dB up. Sending learned features digitally is strong once pictures get through, so the weak-signal gap is about failed deliveries as much as representation. It does not isolate the error-correction code.</a:t>
            </a:r>
          </a:p>
        </p:txBody>
      </p:sp>
      <p:cxnSp>
        <p:nvCxnSpPr>
          <p:cNvPr id="11" name="Connector 10"/>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13" name="TextBox 12"/>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Same radio time, same error-correction code, same modulation</a:t>
            </a:r>
          </a:p>
        </p:txBody>
      </p:sp>
      <p:sp>
        <p:nvSpPr>
          <p:cNvPr id="14" name="TextBox 13"/>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Keeping the signal peaks from getting too tall</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400" b="1" i="0">
                <a:solidFill>
                  <a:srgbClr val="111111"/>
                </a:solidFill>
                <a:latin typeface="Arial"/>
              </a:rPr>
              <a:t>A real transmitter cannot send a signal with tall spikes, so we trained a second model under that limit.</a:t>
            </a:r>
          </a:p>
        </p:txBody>
      </p:sp>
      <p:pic>
        <p:nvPicPr>
          <p:cNvPr id="5" name="Picture 4" descr="06_papr_tradeoff.png"/>
          <p:cNvPicPr>
            <a:picLocks noChangeAspect="1"/>
          </p:cNvPicPr>
          <p:nvPr/>
        </p:nvPicPr>
        <p:blipFill>
          <a:blip r:embed="rId2"/>
          <a:stretch>
            <a:fillRect/>
          </a:stretch>
        </p:blipFill>
        <p:spPr>
          <a:xfrm>
            <a:off x="3050788" y="1645920"/>
            <a:ext cx="6090118" cy="2468880"/>
          </a:xfrm>
          <a:prstGeom prst="rect">
            <a:avLst/>
          </a:prstGeom>
        </p:spPr>
      </p:pic>
      <p:sp>
        <p:nvSpPr>
          <p:cNvPr id="6" name="TextBox 5"/>
          <p:cNvSpPr txBox="1"/>
          <p:nvPr/>
        </p:nvSpPr>
        <p:spPr>
          <a:xfrm>
            <a:off x="658368" y="4224528"/>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100" b="0" i="1">
                <a:solidFill>
                  <a:srgbClr val="555555"/>
                </a:solidFill>
                <a:latin typeface="Arial"/>
              </a:rPr>
              <a:t>“Peak-to-average power ratio” = how much taller the tallest spike is than the average.</a:t>
            </a:r>
          </a:p>
        </p:txBody>
      </p:sp>
      <p:sp>
        <p:nvSpPr>
          <p:cNvPr id="7" name="Rectangle 6"/>
          <p:cNvSpPr/>
          <p:nvPr/>
        </p:nvSpPr>
        <p:spPr>
          <a:xfrm>
            <a:off x="1463040" y="4590288"/>
            <a:ext cx="8321040" cy="384048"/>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91056" y="4690872"/>
            <a:ext cx="2889504" cy="219456"/>
          </a:xfrm>
          <a:prstGeom prst="rect">
            <a:avLst/>
          </a:prstGeom>
          <a:noFill/>
        </p:spPr>
        <p:txBody>
          <a:bodyPr wrap="square" lIns="45720" rIns="45720" anchor="ctr">
            <a:spAutoFit/>
          </a:bodyPr>
          <a:lstStyle/>
          <a:p>
            <a:pPr algn="l">
              <a:lnSpc>
                <a:spcPct val="100000"/>
              </a:lnSpc>
              <a:spcBef>
                <a:spcPts val="0"/>
              </a:spcBef>
              <a:spcAft>
                <a:spcPts val="0"/>
              </a:spcAft>
            </a:pPr>
            <a:r>
              <a:rPr sz="1050" b="1" i="0">
                <a:solidFill>
                  <a:srgbClr val="111111"/>
                </a:solidFill>
                <a:latin typeface="Arial"/>
              </a:rPr>
              <a:t>Model</a:t>
            </a:r>
          </a:p>
        </p:txBody>
      </p:sp>
      <p:sp>
        <p:nvSpPr>
          <p:cNvPr id="9" name="TextBox 8"/>
          <p:cNvSpPr txBox="1"/>
          <p:nvPr/>
        </p:nvSpPr>
        <p:spPr>
          <a:xfrm>
            <a:off x="4700016" y="4690872"/>
            <a:ext cx="151790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Tallest spike</a:t>
            </a:r>
          </a:p>
        </p:txBody>
      </p:sp>
      <p:sp>
        <p:nvSpPr>
          <p:cNvPr id="10" name="TextBox 9"/>
          <p:cNvSpPr txBox="1"/>
          <p:nvPr/>
        </p:nvSpPr>
        <p:spPr>
          <a:xfrm>
            <a:off x="6437376" y="4690872"/>
            <a:ext cx="151790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At −8 dB</a:t>
            </a:r>
          </a:p>
        </p:txBody>
      </p:sp>
      <p:sp>
        <p:nvSpPr>
          <p:cNvPr id="11" name="TextBox 10"/>
          <p:cNvSpPr txBox="1"/>
          <p:nvPr/>
        </p:nvSpPr>
        <p:spPr>
          <a:xfrm>
            <a:off x="8174736" y="4690872"/>
            <a:ext cx="1517904" cy="219456"/>
          </a:xfrm>
          <a:prstGeom prst="rect">
            <a:avLst/>
          </a:prstGeom>
          <a:noFill/>
        </p:spPr>
        <p:txBody>
          <a:bodyPr wrap="square" lIns="45720" rIns="45720" anchor="ctr">
            <a:spAutoFit/>
          </a:bodyPr>
          <a:lstStyle/>
          <a:p>
            <a:pPr algn="ctr">
              <a:lnSpc>
                <a:spcPct val="100000"/>
              </a:lnSpc>
              <a:spcBef>
                <a:spcPts val="0"/>
              </a:spcBef>
              <a:spcAft>
                <a:spcPts val="0"/>
              </a:spcAft>
            </a:pPr>
            <a:r>
              <a:rPr sz="1050" b="1" i="0">
                <a:solidFill>
                  <a:srgbClr val="111111"/>
                </a:solidFill>
                <a:latin typeface="Arial"/>
              </a:rPr>
              <a:t>At +18 dB</a:t>
            </a:r>
          </a:p>
        </p:txBody>
      </p:sp>
      <p:sp>
        <p:nvSpPr>
          <p:cNvPr id="12" name="Rectangle 11"/>
          <p:cNvSpPr/>
          <p:nvPr/>
        </p:nvSpPr>
        <p:spPr>
          <a:xfrm>
            <a:off x="1463040" y="4974336"/>
            <a:ext cx="8321040" cy="420624"/>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5074920"/>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1" i="0">
                <a:solidFill>
                  <a:srgbClr val="111111"/>
                </a:solidFill>
                <a:latin typeface="Arial"/>
              </a:rPr>
              <a:t>Power-limited</a:t>
            </a:r>
          </a:p>
        </p:txBody>
      </p:sp>
      <p:sp>
        <p:nvSpPr>
          <p:cNvPr id="14" name="TextBox 13"/>
          <p:cNvSpPr txBox="1"/>
          <p:nvPr/>
        </p:nvSpPr>
        <p:spPr>
          <a:xfrm>
            <a:off x="4700016" y="5074920"/>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3.000002 dB</a:t>
            </a:r>
          </a:p>
        </p:txBody>
      </p:sp>
      <p:sp>
        <p:nvSpPr>
          <p:cNvPr id="15" name="TextBox 14"/>
          <p:cNvSpPr txBox="1"/>
          <p:nvPr/>
        </p:nvSpPr>
        <p:spPr>
          <a:xfrm>
            <a:off x="6437376" y="5074920"/>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75.9%</a:t>
            </a:r>
          </a:p>
        </p:txBody>
      </p:sp>
      <p:sp>
        <p:nvSpPr>
          <p:cNvPr id="16" name="TextBox 15"/>
          <p:cNvSpPr txBox="1"/>
          <p:nvPr/>
        </p:nvSpPr>
        <p:spPr>
          <a:xfrm>
            <a:off x="8174736" y="5074920"/>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1" i="0">
                <a:solidFill>
                  <a:srgbClr val="111111"/>
                </a:solidFill>
                <a:latin typeface="Arial"/>
              </a:rPr>
              <a:t>83.2%</a:t>
            </a:r>
          </a:p>
        </p:txBody>
      </p:sp>
      <p:sp>
        <p:nvSpPr>
          <p:cNvPr id="17" name="Rectangle 16"/>
          <p:cNvSpPr/>
          <p:nvPr/>
        </p:nvSpPr>
        <p:spPr>
          <a:xfrm>
            <a:off x="1463040" y="5394959"/>
            <a:ext cx="8321040" cy="420624"/>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91056" y="5495544"/>
            <a:ext cx="2889504" cy="256032"/>
          </a:xfrm>
          <a:prstGeom prst="rect">
            <a:avLst/>
          </a:prstGeom>
          <a:noFill/>
        </p:spPr>
        <p:txBody>
          <a:bodyPr wrap="square" lIns="45720" rIns="45720" anchor="ctr">
            <a:spAutoFit/>
          </a:bodyPr>
          <a:lstStyle/>
          <a:p>
            <a:pPr algn="l">
              <a:lnSpc>
                <a:spcPct val="100000"/>
              </a:lnSpc>
              <a:spcBef>
                <a:spcPts val="0"/>
              </a:spcBef>
              <a:spcAft>
                <a:spcPts val="0"/>
              </a:spcAft>
            </a:pPr>
            <a:r>
              <a:rPr sz="1150" b="0" i="0">
                <a:solidFill>
                  <a:srgbClr val="555555"/>
                </a:solidFill>
                <a:latin typeface="Arial"/>
              </a:rPr>
              <a:t>Ordinary learned</a:t>
            </a:r>
          </a:p>
        </p:txBody>
      </p:sp>
      <p:sp>
        <p:nvSpPr>
          <p:cNvPr id="19" name="TextBox 18"/>
          <p:cNvSpPr txBox="1"/>
          <p:nvPr/>
        </p:nvSpPr>
        <p:spPr>
          <a:xfrm>
            <a:off x="4700016" y="5495544"/>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20.059284 dB</a:t>
            </a:r>
          </a:p>
        </p:txBody>
      </p:sp>
      <p:sp>
        <p:nvSpPr>
          <p:cNvPr id="20" name="TextBox 19"/>
          <p:cNvSpPr txBox="1"/>
          <p:nvPr/>
        </p:nvSpPr>
        <p:spPr>
          <a:xfrm>
            <a:off x="6437376" y="5495544"/>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72.8%</a:t>
            </a:r>
          </a:p>
        </p:txBody>
      </p:sp>
      <p:sp>
        <p:nvSpPr>
          <p:cNvPr id="21" name="TextBox 20"/>
          <p:cNvSpPr txBox="1"/>
          <p:nvPr/>
        </p:nvSpPr>
        <p:spPr>
          <a:xfrm>
            <a:off x="8174736" y="5495544"/>
            <a:ext cx="1517904" cy="256032"/>
          </a:xfrm>
          <a:prstGeom prst="rect">
            <a:avLst/>
          </a:prstGeom>
          <a:noFill/>
        </p:spPr>
        <p:txBody>
          <a:bodyPr wrap="square" lIns="45720" rIns="45720" anchor="ctr">
            <a:spAutoFit/>
          </a:bodyPr>
          <a:lstStyle/>
          <a:p>
            <a:pPr algn="ctr">
              <a:lnSpc>
                <a:spcPct val="100000"/>
              </a:lnSpc>
              <a:spcBef>
                <a:spcPts val="0"/>
              </a:spcBef>
              <a:spcAft>
                <a:spcPts val="0"/>
              </a:spcAft>
            </a:pPr>
            <a:r>
              <a:rPr sz="1150" b="0" i="0">
                <a:solidFill>
                  <a:srgbClr val="555555"/>
                </a:solidFill>
                <a:latin typeface="Arial"/>
              </a:rPr>
              <a:t>83.4%</a:t>
            </a:r>
          </a:p>
        </p:txBody>
      </p:sp>
      <p:cxnSp>
        <p:nvCxnSpPr>
          <p:cNvPr id="22" name="Connector 21"/>
          <p:cNvCxnSpPr/>
          <p:nvPr/>
        </p:nvCxnSpPr>
        <p:spPr>
          <a:xfrm>
            <a:off x="4572000" y="4590288"/>
            <a:ext cx="0" cy="1225295"/>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09360" y="4590288"/>
            <a:ext cx="0" cy="1225295"/>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046719" y="4590288"/>
            <a:ext cx="0" cy="1225295"/>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58368" y="6053328"/>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108192"/>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This measures the numbers we put on the radio, not a real amplifier. The limited model is a separate training run, so the gap is not a clean penalty for the limit.</a:t>
            </a:r>
          </a:p>
        </p:txBody>
      </p:sp>
      <p:cxnSp>
        <p:nvCxnSpPr>
          <p:cNvPr id="27" name="Connector 26"/>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29" name="TextBox 28"/>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Peak-to-average power ratio, measured on the numbers we send</a:t>
            </a:r>
          </a:p>
        </p:txBody>
      </p:sp>
      <p:sp>
        <p:nvSpPr>
          <p:cNvPr id="30" name="TextBox 29"/>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Four controls, including one that went against us</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111111"/>
                </a:solidFill>
                <a:latin typeface="Arial"/>
              </a:rPr>
              <a:t>Each panel takes one design choice away from the digital system and shows what it was worth.</a:t>
            </a:r>
          </a:p>
        </p:txBody>
      </p:sp>
      <p:pic>
        <p:nvPicPr>
          <p:cNvPr id="5" name="Picture 4" descr="07_secondary_controls.png"/>
          <p:cNvPicPr>
            <a:picLocks noChangeAspect="1"/>
          </p:cNvPicPr>
          <p:nvPr/>
        </p:nvPicPr>
        <p:blipFill>
          <a:blip r:embed="rId2"/>
          <a:stretch>
            <a:fillRect/>
          </a:stretch>
        </p:blipFill>
        <p:spPr>
          <a:xfrm>
            <a:off x="4388307" y="1609344"/>
            <a:ext cx="3415079" cy="2487168"/>
          </a:xfrm>
          <a:prstGeom prst="rect">
            <a:avLst/>
          </a:prstGeom>
        </p:spPr>
      </p:pic>
      <p:sp>
        <p:nvSpPr>
          <p:cNvPr id="6" name="TextBox 5"/>
          <p:cNvSpPr txBox="1"/>
          <p:nvPr/>
        </p:nvSpPr>
        <p:spPr>
          <a:xfrm>
            <a:off x="658368" y="4315968"/>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Fixed settings</a:t>
            </a:r>
          </a:p>
        </p:txBody>
      </p:sp>
      <p:sp>
        <p:nvSpPr>
          <p:cNvPr id="7" name="TextBox 6"/>
          <p:cNvSpPr txBox="1"/>
          <p:nvPr/>
        </p:nvSpPr>
        <p:spPr>
          <a:xfrm>
            <a:off x="2578608" y="4297680"/>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No delivery until +6 dB, then 89.0%. Choosing settings per signal strength buys real reach.</a:t>
            </a:r>
          </a:p>
        </p:txBody>
      </p:sp>
      <p:cxnSp>
        <p:nvCxnSpPr>
          <p:cNvPr id="8" name="Connector 7"/>
          <p:cNvCxnSpPr/>
          <p:nvPr/>
        </p:nvCxnSpPr>
        <p:spPr>
          <a:xfrm>
            <a:off x="658368" y="4645152"/>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4773168"/>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Fixed modulation</a:t>
            </a:r>
          </a:p>
        </p:txBody>
      </p:sp>
      <p:sp>
        <p:nvSpPr>
          <p:cNvPr id="10" name="TextBox 9"/>
          <p:cNvSpPr txBox="1"/>
          <p:nvPr/>
        </p:nvSpPr>
        <p:spPr>
          <a:xfrm>
            <a:off x="2578608" y="4754880"/>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Starts working later than adaptive selection, and settles near 88.7%.</a:t>
            </a:r>
          </a:p>
        </p:txBody>
      </p:sp>
      <p:cxnSp>
        <p:nvCxnSpPr>
          <p:cNvPr id="11" name="Connector 10"/>
          <p:cNvCxnSpPr/>
          <p:nvPr/>
        </p:nvCxnSpPr>
        <p:spPr>
          <a:xfrm>
            <a:off x="658368" y="5102352"/>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5230368"/>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JPEG, not JPEG 2000</a:t>
            </a:r>
          </a:p>
        </p:txBody>
      </p:sp>
      <p:sp>
        <p:nvSpPr>
          <p:cNvPr id="13" name="TextBox 12"/>
          <p:cNvSpPr txBox="1"/>
          <p:nvPr/>
        </p:nvSpPr>
        <p:spPr>
          <a:xfrm>
            <a:off x="2578608" y="5212080"/>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88.6% at +18 dB, and a real point at +9 dB where nothing arrived. We kept it in.</a:t>
            </a:r>
          </a:p>
        </p:txBody>
      </p:sp>
      <p:cxnSp>
        <p:nvCxnSpPr>
          <p:cNvPr id="14" name="Connector 13"/>
          <p:cNvCxnSpPr/>
          <p:nvPr/>
        </p:nvCxnSpPr>
        <p:spPr>
          <a:xfrm>
            <a:off x="658368" y="5559552"/>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5687568"/>
            <a:ext cx="1828800"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Sending the answer</a:t>
            </a:r>
          </a:p>
        </p:txBody>
      </p:sp>
      <p:sp>
        <p:nvSpPr>
          <p:cNvPr id="16" name="TextBox 15"/>
          <p:cNvSpPr txBox="1"/>
          <p:nvPr/>
        </p:nvSpPr>
        <p:spPr>
          <a:xfrm>
            <a:off x="2578608" y="5669280"/>
            <a:ext cx="8823960" cy="402336"/>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82.0% once it arrives. That is a label the sender guessed, not the true answer.</a:t>
            </a:r>
          </a:p>
        </p:txBody>
      </p:sp>
      <p:cxnSp>
        <p:nvCxnSpPr>
          <p:cNvPr id="17" name="Connector 16"/>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19" name="TextBox 18"/>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Settings, image format, sending the answer, rebuilding the picture</a:t>
            </a:r>
          </a:p>
        </p:txBody>
      </p:sp>
      <p:sp>
        <p:nvSpPr>
          <p:cNvPr id="20" name="TextBox 19"/>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Why the digital line breaks where it does</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58368" y="1280160"/>
            <a:ext cx="5669280" cy="292608"/>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The score only moves when the pictures start or stop arriving.</a:t>
            </a:r>
          </a:p>
        </p:txBody>
      </p:sp>
      <p:pic>
        <p:nvPicPr>
          <p:cNvPr id="5" name="Picture 4" descr="08_delivery_coverage.png"/>
          <p:cNvPicPr>
            <a:picLocks noChangeAspect="1"/>
          </p:cNvPicPr>
          <p:nvPr/>
        </p:nvPicPr>
        <p:blipFill>
          <a:blip r:embed="rId2"/>
          <a:stretch>
            <a:fillRect/>
          </a:stretch>
        </p:blipFill>
        <p:spPr>
          <a:xfrm>
            <a:off x="786384" y="1682496"/>
            <a:ext cx="4858041" cy="3749039"/>
          </a:xfrm>
          <a:prstGeom prst="rect">
            <a:avLst/>
          </a:prstGeom>
        </p:spPr>
      </p:pic>
      <p:sp>
        <p:nvSpPr>
          <p:cNvPr id="6" name="TextBox 5"/>
          <p:cNvSpPr txBox="1"/>
          <p:nvPr/>
        </p:nvSpPr>
        <p:spPr>
          <a:xfrm>
            <a:off x="6729984" y="1737360"/>
            <a:ext cx="146303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The 10% is a rule</a:t>
            </a:r>
          </a:p>
        </p:txBody>
      </p:sp>
      <p:sp>
        <p:nvSpPr>
          <p:cNvPr id="7" name="TextBox 6"/>
          <p:cNvSpPr txBox="1"/>
          <p:nvPr/>
        </p:nvSpPr>
        <p:spPr>
          <a:xfrm>
            <a:off x="8284464" y="1719072"/>
            <a:ext cx="3255263" cy="10972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When nothing gets through, every picture takes the same fallback answer. On an evenly split set that is right 100 times in 1,000.</a:t>
            </a:r>
          </a:p>
        </p:txBody>
      </p:sp>
      <p:cxnSp>
        <p:nvCxnSpPr>
          <p:cNvPr id="8" name="Connector 7"/>
          <p:cNvCxnSpPr/>
          <p:nvPr/>
        </p:nvCxnSpPr>
        <p:spPr>
          <a:xfrm>
            <a:off x="6729984" y="2761488"/>
            <a:ext cx="4809744"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729984" y="2889504"/>
            <a:ext cx="146303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Outages are part of it</a:t>
            </a:r>
          </a:p>
        </p:txBody>
      </p:sp>
      <p:sp>
        <p:nvSpPr>
          <p:cNvPr id="10" name="TextBox 9"/>
          <p:cNvSpPr txBox="1"/>
          <p:nvPr/>
        </p:nvSpPr>
        <p:spPr>
          <a:xfrm>
            <a:off x="8284464" y="2871216"/>
            <a:ext cx="3255263" cy="10972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We report how many pictures arrived next to how many we got right, so a broken link is distinguishable from a wrong guess.</a:t>
            </a:r>
          </a:p>
        </p:txBody>
      </p:sp>
      <p:cxnSp>
        <p:nvCxnSpPr>
          <p:cNvPr id="11" name="Connector 10"/>
          <p:cNvCxnSpPr/>
          <p:nvPr/>
        </p:nvCxnSpPr>
        <p:spPr>
          <a:xfrm>
            <a:off x="6729984" y="3913632"/>
            <a:ext cx="4809744"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9984" y="4041648"/>
            <a:ext cx="1463039" cy="274320"/>
          </a:xfrm>
          <a:prstGeom prst="rect">
            <a:avLst/>
          </a:prstGeom>
          <a:noFill/>
        </p:spPr>
        <p:txBody>
          <a:bodyPr wrap="square" lIns="45720" rIns="45720" anchor="t">
            <a:spAutoFit/>
          </a:bodyPr>
          <a:lstStyle/>
          <a:p>
            <a:pPr algn="l">
              <a:lnSpc>
                <a:spcPct val="100000"/>
              </a:lnSpc>
              <a:spcBef>
                <a:spcPts val="0"/>
              </a:spcBef>
              <a:spcAft>
                <a:spcPts val="0"/>
              </a:spcAft>
            </a:pPr>
            <a:r>
              <a:rPr sz="1150" b="1" i="0">
                <a:solidFill>
                  <a:srgbClr val="111111"/>
                </a:solidFill>
                <a:latin typeface="Arial"/>
              </a:rPr>
              <a:t>Learned always answers</a:t>
            </a:r>
          </a:p>
        </p:txBody>
      </p:sp>
      <p:sp>
        <p:nvSpPr>
          <p:cNvPr id="13" name="TextBox 12"/>
          <p:cNvSpPr txBox="1"/>
          <p:nvPr/>
        </p:nvSpPr>
        <p:spPr>
          <a:xfrm>
            <a:off x="8284464" y="4023360"/>
            <a:ext cx="3255263" cy="10972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Its rules promise a label at every strength, which is why its line has no floor to sit on.</a:t>
            </a:r>
          </a:p>
        </p:txBody>
      </p:sp>
      <p:cxnSp>
        <p:nvCxnSpPr>
          <p:cNvPr id="14" name="Connector 13"/>
          <p:cNvCxnSpPr/>
          <p:nvPr/>
        </p:nvCxnSpPr>
        <p:spPr>
          <a:xfrm>
            <a:off x="658368" y="5888736"/>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5943600"/>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We did not add points between the ones we measured, and we did not smooth any curve to hide a step.</a:t>
            </a:r>
          </a:p>
        </p:txBody>
      </p:sp>
      <p:cxnSp>
        <p:nvCxnSpPr>
          <p:cNvPr id="16" name="Connector 1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Analytical Skills, Results</a:t>
            </a:r>
          </a:p>
        </p:txBody>
      </p:sp>
      <p:sp>
        <p:nvSpPr>
          <p:cNvPr id="18" name="TextBox 1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When pictures stop arriving, the score drops to match</a:t>
            </a:r>
          </a:p>
        </p:txBody>
      </p:sp>
      <p:sp>
        <p:nvSpPr>
          <p:cNvPr id="19" name="TextBox 1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The numbers behind the curves</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How many of the 1,000 held-back pictures we labelled correctly, one picture at a time.</a:t>
            </a:r>
          </a:p>
        </p:txBody>
      </p:sp>
      <p:sp>
        <p:nvSpPr>
          <p:cNvPr id="5" name="TextBox 4"/>
          <p:cNvSpPr txBox="1"/>
          <p:nvPr/>
        </p:nvSpPr>
        <p:spPr>
          <a:xfrm>
            <a:off x="658368" y="1609344"/>
            <a:ext cx="5303520"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Half rate — 12,800 uses of the radio</a:t>
            </a:r>
          </a:p>
        </p:txBody>
      </p:sp>
      <p:sp>
        <p:nvSpPr>
          <p:cNvPr id="6" name="Rectangle 5"/>
          <p:cNvSpPr/>
          <p:nvPr/>
        </p:nvSpPr>
        <p:spPr>
          <a:xfrm>
            <a:off x="566928" y="1883664"/>
            <a:ext cx="5157216" cy="365760"/>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 y="1984248"/>
            <a:ext cx="1609344" cy="201168"/>
          </a:xfrm>
          <a:prstGeom prst="rect">
            <a:avLst/>
          </a:prstGeom>
          <a:noFill/>
        </p:spPr>
        <p:txBody>
          <a:bodyPr wrap="square" lIns="45720" rIns="45720" anchor="ctr">
            <a:spAutoFit/>
          </a:bodyPr>
          <a:lstStyle/>
          <a:p>
            <a:pPr algn="l">
              <a:lnSpc>
                <a:spcPct val="100000"/>
              </a:lnSpc>
              <a:spcBef>
                <a:spcPts val="0"/>
              </a:spcBef>
              <a:spcAft>
                <a:spcPts val="0"/>
              </a:spcAft>
            </a:pPr>
            <a:r>
              <a:rPr sz="1000" b="1" i="0">
                <a:solidFill>
                  <a:srgbClr val="111111"/>
                </a:solidFill>
                <a:latin typeface="Arial"/>
              </a:rPr>
              <a:t>System</a:t>
            </a:r>
          </a:p>
        </p:txBody>
      </p:sp>
      <p:sp>
        <p:nvSpPr>
          <p:cNvPr id="8" name="TextBox 7"/>
          <p:cNvSpPr txBox="1"/>
          <p:nvPr/>
        </p:nvSpPr>
        <p:spPr>
          <a:xfrm>
            <a:off x="252374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−8</a:t>
            </a:r>
          </a:p>
        </p:txBody>
      </p:sp>
      <p:sp>
        <p:nvSpPr>
          <p:cNvPr id="9" name="TextBox 8"/>
          <p:cNvSpPr txBox="1"/>
          <p:nvPr/>
        </p:nvSpPr>
        <p:spPr>
          <a:xfrm>
            <a:off x="307238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−5</a:t>
            </a:r>
          </a:p>
        </p:txBody>
      </p:sp>
      <p:sp>
        <p:nvSpPr>
          <p:cNvPr id="10" name="TextBox 9"/>
          <p:cNvSpPr txBox="1"/>
          <p:nvPr/>
        </p:nvSpPr>
        <p:spPr>
          <a:xfrm>
            <a:off x="362102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−4</a:t>
            </a:r>
          </a:p>
        </p:txBody>
      </p:sp>
      <p:sp>
        <p:nvSpPr>
          <p:cNvPr id="11" name="TextBox 10"/>
          <p:cNvSpPr txBox="1"/>
          <p:nvPr/>
        </p:nvSpPr>
        <p:spPr>
          <a:xfrm>
            <a:off x="4169663"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0</a:t>
            </a:r>
          </a:p>
        </p:txBody>
      </p:sp>
      <p:sp>
        <p:nvSpPr>
          <p:cNvPr id="12" name="TextBox 11"/>
          <p:cNvSpPr txBox="1"/>
          <p:nvPr/>
        </p:nvSpPr>
        <p:spPr>
          <a:xfrm>
            <a:off x="471830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+9</a:t>
            </a:r>
          </a:p>
        </p:txBody>
      </p:sp>
      <p:sp>
        <p:nvSpPr>
          <p:cNvPr id="13" name="TextBox 12"/>
          <p:cNvSpPr txBox="1"/>
          <p:nvPr/>
        </p:nvSpPr>
        <p:spPr>
          <a:xfrm>
            <a:off x="5266944" y="1984248"/>
            <a:ext cx="365760"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+18</a:t>
            </a:r>
          </a:p>
        </p:txBody>
      </p:sp>
      <p:sp>
        <p:nvSpPr>
          <p:cNvPr id="14" name="Rectangle 13"/>
          <p:cNvSpPr/>
          <p:nvPr/>
        </p:nvSpPr>
        <p:spPr>
          <a:xfrm>
            <a:off x="566928" y="2249424"/>
            <a:ext cx="5157216" cy="402336"/>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 y="2350008"/>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1" i="0">
                <a:solidFill>
                  <a:srgbClr val="111111"/>
                </a:solidFill>
                <a:latin typeface="Arial"/>
              </a:rPr>
              <a:t>Learned, one strength</a:t>
            </a:r>
          </a:p>
        </p:txBody>
      </p:sp>
      <p:sp>
        <p:nvSpPr>
          <p:cNvPr id="16" name="TextBox 15"/>
          <p:cNvSpPr txBox="1"/>
          <p:nvPr/>
        </p:nvSpPr>
        <p:spPr>
          <a:xfrm>
            <a:off x="252374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72.8</a:t>
            </a:r>
          </a:p>
        </p:txBody>
      </p:sp>
      <p:sp>
        <p:nvSpPr>
          <p:cNvPr id="17" name="TextBox 16"/>
          <p:cNvSpPr txBox="1"/>
          <p:nvPr/>
        </p:nvSpPr>
        <p:spPr>
          <a:xfrm>
            <a:off x="307238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77.5</a:t>
            </a:r>
          </a:p>
        </p:txBody>
      </p:sp>
      <p:sp>
        <p:nvSpPr>
          <p:cNvPr id="18" name="TextBox 17"/>
          <p:cNvSpPr txBox="1"/>
          <p:nvPr/>
        </p:nvSpPr>
        <p:spPr>
          <a:xfrm>
            <a:off x="362102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79.4</a:t>
            </a:r>
          </a:p>
        </p:txBody>
      </p:sp>
      <p:sp>
        <p:nvSpPr>
          <p:cNvPr id="19" name="TextBox 18"/>
          <p:cNvSpPr txBox="1"/>
          <p:nvPr/>
        </p:nvSpPr>
        <p:spPr>
          <a:xfrm>
            <a:off x="4169663"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81.2</a:t>
            </a:r>
          </a:p>
        </p:txBody>
      </p:sp>
      <p:sp>
        <p:nvSpPr>
          <p:cNvPr id="20" name="TextBox 19"/>
          <p:cNvSpPr txBox="1"/>
          <p:nvPr/>
        </p:nvSpPr>
        <p:spPr>
          <a:xfrm>
            <a:off x="471830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83.8</a:t>
            </a:r>
          </a:p>
        </p:txBody>
      </p:sp>
      <p:sp>
        <p:nvSpPr>
          <p:cNvPr id="21" name="TextBox 20"/>
          <p:cNvSpPr txBox="1"/>
          <p:nvPr/>
        </p:nvSpPr>
        <p:spPr>
          <a:xfrm>
            <a:off x="5266944" y="2350008"/>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83.4</a:t>
            </a:r>
          </a:p>
        </p:txBody>
      </p:sp>
      <p:sp>
        <p:nvSpPr>
          <p:cNvPr id="22" name="Rectangle 21"/>
          <p:cNvSpPr/>
          <p:nvPr/>
        </p:nvSpPr>
        <p:spPr>
          <a:xfrm>
            <a:off x="566928" y="2651760"/>
            <a:ext cx="5157216" cy="402336"/>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2752344"/>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1" i="0">
                <a:solidFill>
                  <a:srgbClr val="111111"/>
                </a:solidFill>
                <a:latin typeface="Arial"/>
              </a:rPr>
              <a:t>Digital, picks settings</a:t>
            </a:r>
          </a:p>
        </p:txBody>
      </p:sp>
      <p:sp>
        <p:nvSpPr>
          <p:cNvPr id="24" name="TextBox 23"/>
          <p:cNvSpPr txBox="1"/>
          <p:nvPr/>
        </p:nvSpPr>
        <p:spPr>
          <a:xfrm>
            <a:off x="252374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10.0</a:t>
            </a:r>
          </a:p>
        </p:txBody>
      </p:sp>
      <p:sp>
        <p:nvSpPr>
          <p:cNvPr id="25" name="TextBox 24"/>
          <p:cNvSpPr txBox="1"/>
          <p:nvPr/>
        </p:nvSpPr>
        <p:spPr>
          <a:xfrm>
            <a:off x="307238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10.0</a:t>
            </a:r>
          </a:p>
        </p:txBody>
      </p:sp>
      <p:sp>
        <p:nvSpPr>
          <p:cNvPr id="26" name="TextBox 25"/>
          <p:cNvSpPr txBox="1"/>
          <p:nvPr/>
        </p:nvSpPr>
        <p:spPr>
          <a:xfrm>
            <a:off x="362102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83.4</a:t>
            </a:r>
          </a:p>
        </p:txBody>
      </p:sp>
      <p:sp>
        <p:nvSpPr>
          <p:cNvPr id="27" name="TextBox 26"/>
          <p:cNvSpPr txBox="1"/>
          <p:nvPr/>
        </p:nvSpPr>
        <p:spPr>
          <a:xfrm>
            <a:off x="4169663"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87.3</a:t>
            </a:r>
          </a:p>
        </p:txBody>
      </p:sp>
      <p:sp>
        <p:nvSpPr>
          <p:cNvPr id="28" name="TextBox 27"/>
          <p:cNvSpPr txBox="1"/>
          <p:nvPr/>
        </p:nvSpPr>
        <p:spPr>
          <a:xfrm>
            <a:off x="471830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86.5</a:t>
            </a:r>
          </a:p>
        </p:txBody>
      </p:sp>
      <p:sp>
        <p:nvSpPr>
          <p:cNvPr id="29" name="TextBox 28"/>
          <p:cNvSpPr txBox="1"/>
          <p:nvPr/>
        </p:nvSpPr>
        <p:spPr>
          <a:xfrm>
            <a:off x="5266944" y="2752344"/>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89.3</a:t>
            </a:r>
          </a:p>
        </p:txBody>
      </p:sp>
      <p:sp>
        <p:nvSpPr>
          <p:cNvPr id="30" name="Rectangle 29"/>
          <p:cNvSpPr/>
          <p:nvPr/>
        </p:nvSpPr>
        <p:spPr>
          <a:xfrm>
            <a:off x="566928" y="3054096"/>
            <a:ext cx="5157216" cy="40233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944" y="3154679"/>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0" i="0">
                <a:solidFill>
                  <a:srgbClr val="555555"/>
                </a:solidFill>
                <a:latin typeface="Arial"/>
              </a:rPr>
              <a:t>Learned, random</a:t>
            </a:r>
          </a:p>
        </p:txBody>
      </p:sp>
      <p:sp>
        <p:nvSpPr>
          <p:cNvPr id="32" name="TextBox 31"/>
          <p:cNvSpPr txBox="1"/>
          <p:nvPr/>
        </p:nvSpPr>
        <p:spPr>
          <a:xfrm>
            <a:off x="2523744" y="3154679"/>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77.0</a:t>
            </a:r>
          </a:p>
        </p:txBody>
      </p:sp>
      <p:sp>
        <p:nvSpPr>
          <p:cNvPr id="33" name="TextBox 32"/>
          <p:cNvSpPr txBox="1"/>
          <p:nvPr/>
        </p:nvSpPr>
        <p:spPr>
          <a:xfrm>
            <a:off x="3072384" y="3154679"/>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82.4</a:t>
            </a:r>
          </a:p>
        </p:txBody>
      </p:sp>
      <p:sp>
        <p:nvSpPr>
          <p:cNvPr id="34" name="TextBox 33"/>
          <p:cNvSpPr txBox="1"/>
          <p:nvPr/>
        </p:nvSpPr>
        <p:spPr>
          <a:xfrm>
            <a:off x="3621024" y="3154679"/>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82.4</a:t>
            </a:r>
          </a:p>
        </p:txBody>
      </p:sp>
      <p:sp>
        <p:nvSpPr>
          <p:cNvPr id="35" name="TextBox 34"/>
          <p:cNvSpPr txBox="1"/>
          <p:nvPr/>
        </p:nvSpPr>
        <p:spPr>
          <a:xfrm>
            <a:off x="4169663" y="3154679"/>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83.0</a:t>
            </a:r>
          </a:p>
        </p:txBody>
      </p:sp>
      <p:sp>
        <p:nvSpPr>
          <p:cNvPr id="36" name="TextBox 35"/>
          <p:cNvSpPr txBox="1"/>
          <p:nvPr/>
        </p:nvSpPr>
        <p:spPr>
          <a:xfrm>
            <a:off x="4718304" y="3154679"/>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84.1</a:t>
            </a:r>
          </a:p>
        </p:txBody>
      </p:sp>
      <p:sp>
        <p:nvSpPr>
          <p:cNvPr id="37" name="TextBox 36"/>
          <p:cNvSpPr txBox="1"/>
          <p:nvPr/>
        </p:nvSpPr>
        <p:spPr>
          <a:xfrm>
            <a:off x="5266944" y="3154679"/>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83.9</a:t>
            </a:r>
          </a:p>
        </p:txBody>
      </p:sp>
      <p:sp>
        <p:nvSpPr>
          <p:cNvPr id="38" name="Rectangle 37"/>
          <p:cNvSpPr/>
          <p:nvPr/>
        </p:nvSpPr>
        <p:spPr>
          <a:xfrm>
            <a:off x="566928" y="3456432"/>
            <a:ext cx="5157216" cy="40233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944" y="3557016"/>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0" i="0">
                <a:solidFill>
                  <a:srgbClr val="555555"/>
                </a:solidFill>
                <a:latin typeface="Arial"/>
              </a:rPr>
              <a:t>Digital, learned feats</a:t>
            </a:r>
          </a:p>
        </p:txBody>
      </p:sp>
      <p:sp>
        <p:nvSpPr>
          <p:cNvPr id="40" name="TextBox 39"/>
          <p:cNvSpPr txBox="1"/>
          <p:nvPr/>
        </p:nvSpPr>
        <p:spPr>
          <a:xfrm>
            <a:off x="2523744" y="3557016"/>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10.0</a:t>
            </a:r>
          </a:p>
        </p:txBody>
      </p:sp>
      <p:sp>
        <p:nvSpPr>
          <p:cNvPr id="41" name="TextBox 40"/>
          <p:cNvSpPr txBox="1"/>
          <p:nvPr/>
        </p:nvSpPr>
        <p:spPr>
          <a:xfrm>
            <a:off x="3072384" y="3557016"/>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10.0</a:t>
            </a:r>
          </a:p>
        </p:txBody>
      </p:sp>
      <p:sp>
        <p:nvSpPr>
          <p:cNvPr id="42" name="TextBox 41"/>
          <p:cNvSpPr txBox="1"/>
          <p:nvPr/>
        </p:nvSpPr>
        <p:spPr>
          <a:xfrm>
            <a:off x="3621024" y="3557016"/>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82.0</a:t>
            </a:r>
          </a:p>
        </p:txBody>
      </p:sp>
      <p:sp>
        <p:nvSpPr>
          <p:cNvPr id="43" name="TextBox 42"/>
          <p:cNvSpPr txBox="1"/>
          <p:nvPr/>
        </p:nvSpPr>
        <p:spPr>
          <a:xfrm>
            <a:off x="4169663" y="3557016"/>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82.0</a:t>
            </a:r>
          </a:p>
        </p:txBody>
      </p:sp>
      <p:sp>
        <p:nvSpPr>
          <p:cNvPr id="44" name="TextBox 43"/>
          <p:cNvSpPr txBox="1"/>
          <p:nvPr/>
        </p:nvSpPr>
        <p:spPr>
          <a:xfrm>
            <a:off x="4718304" y="3557016"/>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82.0</a:t>
            </a:r>
          </a:p>
        </p:txBody>
      </p:sp>
      <p:sp>
        <p:nvSpPr>
          <p:cNvPr id="45" name="TextBox 44"/>
          <p:cNvSpPr txBox="1"/>
          <p:nvPr/>
        </p:nvSpPr>
        <p:spPr>
          <a:xfrm>
            <a:off x="5266944" y="3557016"/>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82.0</a:t>
            </a:r>
          </a:p>
        </p:txBody>
      </p:sp>
      <p:sp>
        <p:nvSpPr>
          <p:cNvPr id="46" name="Rectangle 45"/>
          <p:cNvSpPr/>
          <p:nvPr/>
        </p:nvSpPr>
        <p:spPr>
          <a:xfrm>
            <a:off x="566928" y="3858768"/>
            <a:ext cx="5157216" cy="402336"/>
          </a:xfrm>
          <a:prstGeom prst="rect">
            <a:avLst/>
          </a:prstGeom>
          <a:solidFill>
            <a:srgbClr val="FFFFFF"/>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4944" y="3959352"/>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0" i="0">
                <a:solidFill>
                  <a:srgbClr val="555555"/>
                </a:solidFill>
                <a:latin typeface="Arial"/>
              </a:rPr>
              <a:t>Learned, power-limited</a:t>
            </a:r>
          </a:p>
        </p:txBody>
      </p:sp>
      <p:sp>
        <p:nvSpPr>
          <p:cNvPr id="48" name="TextBox 47"/>
          <p:cNvSpPr txBox="1"/>
          <p:nvPr/>
        </p:nvSpPr>
        <p:spPr>
          <a:xfrm>
            <a:off x="2523744" y="3959352"/>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75.9</a:t>
            </a:r>
          </a:p>
        </p:txBody>
      </p:sp>
      <p:sp>
        <p:nvSpPr>
          <p:cNvPr id="49" name="TextBox 48"/>
          <p:cNvSpPr txBox="1"/>
          <p:nvPr/>
        </p:nvSpPr>
        <p:spPr>
          <a:xfrm>
            <a:off x="3072384" y="3959352"/>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80.1</a:t>
            </a:r>
          </a:p>
        </p:txBody>
      </p:sp>
      <p:sp>
        <p:nvSpPr>
          <p:cNvPr id="50" name="TextBox 49"/>
          <p:cNvSpPr txBox="1"/>
          <p:nvPr/>
        </p:nvSpPr>
        <p:spPr>
          <a:xfrm>
            <a:off x="3621024" y="3959352"/>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80.5</a:t>
            </a:r>
          </a:p>
        </p:txBody>
      </p:sp>
      <p:sp>
        <p:nvSpPr>
          <p:cNvPr id="51" name="TextBox 50"/>
          <p:cNvSpPr txBox="1"/>
          <p:nvPr/>
        </p:nvSpPr>
        <p:spPr>
          <a:xfrm>
            <a:off x="4169663" y="3959352"/>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82.3</a:t>
            </a:r>
          </a:p>
        </p:txBody>
      </p:sp>
      <p:sp>
        <p:nvSpPr>
          <p:cNvPr id="52" name="TextBox 51"/>
          <p:cNvSpPr txBox="1"/>
          <p:nvPr/>
        </p:nvSpPr>
        <p:spPr>
          <a:xfrm>
            <a:off x="4718304" y="3959352"/>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83.0</a:t>
            </a:r>
          </a:p>
        </p:txBody>
      </p:sp>
      <p:sp>
        <p:nvSpPr>
          <p:cNvPr id="53" name="TextBox 52"/>
          <p:cNvSpPr txBox="1"/>
          <p:nvPr/>
        </p:nvSpPr>
        <p:spPr>
          <a:xfrm>
            <a:off x="5266944" y="3959352"/>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0" i="0">
                <a:solidFill>
                  <a:srgbClr val="555555"/>
                </a:solidFill>
                <a:latin typeface="Arial"/>
              </a:rPr>
              <a:t>83.2</a:t>
            </a:r>
          </a:p>
        </p:txBody>
      </p:sp>
      <p:cxnSp>
        <p:nvCxnSpPr>
          <p:cNvPr id="54" name="Connector 53"/>
          <p:cNvCxnSpPr/>
          <p:nvPr/>
        </p:nvCxnSpPr>
        <p:spPr>
          <a:xfrm>
            <a:off x="239572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94436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49300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04164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59028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138928" y="1883664"/>
            <a:ext cx="0" cy="237744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144768" y="1609344"/>
            <a:ext cx="5157216"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Quarter rate — 3,200 uses of the radio</a:t>
            </a:r>
          </a:p>
        </p:txBody>
      </p:sp>
      <p:sp>
        <p:nvSpPr>
          <p:cNvPr id="61" name="Rectangle 60"/>
          <p:cNvSpPr/>
          <p:nvPr/>
        </p:nvSpPr>
        <p:spPr>
          <a:xfrm>
            <a:off x="6144768" y="1883664"/>
            <a:ext cx="5157216" cy="365760"/>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72783" y="1984248"/>
            <a:ext cx="1609344" cy="201168"/>
          </a:xfrm>
          <a:prstGeom prst="rect">
            <a:avLst/>
          </a:prstGeom>
          <a:noFill/>
        </p:spPr>
        <p:txBody>
          <a:bodyPr wrap="square" lIns="45720" rIns="45720" anchor="ctr">
            <a:spAutoFit/>
          </a:bodyPr>
          <a:lstStyle/>
          <a:p>
            <a:pPr algn="l">
              <a:lnSpc>
                <a:spcPct val="100000"/>
              </a:lnSpc>
              <a:spcBef>
                <a:spcPts val="0"/>
              </a:spcBef>
              <a:spcAft>
                <a:spcPts val="0"/>
              </a:spcAft>
            </a:pPr>
            <a:r>
              <a:rPr sz="1000" b="1" i="0">
                <a:solidFill>
                  <a:srgbClr val="111111"/>
                </a:solidFill>
                <a:latin typeface="Arial"/>
              </a:rPr>
              <a:t>System</a:t>
            </a:r>
          </a:p>
        </p:txBody>
      </p:sp>
      <p:sp>
        <p:nvSpPr>
          <p:cNvPr id="63" name="TextBox 62"/>
          <p:cNvSpPr txBox="1"/>
          <p:nvPr/>
        </p:nvSpPr>
        <p:spPr>
          <a:xfrm>
            <a:off x="8101583"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−8</a:t>
            </a:r>
          </a:p>
        </p:txBody>
      </p:sp>
      <p:sp>
        <p:nvSpPr>
          <p:cNvPr id="64" name="TextBox 63"/>
          <p:cNvSpPr txBox="1"/>
          <p:nvPr/>
        </p:nvSpPr>
        <p:spPr>
          <a:xfrm>
            <a:off x="865022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−4</a:t>
            </a:r>
          </a:p>
        </p:txBody>
      </p:sp>
      <p:sp>
        <p:nvSpPr>
          <p:cNvPr id="65" name="TextBox 64"/>
          <p:cNvSpPr txBox="1"/>
          <p:nvPr/>
        </p:nvSpPr>
        <p:spPr>
          <a:xfrm>
            <a:off x="919886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−2</a:t>
            </a:r>
          </a:p>
        </p:txBody>
      </p:sp>
      <p:sp>
        <p:nvSpPr>
          <p:cNvPr id="66" name="TextBox 65"/>
          <p:cNvSpPr txBox="1"/>
          <p:nvPr/>
        </p:nvSpPr>
        <p:spPr>
          <a:xfrm>
            <a:off x="974750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0</a:t>
            </a:r>
          </a:p>
        </p:txBody>
      </p:sp>
      <p:sp>
        <p:nvSpPr>
          <p:cNvPr id="67" name="TextBox 66"/>
          <p:cNvSpPr txBox="1"/>
          <p:nvPr/>
        </p:nvSpPr>
        <p:spPr>
          <a:xfrm>
            <a:off x="10296144" y="1984248"/>
            <a:ext cx="329184"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+4</a:t>
            </a:r>
          </a:p>
        </p:txBody>
      </p:sp>
      <p:sp>
        <p:nvSpPr>
          <p:cNvPr id="68" name="TextBox 67"/>
          <p:cNvSpPr txBox="1"/>
          <p:nvPr/>
        </p:nvSpPr>
        <p:spPr>
          <a:xfrm>
            <a:off x="10844784" y="1984248"/>
            <a:ext cx="365760" cy="201168"/>
          </a:xfrm>
          <a:prstGeom prst="rect">
            <a:avLst/>
          </a:prstGeom>
          <a:noFill/>
        </p:spPr>
        <p:txBody>
          <a:bodyPr wrap="square" lIns="45720" rIns="45720" anchor="ctr">
            <a:spAutoFit/>
          </a:bodyPr>
          <a:lstStyle/>
          <a:p>
            <a:pPr algn="ctr">
              <a:lnSpc>
                <a:spcPct val="100000"/>
              </a:lnSpc>
              <a:spcBef>
                <a:spcPts val="0"/>
              </a:spcBef>
              <a:spcAft>
                <a:spcPts val="0"/>
              </a:spcAft>
            </a:pPr>
            <a:r>
              <a:rPr sz="1000" b="1" i="0">
                <a:solidFill>
                  <a:srgbClr val="111111"/>
                </a:solidFill>
                <a:latin typeface="Arial"/>
              </a:rPr>
              <a:t>+18</a:t>
            </a:r>
          </a:p>
        </p:txBody>
      </p:sp>
      <p:sp>
        <p:nvSpPr>
          <p:cNvPr id="69" name="Rectangle 68"/>
          <p:cNvSpPr/>
          <p:nvPr/>
        </p:nvSpPr>
        <p:spPr>
          <a:xfrm>
            <a:off x="6144768" y="2249424"/>
            <a:ext cx="5157216" cy="402336"/>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72783" y="2350008"/>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1" i="0">
                <a:solidFill>
                  <a:srgbClr val="111111"/>
                </a:solidFill>
                <a:latin typeface="Arial"/>
              </a:rPr>
              <a:t>Learned, one strength</a:t>
            </a:r>
          </a:p>
        </p:txBody>
      </p:sp>
      <p:sp>
        <p:nvSpPr>
          <p:cNvPr id="71" name="TextBox 70"/>
          <p:cNvSpPr txBox="1"/>
          <p:nvPr/>
        </p:nvSpPr>
        <p:spPr>
          <a:xfrm>
            <a:off x="8101583"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49.4</a:t>
            </a:r>
          </a:p>
        </p:txBody>
      </p:sp>
      <p:sp>
        <p:nvSpPr>
          <p:cNvPr id="72" name="TextBox 71"/>
          <p:cNvSpPr txBox="1"/>
          <p:nvPr/>
        </p:nvSpPr>
        <p:spPr>
          <a:xfrm>
            <a:off x="865022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69.3</a:t>
            </a:r>
          </a:p>
        </p:txBody>
      </p:sp>
      <p:sp>
        <p:nvSpPr>
          <p:cNvPr id="73" name="TextBox 72"/>
          <p:cNvSpPr txBox="1"/>
          <p:nvPr/>
        </p:nvSpPr>
        <p:spPr>
          <a:xfrm>
            <a:off x="919886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76.2</a:t>
            </a:r>
          </a:p>
        </p:txBody>
      </p:sp>
      <p:sp>
        <p:nvSpPr>
          <p:cNvPr id="74" name="TextBox 73"/>
          <p:cNvSpPr txBox="1"/>
          <p:nvPr/>
        </p:nvSpPr>
        <p:spPr>
          <a:xfrm>
            <a:off x="974750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78.7</a:t>
            </a:r>
          </a:p>
        </p:txBody>
      </p:sp>
      <p:sp>
        <p:nvSpPr>
          <p:cNvPr id="75" name="TextBox 74"/>
          <p:cNvSpPr txBox="1"/>
          <p:nvPr/>
        </p:nvSpPr>
        <p:spPr>
          <a:xfrm>
            <a:off x="10296144" y="2350008"/>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82.0</a:t>
            </a:r>
          </a:p>
        </p:txBody>
      </p:sp>
      <p:sp>
        <p:nvSpPr>
          <p:cNvPr id="76" name="TextBox 75"/>
          <p:cNvSpPr txBox="1"/>
          <p:nvPr/>
        </p:nvSpPr>
        <p:spPr>
          <a:xfrm>
            <a:off x="10844784" y="2350008"/>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82.8</a:t>
            </a:r>
          </a:p>
        </p:txBody>
      </p:sp>
      <p:sp>
        <p:nvSpPr>
          <p:cNvPr id="77" name="Rectangle 76"/>
          <p:cNvSpPr/>
          <p:nvPr/>
        </p:nvSpPr>
        <p:spPr>
          <a:xfrm>
            <a:off x="6144768" y="2651760"/>
            <a:ext cx="5157216" cy="402336"/>
          </a:xfrm>
          <a:prstGeom prst="rect">
            <a:avLst/>
          </a:prstGeom>
          <a:solidFill>
            <a:srgbClr val="F3F3F3"/>
          </a:solidFill>
          <a:ln w="1143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72783" y="2752344"/>
            <a:ext cx="1609344" cy="237744"/>
          </a:xfrm>
          <a:prstGeom prst="rect">
            <a:avLst/>
          </a:prstGeom>
          <a:noFill/>
        </p:spPr>
        <p:txBody>
          <a:bodyPr wrap="square" lIns="45720" rIns="45720" anchor="ctr">
            <a:spAutoFit/>
          </a:bodyPr>
          <a:lstStyle/>
          <a:p>
            <a:pPr algn="l">
              <a:lnSpc>
                <a:spcPct val="100000"/>
              </a:lnSpc>
              <a:spcBef>
                <a:spcPts val="0"/>
              </a:spcBef>
              <a:spcAft>
                <a:spcPts val="0"/>
              </a:spcAft>
            </a:pPr>
            <a:r>
              <a:rPr sz="1100" b="1" i="0">
                <a:solidFill>
                  <a:srgbClr val="111111"/>
                </a:solidFill>
                <a:latin typeface="Arial"/>
              </a:rPr>
              <a:t>Digital, picks settings</a:t>
            </a:r>
          </a:p>
        </p:txBody>
      </p:sp>
      <p:sp>
        <p:nvSpPr>
          <p:cNvPr id="79" name="TextBox 78"/>
          <p:cNvSpPr txBox="1"/>
          <p:nvPr/>
        </p:nvSpPr>
        <p:spPr>
          <a:xfrm>
            <a:off x="8101583"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10.0</a:t>
            </a:r>
          </a:p>
        </p:txBody>
      </p:sp>
      <p:sp>
        <p:nvSpPr>
          <p:cNvPr id="80" name="TextBox 79"/>
          <p:cNvSpPr txBox="1"/>
          <p:nvPr/>
        </p:nvSpPr>
        <p:spPr>
          <a:xfrm>
            <a:off x="865022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10.0</a:t>
            </a:r>
          </a:p>
        </p:txBody>
      </p:sp>
      <p:sp>
        <p:nvSpPr>
          <p:cNvPr id="81" name="TextBox 80"/>
          <p:cNvSpPr txBox="1"/>
          <p:nvPr/>
        </p:nvSpPr>
        <p:spPr>
          <a:xfrm>
            <a:off x="919886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31.0</a:t>
            </a:r>
          </a:p>
        </p:txBody>
      </p:sp>
      <p:sp>
        <p:nvSpPr>
          <p:cNvPr id="82" name="TextBox 81"/>
          <p:cNvSpPr txBox="1"/>
          <p:nvPr/>
        </p:nvSpPr>
        <p:spPr>
          <a:xfrm>
            <a:off x="974750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69.4</a:t>
            </a:r>
          </a:p>
        </p:txBody>
      </p:sp>
      <p:sp>
        <p:nvSpPr>
          <p:cNvPr id="83" name="TextBox 82"/>
          <p:cNvSpPr txBox="1"/>
          <p:nvPr/>
        </p:nvSpPr>
        <p:spPr>
          <a:xfrm>
            <a:off x="10296144" y="2752344"/>
            <a:ext cx="329184"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83.4</a:t>
            </a:r>
          </a:p>
        </p:txBody>
      </p:sp>
      <p:sp>
        <p:nvSpPr>
          <p:cNvPr id="84" name="TextBox 83"/>
          <p:cNvSpPr txBox="1"/>
          <p:nvPr/>
        </p:nvSpPr>
        <p:spPr>
          <a:xfrm>
            <a:off x="10844784" y="2752344"/>
            <a:ext cx="365760" cy="237744"/>
          </a:xfrm>
          <a:prstGeom prst="rect">
            <a:avLst/>
          </a:prstGeom>
          <a:noFill/>
        </p:spPr>
        <p:txBody>
          <a:bodyPr wrap="square" lIns="45720" rIns="45720" anchor="ctr">
            <a:spAutoFit/>
          </a:bodyPr>
          <a:lstStyle/>
          <a:p>
            <a:pPr algn="ctr">
              <a:lnSpc>
                <a:spcPct val="100000"/>
              </a:lnSpc>
              <a:spcBef>
                <a:spcPts val="0"/>
              </a:spcBef>
              <a:spcAft>
                <a:spcPts val="0"/>
              </a:spcAft>
            </a:pPr>
            <a:r>
              <a:rPr sz="1100" b="1" i="0">
                <a:solidFill>
                  <a:srgbClr val="111111"/>
                </a:solidFill>
                <a:latin typeface="Arial"/>
              </a:rPr>
              <a:t>87.7</a:t>
            </a:r>
          </a:p>
        </p:txBody>
      </p:sp>
      <p:cxnSp>
        <p:nvCxnSpPr>
          <p:cNvPr id="85" name="Connector 84"/>
          <p:cNvCxnSpPr/>
          <p:nvPr/>
        </p:nvCxnSpPr>
        <p:spPr>
          <a:xfrm>
            <a:off x="7973567"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8522208"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070848"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619488"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168128"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0716767" y="1883664"/>
            <a:ext cx="0" cy="1170432"/>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6144768" y="3054096"/>
            <a:ext cx="5157216"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Where the two lines cross</a:t>
            </a:r>
          </a:p>
        </p:txBody>
      </p:sp>
      <p:sp>
        <p:nvSpPr>
          <p:cNvPr id="92" name="TextBox 91"/>
          <p:cNvSpPr txBox="1"/>
          <p:nvPr/>
        </p:nvSpPr>
        <p:spPr>
          <a:xfrm>
            <a:off x="6144768" y="3346704"/>
            <a:ext cx="5157216" cy="6400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half rate, which system is ahead flips between −5 dB and −4 dB. We decided the crossing question on exactly that, before seeing the answer.</a:t>
            </a:r>
          </a:p>
        </p:txBody>
      </p:sp>
      <p:cxnSp>
        <p:nvCxnSpPr>
          <p:cNvPr id="93" name="Connector 92"/>
          <p:cNvCxnSpPr/>
          <p:nvPr/>
        </p:nvCxnSpPr>
        <p:spPr>
          <a:xfrm>
            <a:off x="658368" y="4224528"/>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658368" y="4352544"/>
            <a:ext cx="1074420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What this table is not</a:t>
            </a:r>
          </a:p>
        </p:txBody>
      </p:sp>
      <p:sp>
        <p:nvSpPr>
          <p:cNvPr id="95" name="TextBox 94"/>
          <p:cNvSpPr txBox="1"/>
          <p:nvPr/>
        </p:nvSpPr>
        <p:spPr>
          <a:xfrm>
            <a:off x="658368" y="4681728"/>
            <a:ext cx="10744200" cy="10972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Twenty-one signal strengths is not twenty-one independent experiments. Every cell comes from the same 1,000 held-back pictures and the same single training run, so a smooth-looking line tells you nothing statistically. A one or two point gap between rows is an observed difference and nothing more. The full per-picture records that would let us compute proper uncertainty ranges are not in this checkout, so we have not computed any.</a:t>
            </a:r>
          </a:p>
        </p:txBody>
      </p:sp>
      <p:cxnSp>
        <p:nvCxnSpPr>
          <p:cNvPr id="96" name="Connector 95"/>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Analytical Skills</a:t>
            </a:r>
          </a:p>
        </p:txBody>
      </p:sp>
      <p:sp>
        <p:nvSpPr>
          <p:cNvPr id="98" name="TextBox 97"/>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Pictures labelled correctly out of 1,000 · held-back set</a:t>
            </a:r>
          </a:p>
        </p:txBody>
      </p:sp>
      <p:sp>
        <p:nvSpPr>
          <p:cNvPr id="99" name="TextBox 98"/>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this evidence cannot tell you</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58368" y="1463040"/>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One training run</a:t>
            </a:r>
          </a:p>
        </p:txBody>
      </p:sp>
      <p:sp>
        <p:nvSpPr>
          <p:cNvPr id="5" name="TextBox 4"/>
          <p:cNvSpPr txBox="1"/>
          <p:nvPr/>
        </p:nvSpPr>
        <p:spPr>
          <a:xfrm>
            <a:off x="2990087" y="1444752"/>
            <a:ext cx="8412480" cy="804671"/>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Held-back pictures only. Everything here is a description. No ranges, no significance, no repeated trials.</a:t>
            </a:r>
          </a:p>
        </p:txBody>
      </p:sp>
      <p:cxnSp>
        <p:nvCxnSpPr>
          <p:cNvPr id="6" name="Connector 5"/>
          <p:cNvCxnSpPr/>
          <p:nvPr/>
        </p:nvCxnSpPr>
        <p:spPr>
          <a:xfrm>
            <a:off x="658368" y="2194560"/>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322576"/>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A different grader each side</a:t>
            </a:r>
          </a:p>
        </p:txBody>
      </p:sp>
      <p:sp>
        <p:nvSpPr>
          <p:cNvPr id="8" name="TextBox 7"/>
          <p:cNvSpPr txBox="1"/>
          <p:nvPr/>
        </p:nvSpPr>
        <p:spPr>
          <a:xfrm>
            <a:off x="2990087" y="2304288"/>
            <a:ext cx="8412480" cy="804671"/>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learned systems are marked by their own classifier, the digital systems by one trained on compressed images. So this measures whole systems, not error-correction coding on its own.</a:t>
            </a:r>
          </a:p>
        </p:txBody>
      </p:sp>
      <p:cxnSp>
        <p:nvCxnSpPr>
          <p:cNvPr id="9" name="Connector 8"/>
          <p:cNvCxnSpPr/>
          <p:nvPr/>
        </p:nvCxnSpPr>
        <p:spPr>
          <a:xfrm>
            <a:off x="658368" y="3054096"/>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182112"/>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Not the same effort</a:t>
            </a:r>
          </a:p>
        </p:txBody>
      </p:sp>
      <p:sp>
        <p:nvSpPr>
          <p:cNvPr id="11" name="TextBox 10"/>
          <p:cNvSpPr txBox="1"/>
          <p:nvPr/>
        </p:nvSpPr>
        <p:spPr>
          <a:xfrm>
            <a:off x="2990087" y="3163824"/>
            <a:ext cx="8412480" cy="804671"/>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digital system's settings and grader were frozen from earlier work. The learned versions are separate training runs. Specific and fair, but not matched compute.</a:t>
            </a:r>
          </a:p>
        </p:txBody>
      </p:sp>
      <p:cxnSp>
        <p:nvCxnSpPr>
          <p:cNvPr id="12" name="Connector 11"/>
          <p:cNvCxnSpPr/>
          <p:nvPr/>
        </p:nvCxnSpPr>
        <p:spPr>
          <a:xfrm>
            <a:off x="658368" y="3913632"/>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041648"/>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No real amplifier</a:t>
            </a:r>
          </a:p>
        </p:txBody>
      </p:sp>
      <p:sp>
        <p:nvSpPr>
          <p:cNvPr id="14" name="TextBox 13"/>
          <p:cNvSpPr txBox="1"/>
          <p:nvPr/>
        </p:nvSpPr>
        <p:spPr>
          <a:xfrm>
            <a:off x="2990087" y="4023360"/>
            <a:ext cx="8412480" cy="804671"/>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We measured how tall the spikes are in the numbers we send. Nothing here shows what a real transmitter would do. The project stays on a simulated channel.</a:t>
            </a:r>
          </a:p>
        </p:txBody>
      </p:sp>
      <p:cxnSp>
        <p:nvCxnSpPr>
          <p:cNvPr id="15" name="Connector 14"/>
          <p:cNvCxnSpPr/>
          <p:nvPr/>
        </p:nvCxnSpPr>
        <p:spPr>
          <a:xfrm>
            <a:off x="658368" y="4773168"/>
            <a:ext cx="1074420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4901183"/>
            <a:ext cx="2240279" cy="274320"/>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Frozen choices are bumpy</a:t>
            </a:r>
          </a:p>
        </p:txBody>
      </p:sp>
      <p:sp>
        <p:nvSpPr>
          <p:cNvPr id="17" name="TextBox 16"/>
          <p:cNvSpPr txBox="1"/>
          <p:nvPr/>
        </p:nvSpPr>
        <p:spPr>
          <a:xfrm>
            <a:off x="2990087" y="4882896"/>
            <a:ext cx="8412480" cy="804671"/>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fallback rule, 1,000 pictures and fixed operating points produce jumps and a few non-monotone points. We did not smooth them.</a:t>
            </a:r>
          </a:p>
        </p:txBody>
      </p:sp>
      <p:cxnSp>
        <p:nvCxnSpPr>
          <p:cNvPr id="18" name="Connector 17"/>
          <p:cNvCxnSpPr/>
          <p:nvPr/>
        </p:nvCxnSpPr>
        <p:spPr>
          <a:xfrm>
            <a:off x="658368" y="5870448"/>
            <a:ext cx="1074420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5925312"/>
            <a:ext cx="1074420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Our specification treats both a crossing and the learned system winning everywhere as complete, successful outcomes. Neither result undoes the other.</a:t>
            </a:r>
          </a:p>
        </p:txBody>
      </p:sp>
      <p:cxnSp>
        <p:nvCxnSpPr>
          <p:cNvPr id="20" name="Connector 19"/>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Analytical Skills, Methodology</a:t>
            </a:r>
          </a:p>
        </p:txBody>
      </p:sp>
      <p:sp>
        <p:nvSpPr>
          <p:cNvPr id="22" name="TextBox 21"/>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Stated plainly now, so the final review is not a surprise</a:t>
            </a:r>
          </a:p>
        </p:txBody>
      </p:sp>
      <p:sp>
        <p:nvSpPr>
          <p:cNvPr id="23" name="TextBox 22"/>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Four times we changed the approach because of what we found</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The rubric asks what we decided based on the results obtained. These are the four that count.</a:t>
            </a:r>
          </a:p>
        </p:txBody>
      </p:sp>
      <p:sp>
        <p:nvSpPr>
          <p:cNvPr id="5" name="Rectangle 4"/>
          <p:cNvSpPr/>
          <p:nvPr/>
        </p:nvSpPr>
        <p:spPr>
          <a:xfrm>
            <a:off x="566928" y="1627632"/>
            <a:ext cx="5404104" cy="204825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773936"/>
            <a:ext cx="5038344"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AM-34</a:t>
            </a:r>
          </a:p>
        </p:txBody>
      </p:sp>
      <p:sp>
        <p:nvSpPr>
          <p:cNvPr id="7" name="TextBox 6"/>
          <p:cNvSpPr txBox="1"/>
          <p:nvPr/>
        </p:nvSpPr>
        <p:spPr>
          <a:xfrm>
            <a:off x="749808" y="2066543"/>
            <a:ext cx="5038344" cy="96926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We had pinned the digital system to the weakest radio setting, which made the lines crossing impossible by arithmetic. We let it pick a stronger setting as the signal improves.</a:t>
            </a:r>
          </a:p>
        </p:txBody>
      </p:sp>
      <p:cxnSp>
        <p:nvCxnSpPr>
          <p:cNvPr id="8" name="Connector 7"/>
          <p:cNvCxnSpPr/>
          <p:nvPr/>
        </p:nvCxnSpPr>
        <p:spPr>
          <a:xfrm>
            <a:off x="749808" y="3090672"/>
            <a:ext cx="5038344"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3182112"/>
            <a:ext cx="5038344" cy="420624"/>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 rule we adopted: every change strengthens the digital system or is decided in advance. We never weaken the learned system.</a:t>
            </a:r>
          </a:p>
        </p:txBody>
      </p:sp>
      <p:sp>
        <p:nvSpPr>
          <p:cNvPr id="10" name="Rectangle 9"/>
          <p:cNvSpPr/>
          <p:nvPr/>
        </p:nvSpPr>
        <p:spPr>
          <a:xfrm>
            <a:off x="6181344" y="1627632"/>
            <a:ext cx="5404104" cy="204825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64224" y="1773936"/>
            <a:ext cx="5038344"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AM-52</a:t>
            </a:r>
          </a:p>
        </p:txBody>
      </p:sp>
      <p:sp>
        <p:nvSpPr>
          <p:cNvPr id="12" name="TextBox 11"/>
          <p:cNvSpPr txBox="1"/>
          <p:nvPr/>
        </p:nvSpPr>
        <p:spPr>
          <a:xfrm>
            <a:off x="6364224" y="2066543"/>
            <a:ext cx="5038344" cy="96926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Our signal strengths were spaced 2 dB apart exactly where the sharpest drop happens, so we could have missed it entirely. We added three more strengths before it mattered.</a:t>
            </a:r>
          </a:p>
        </p:txBody>
      </p:sp>
      <p:cxnSp>
        <p:nvCxnSpPr>
          <p:cNvPr id="13" name="Connector 12"/>
          <p:cNvCxnSpPr/>
          <p:nvPr/>
        </p:nvCxnSpPr>
        <p:spPr>
          <a:xfrm>
            <a:off x="6364224" y="3090672"/>
            <a:ext cx="5038343"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64224" y="3182112"/>
            <a:ext cx="5038344" cy="420624"/>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Put the detail where the effect is, not where it is convenient to sample.</a:t>
            </a:r>
          </a:p>
        </p:txBody>
      </p:sp>
      <p:sp>
        <p:nvSpPr>
          <p:cNvPr id="15" name="Rectangle 14"/>
          <p:cNvSpPr/>
          <p:nvPr/>
        </p:nvSpPr>
        <p:spPr>
          <a:xfrm>
            <a:off x="566928" y="3840480"/>
            <a:ext cx="5404104" cy="204825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986784"/>
            <a:ext cx="5038344"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AM-58</a:t>
            </a:r>
          </a:p>
        </p:txBody>
      </p:sp>
      <p:sp>
        <p:nvSpPr>
          <p:cNvPr id="17" name="TextBox 16"/>
          <p:cNvSpPr txBox="1"/>
          <p:nvPr/>
        </p:nvSpPr>
        <p:spPr>
          <a:xfrm>
            <a:off x="749808" y="4279392"/>
            <a:ext cx="5038344" cy="96926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script that checks our packet sizes reported no problems while breaking four of its own rules. We fixed the script, not the results.</a:t>
            </a:r>
          </a:p>
        </p:txBody>
      </p:sp>
      <p:cxnSp>
        <p:nvCxnSpPr>
          <p:cNvPr id="18" name="Connector 17"/>
          <p:cNvCxnSpPr/>
          <p:nvPr/>
        </p:nvCxnSpPr>
        <p:spPr>
          <a:xfrm>
            <a:off x="749808" y="5303520"/>
            <a:ext cx="5038344"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394960"/>
            <a:ext cx="5038344" cy="420624"/>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All 215 configurations stayed feasible and every scientific outcome came out the same.</a:t>
            </a:r>
          </a:p>
        </p:txBody>
      </p:sp>
      <p:sp>
        <p:nvSpPr>
          <p:cNvPr id="20" name="Rectangle 19"/>
          <p:cNvSpPr/>
          <p:nvPr/>
        </p:nvSpPr>
        <p:spPr>
          <a:xfrm>
            <a:off x="6181344" y="3840480"/>
            <a:ext cx="5404104" cy="204825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3986784"/>
            <a:ext cx="5038344" cy="237744"/>
          </a:xfrm>
          <a:prstGeom prst="rect">
            <a:avLst/>
          </a:prstGeom>
          <a:noFill/>
        </p:spPr>
        <p:txBody>
          <a:bodyPr wrap="square" lIns="45720" rIns="45720" anchor="t">
            <a:spAutoFit/>
          </a:bodyPr>
          <a:lstStyle/>
          <a:p>
            <a:pPr algn="l">
              <a:lnSpc>
                <a:spcPct val="100000"/>
              </a:lnSpc>
              <a:spcBef>
                <a:spcPts val="0"/>
              </a:spcBef>
              <a:spcAft>
                <a:spcPts val="0"/>
              </a:spcAft>
            </a:pPr>
            <a:r>
              <a:rPr sz="1050" b="1" i="0">
                <a:solidFill>
                  <a:srgbClr val="111111"/>
                </a:solidFill>
                <a:latin typeface="Arial"/>
              </a:rPr>
              <a:t>AM-60</a:t>
            </a:r>
          </a:p>
        </p:txBody>
      </p:sp>
      <p:sp>
        <p:nvSpPr>
          <p:cNvPr id="22" name="TextBox 21"/>
          <p:cNvSpPr txBox="1"/>
          <p:nvPr/>
        </p:nvSpPr>
        <p:spPr>
          <a:xfrm>
            <a:off x="6364224" y="4279392"/>
            <a:ext cx="5038344" cy="96926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555555"/>
                </a:solidFill>
                <a:latin typeface="Arial"/>
              </a:rPr>
              <a:t>The exam set was set to unlock in week 9, about three weeks before the manifest that locks it existed. We moved that to week 11.</a:t>
            </a:r>
          </a:p>
        </p:txBody>
      </p:sp>
      <p:cxnSp>
        <p:nvCxnSpPr>
          <p:cNvPr id="23" name="Connector 22"/>
          <p:cNvCxnSpPr/>
          <p:nvPr/>
        </p:nvCxnSpPr>
        <p:spPr>
          <a:xfrm>
            <a:off x="6364224" y="5303520"/>
            <a:ext cx="5038343"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64224" y="5394960"/>
            <a:ext cx="5038344" cy="420624"/>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They have stayed locked ever since. Nothing has been read.</a:t>
            </a:r>
          </a:p>
        </p:txBody>
      </p:sp>
      <p:cxnSp>
        <p:nvCxnSpPr>
          <p:cNvPr id="25" name="Connector 24"/>
          <p:cNvCxnSpPr/>
          <p:nvPr/>
        </p:nvCxnSpPr>
        <p:spPr>
          <a:xfrm>
            <a:off x="566928" y="59618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016752"/>
            <a:ext cx="1101852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Twenty-two further changes are written down in SPEC §17, including three checks that turned out to be wrong and had to be repaired.</a:t>
            </a:r>
          </a:p>
        </p:txBody>
      </p:sp>
      <p:cxnSp>
        <p:nvCxnSpPr>
          <p:cNvPr id="27" name="Connector 26"/>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Methodology</a:t>
            </a:r>
          </a:p>
        </p:txBody>
      </p:sp>
      <p:sp>
        <p:nvSpPr>
          <p:cNvPr id="29" name="TextBox 28"/>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Required by PR-8(c): a one-slide distillation of SPEC §17</a:t>
            </a:r>
          </a:p>
        </p:txBody>
      </p:sp>
      <p:sp>
        <p:nvSpPr>
          <p:cNvPr id="30" name="TextBox 29"/>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What we claim as new, and what we do not</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225296"/>
            <a:ext cx="11018520" cy="310896"/>
          </a:xfrm>
          <a:prstGeom prst="rect">
            <a:avLst/>
          </a:prstGeom>
          <a:noFill/>
        </p:spPr>
        <p:txBody>
          <a:bodyPr wrap="square" lIns="45720" rIns="45720" anchor="t">
            <a:spAutoFit/>
          </a:bodyPr>
          <a:lstStyle/>
          <a:p>
            <a:pPr algn="ctr">
              <a:lnSpc>
                <a:spcPct val="100000"/>
              </a:lnSpc>
              <a:spcBef>
                <a:spcPts val="0"/>
              </a:spcBef>
              <a:spcAft>
                <a:spcPts val="0"/>
              </a:spcAft>
            </a:pPr>
            <a:r>
              <a:rPr sz="1250" b="0" i="0">
                <a:solidFill>
                  <a:srgbClr val="555555"/>
                </a:solidFill>
                <a:latin typeface="Arial"/>
              </a:rPr>
              <a:t>Both claims are about how the experiment is built, not about the idea of sending meaning instead of pixels.</a:t>
            </a:r>
          </a:p>
        </p:txBody>
      </p:sp>
      <p:sp>
        <p:nvSpPr>
          <p:cNvPr id="5" name="Rectangle 4"/>
          <p:cNvSpPr/>
          <p:nvPr/>
        </p:nvSpPr>
        <p:spPr>
          <a:xfrm>
            <a:off x="566928" y="1627632"/>
            <a:ext cx="6967728" cy="140817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55648"/>
            <a:ext cx="6565392" cy="274320"/>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11111"/>
                </a:solidFill>
                <a:latin typeface="Arial"/>
              </a:rPr>
              <a:t>The task-aware digital control</a:t>
            </a:r>
          </a:p>
        </p:txBody>
      </p:sp>
      <p:sp>
        <p:nvSpPr>
          <p:cNvPr id="7" name="TextBox 6"/>
          <p:cNvSpPr txBox="1"/>
          <p:nvPr/>
        </p:nvSpPr>
        <p:spPr>
          <a:xfrm>
            <a:off x="768096" y="2084832"/>
            <a:ext cx="6565392"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 digital arm sends learned features through the same error-correction code and radio settings, using the same amount of radio time. It tells “knows the task” apart from “codes both at once” inside one experiment.</a:t>
            </a:r>
          </a:p>
        </p:txBody>
      </p:sp>
      <p:cxnSp>
        <p:nvCxnSpPr>
          <p:cNvPr id="8" name="Connector 7"/>
          <p:cNvCxnSpPr/>
          <p:nvPr/>
        </p:nvCxnSpPr>
        <p:spPr>
          <a:xfrm>
            <a:off x="768096" y="2706624"/>
            <a:ext cx="656539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8096" y="2779776"/>
            <a:ext cx="6565392" cy="219456"/>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Different from studies that report a learned-versus-digital gap without such a control.</a:t>
            </a:r>
          </a:p>
        </p:txBody>
      </p:sp>
      <p:sp>
        <p:nvSpPr>
          <p:cNvPr id="10" name="Rectangle 9"/>
          <p:cNvSpPr/>
          <p:nvPr/>
        </p:nvSpPr>
        <p:spPr>
          <a:xfrm>
            <a:off x="566928" y="3200400"/>
            <a:ext cx="6967728" cy="140817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328416"/>
            <a:ext cx="6565392" cy="274320"/>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11111"/>
                </a:solidFill>
                <a:latin typeface="Arial"/>
              </a:rPr>
              <a:t>Charging the overhead to the digital system</a:t>
            </a:r>
          </a:p>
        </p:txBody>
      </p:sp>
      <p:sp>
        <p:nvSpPr>
          <p:cNvPr id="12" name="TextBox 11"/>
          <p:cNvSpPr txBox="1"/>
          <p:nvPr/>
        </p:nvSpPr>
        <p:spPr>
          <a:xfrm>
            <a:off x="768096" y="3657600"/>
            <a:ext cx="6565392" cy="60350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The picture file, framing, checksums and rate-matching bytes are all measured and counted, so the digital system is tuned on the payload it can genuinely use.</a:t>
            </a:r>
          </a:p>
        </p:txBody>
      </p:sp>
      <p:cxnSp>
        <p:nvCxnSpPr>
          <p:cNvPr id="13" name="Connector 12"/>
          <p:cNvCxnSpPr/>
          <p:nvPr/>
        </p:nvCxnSpPr>
        <p:spPr>
          <a:xfrm>
            <a:off x="768096" y="4279392"/>
            <a:ext cx="6565392" cy="0"/>
          </a:xfrm>
          <a:prstGeom prst="line">
            <a:avLst/>
          </a:prstGeom>
          <a:ln w="762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 y="4352544"/>
            <a:ext cx="6565392" cy="219456"/>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Different from pipelines that quote a nominal rate and leave the overhead uncounted.</a:t>
            </a:r>
          </a:p>
        </p:txBody>
      </p:sp>
      <p:sp>
        <p:nvSpPr>
          <p:cNvPr id="15" name="TextBox 14"/>
          <p:cNvSpPr txBox="1"/>
          <p:nvPr/>
        </p:nvSpPr>
        <p:spPr>
          <a:xfrm>
            <a:off x="7882127" y="1627632"/>
            <a:ext cx="365760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Not claimed as new</a:t>
            </a:r>
          </a:p>
        </p:txBody>
      </p:sp>
      <p:sp>
        <p:nvSpPr>
          <p:cNvPr id="16" name="TextBox 15"/>
          <p:cNvSpPr txBox="1"/>
          <p:nvPr/>
        </p:nvSpPr>
        <p:spPr>
          <a:xfrm>
            <a:off x="7882127" y="2011680"/>
            <a:ext cx="20116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a:r>
          </a:p>
        </p:txBody>
      </p:sp>
      <p:sp>
        <p:nvSpPr>
          <p:cNvPr id="17" name="TextBox 16"/>
          <p:cNvSpPr txBox="1"/>
          <p:nvPr/>
        </p:nvSpPr>
        <p:spPr>
          <a:xfrm>
            <a:off x="8138160" y="2011680"/>
            <a:ext cx="3401568" cy="23774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Getting steadily worse as the link worsens</a:t>
            </a:r>
          </a:p>
        </p:txBody>
      </p:sp>
      <p:sp>
        <p:nvSpPr>
          <p:cNvPr id="18" name="TextBox 17"/>
          <p:cNvSpPr txBox="1"/>
          <p:nvPr/>
        </p:nvSpPr>
        <p:spPr>
          <a:xfrm>
            <a:off x="7882127" y="2414016"/>
            <a:ext cx="20116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a:r>
          </a:p>
        </p:txBody>
      </p:sp>
      <p:sp>
        <p:nvSpPr>
          <p:cNvPr id="19" name="TextBox 18"/>
          <p:cNvSpPr txBox="1"/>
          <p:nvPr/>
        </p:nvSpPr>
        <p:spPr>
          <a:xfrm>
            <a:off x="8138160" y="2414016"/>
            <a:ext cx="3401568" cy="23774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Avoiding the sudden drop-off</a:t>
            </a:r>
          </a:p>
        </p:txBody>
      </p:sp>
      <p:sp>
        <p:nvSpPr>
          <p:cNvPr id="20" name="TextBox 19"/>
          <p:cNvSpPr txBox="1"/>
          <p:nvPr/>
        </p:nvSpPr>
        <p:spPr>
          <a:xfrm>
            <a:off x="7882127" y="2816352"/>
            <a:ext cx="20116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a:r>
          </a:p>
        </p:txBody>
      </p:sp>
      <p:sp>
        <p:nvSpPr>
          <p:cNvPr id="21" name="TextBox 20"/>
          <p:cNvSpPr txBox="1"/>
          <p:nvPr/>
        </p:nvSpPr>
        <p:spPr>
          <a:xfrm>
            <a:off x="8138160" y="2816352"/>
            <a:ext cx="3401568" cy="23774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Sending task-aware features digitally</a:t>
            </a:r>
          </a:p>
        </p:txBody>
      </p:sp>
      <p:sp>
        <p:nvSpPr>
          <p:cNvPr id="22" name="TextBox 21"/>
          <p:cNvSpPr txBox="1"/>
          <p:nvPr/>
        </p:nvSpPr>
        <p:spPr>
          <a:xfrm>
            <a:off x="7882127" y="3218688"/>
            <a:ext cx="201168" cy="237744"/>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a:t>
            </a:r>
          </a:p>
        </p:txBody>
      </p:sp>
      <p:sp>
        <p:nvSpPr>
          <p:cNvPr id="23" name="TextBox 22"/>
          <p:cNvSpPr txBox="1"/>
          <p:nvPr/>
        </p:nvSpPr>
        <p:spPr>
          <a:xfrm>
            <a:off x="8138160" y="3218688"/>
            <a:ext cx="3401568" cy="237744"/>
          </a:xfrm>
          <a:prstGeom prst="rect">
            <a:avLst/>
          </a:prstGeom>
          <a:noFill/>
        </p:spPr>
        <p:txBody>
          <a:bodyPr wrap="square" lIns="45720" rIns="45720" anchor="t">
            <a:spAutoFit/>
          </a:bodyPr>
          <a:lstStyle/>
          <a:p>
            <a:pPr algn="l">
              <a:lnSpc>
                <a:spcPct val="100000"/>
              </a:lnSpc>
              <a:spcBef>
                <a:spcPts val="0"/>
              </a:spcBef>
              <a:spcAft>
                <a:spcPts val="0"/>
              </a:spcAft>
            </a:pPr>
            <a:r>
              <a:rPr sz="1150" b="0" i="0">
                <a:solidFill>
                  <a:srgbClr val="111111"/>
                </a:solidFill>
                <a:latin typeface="Arial"/>
              </a:rPr>
              <a:t>Training a neural encoder and decoder</a:t>
            </a:r>
          </a:p>
        </p:txBody>
      </p:sp>
      <p:sp>
        <p:nvSpPr>
          <p:cNvPr id="24" name="TextBox 23"/>
          <p:cNvSpPr txBox="1"/>
          <p:nvPr/>
        </p:nvSpPr>
        <p:spPr>
          <a:xfrm>
            <a:off x="7882127" y="3712463"/>
            <a:ext cx="3657600" cy="566928"/>
          </a:xfrm>
          <a:prstGeom prst="rect">
            <a:avLst/>
          </a:prstGeom>
          <a:noFill/>
        </p:spPr>
        <p:txBody>
          <a:bodyPr wrap="square" lIns="45720" rIns="45720" anchor="t">
            <a:spAutoFit/>
          </a:bodyPr>
          <a:lstStyle/>
          <a:p>
            <a:pPr algn="l">
              <a:lnSpc>
                <a:spcPct val="100000"/>
              </a:lnSpc>
              <a:spcBef>
                <a:spcPts val="0"/>
              </a:spcBef>
              <a:spcAft>
                <a:spcPts val="0"/>
              </a:spcAft>
            </a:pPr>
            <a:r>
              <a:rPr sz="1100" b="0" i="1">
                <a:solidFill>
                  <a:srgbClr val="555555"/>
                </a:solidFill>
                <a:latin typeface="Arial"/>
              </a:rPr>
              <a:t>People have already done all four of these. Claiming them would cost more than it earns.</a:t>
            </a:r>
          </a:p>
        </p:txBody>
      </p:sp>
      <p:cxnSp>
        <p:nvCxnSpPr>
          <p:cNvPr id="25" name="Connector 24"/>
          <p:cNvCxnSpPr/>
          <p:nvPr/>
        </p:nvCxnSpPr>
        <p:spPr>
          <a:xfrm>
            <a:off x="566928" y="4846320"/>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4974336"/>
            <a:ext cx="1101852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Negative check</a:t>
            </a:r>
          </a:p>
        </p:txBody>
      </p:sp>
      <p:sp>
        <p:nvSpPr>
          <p:cNvPr id="27" name="TextBox 26"/>
          <p:cNvSpPr txBox="1"/>
          <p:nvPr/>
        </p:nvSpPr>
        <p:spPr>
          <a:xfrm>
            <a:off x="566928" y="5303520"/>
            <a:ext cx="11018520" cy="64008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Both claims above are checked against the 30 references in docs/literature-review.md, and any claim that something has never been reported has to trace back to that list rather than to our own specification. The full written statement ships with the final review package.</a:t>
            </a:r>
          </a:p>
        </p:txBody>
      </p:sp>
      <p:cxnSp>
        <p:nvCxnSpPr>
          <p:cNvPr id="28" name="Connector 27"/>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Originality, Novelty</a:t>
            </a:r>
          </a:p>
        </p:txBody>
      </p:sp>
      <p:sp>
        <p:nvSpPr>
          <p:cNvPr id="30" name="TextBox 29"/>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Two claims · both about how the experiment is built, not the idea itself</a:t>
            </a:r>
          </a:p>
        </p:txBody>
      </p:sp>
      <p:sp>
        <p:nvSpPr>
          <p:cNvPr id="31" name="TextBox 30"/>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the remaining weeks went</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142646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W10</a:t>
            </a:r>
          </a:p>
        </p:txBody>
      </p:sp>
      <p:sp>
        <p:nvSpPr>
          <p:cNvPr id="5" name="TextBox 4"/>
          <p:cNvSpPr txBox="1"/>
          <p:nvPr/>
        </p:nvSpPr>
        <p:spPr>
          <a:xfrm>
            <a:off x="1298448" y="142646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29 Sep – 3 Oct</a:t>
            </a:r>
          </a:p>
        </p:txBody>
      </p:sp>
      <p:sp>
        <p:nvSpPr>
          <p:cNvPr id="6" name="TextBox 5"/>
          <p:cNvSpPr txBox="1"/>
          <p:nvPr/>
        </p:nvSpPr>
        <p:spPr>
          <a:xfrm>
            <a:off x="3017520" y="137160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Second Review</a:t>
            </a:r>
          </a:p>
        </p:txBody>
      </p:sp>
      <p:sp>
        <p:nvSpPr>
          <p:cNvPr id="7" name="TextBox 6"/>
          <p:cNvSpPr txBox="1"/>
          <p:nvPr/>
        </p:nvSpPr>
        <p:spPr>
          <a:xfrm>
            <a:off x="5541264" y="138988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Held-back measurements complete; package and figures frozen</a:t>
            </a:r>
          </a:p>
        </p:txBody>
      </p:sp>
      <p:sp>
        <p:nvSpPr>
          <p:cNvPr id="8" name="TextBox 7"/>
          <p:cNvSpPr txBox="1"/>
          <p:nvPr/>
        </p:nvSpPr>
        <p:spPr>
          <a:xfrm>
            <a:off x="10442448" y="140817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111111"/>
                </a:solidFill>
                <a:latin typeface="Arial"/>
              </a:rPr>
              <a:t>done</a:t>
            </a:r>
          </a:p>
        </p:txBody>
      </p:sp>
      <p:cxnSp>
        <p:nvCxnSpPr>
          <p:cNvPr id="9" name="Connector 8"/>
          <p:cNvCxnSpPr/>
          <p:nvPr/>
        </p:nvCxnSpPr>
        <p:spPr>
          <a:xfrm>
            <a:off x="566928" y="177393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197510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W11</a:t>
            </a:r>
          </a:p>
        </p:txBody>
      </p:sp>
      <p:sp>
        <p:nvSpPr>
          <p:cNvPr id="11" name="TextBox 10"/>
          <p:cNvSpPr txBox="1"/>
          <p:nvPr/>
        </p:nvSpPr>
        <p:spPr>
          <a:xfrm>
            <a:off x="1298448" y="197510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5 – 11 Oct</a:t>
            </a:r>
          </a:p>
        </p:txBody>
      </p:sp>
      <p:sp>
        <p:nvSpPr>
          <p:cNvPr id="12" name="TextBox 11"/>
          <p:cNvSpPr txBox="1"/>
          <p:nvPr/>
        </p:nvSpPr>
        <p:spPr>
          <a:xfrm>
            <a:off x="3017520" y="192024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Open the exam set</a:t>
            </a:r>
          </a:p>
        </p:txBody>
      </p:sp>
      <p:sp>
        <p:nvSpPr>
          <p:cNvPr id="13" name="TextBox 12"/>
          <p:cNvSpPr txBox="1"/>
          <p:nvPr/>
        </p:nvSpPr>
        <p:spPr>
          <a:xfrm>
            <a:off x="5541264" y="193852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One guarded opening once the locking manifest is signed</a:t>
            </a:r>
          </a:p>
        </p:txBody>
      </p:sp>
      <p:sp>
        <p:nvSpPr>
          <p:cNvPr id="14" name="TextBox 13"/>
          <p:cNvSpPr txBox="1"/>
          <p:nvPr/>
        </p:nvSpPr>
        <p:spPr>
          <a:xfrm>
            <a:off x="10442448" y="195681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15" name="Connector 14"/>
          <p:cNvCxnSpPr/>
          <p:nvPr/>
        </p:nvCxnSpPr>
        <p:spPr>
          <a:xfrm>
            <a:off x="566928" y="232257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6928" y="252374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W12</a:t>
            </a:r>
          </a:p>
        </p:txBody>
      </p:sp>
      <p:sp>
        <p:nvSpPr>
          <p:cNvPr id="17" name="TextBox 16"/>
          <p:cNvSpPr txBox="1"/>
          <p:nvPr/>
        </p:nvSpPr>
        <p:spPr>
          <a:xfrm>
            <a:off x="1298448" y="252374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12 – 18 Oct</a:t>
            </a:r>
          </a:p>
        </p:txBody>
      </p:sp>
      <p:sp>
        <p:nvSpPr>
          <p:cNvPr id="18" name="TextBox 17"/>
          <p:cNvSpPr txBox="1"/>
          <p:nvPr/>
        </p:nvSpPr>
        <p:spPr>
          <a:xfrm>
            <a:off x="3017520" y="246888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Decide everything</a:t>
            </a:r>
          </a:p>
        </p:txBody>
      </p:sp>
      <p:sp>
        <p:nvSpPr>
          <p:cNvPr id="19" name="TextBox 18"/>
          <p:cNvSpPr txBox="1"/>
          <p:nvPr/>
        </p:nvSpPr>
        <p:spPr>
          <a:xfrm>
            <a:off x="5541264" y="248716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Every hypothesis settled on the exam set; first tier frozen</a:t>
            </a:r>
          </a:p>
        </p:txBody>
      </p:sp>
      <p:sp>
        <p:nvSpPr>
          <p:cNvPr id="20" name="TextBox 19"/>
          <p:cNvSpPr txBox="1"/>
          <p:nvPr/>
        </p:nvSpPr>
        <p:spPr>
          <a:xfrm>
            <a:off x="10442448" y="250545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21" name="Connector 20"/>
          <p:cNvCxnSpPr/>
          <p:nvPr/>
        </p:nvCxnSpPr>
        <p:spPr>
          <a:xfrm>
            <a:off x="566928" y="287121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307238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W13</a:t>
            </a:r>
          </a:p>
        </p:txBody>
      </p:sp>
      <p:sp>
        <p:nvSpPr>
          <p:cNvPr id="23" name="TextBox 22"/>
          <p:cNvSpPr txBox="1"/>
          <p:nvPr/>
        </p:nvSpPr>
        <p:spPr>
          <a:xfrm>
            <a:off x="1298448" y="307238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19 – 25 Oct</a:t>
            </a:r>
          </a:p>
        </p:txBody>
      </p:sp>
      <p:sp>
        <p:nvSpPr>
          <p:cNvPr id="24" name="TextBox 23"/>
          <p:cNvSpPr txBox="1"/>
          <p:nvPr/>
        </p:nvSpPr>
        <p:spPr>
          <a:xfrm>
            <a:off x="3017520" y="301752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Demo</a:t>
            </a:r>
          </a:p>
        </p:txBody>
      </p:sp>
      <p:sp>
        <p:nvSpPr>
          <p:cNvPr id="25" name="TextBox 24"/>
          <p:cNvSpPr txBox="1"/>
          <p:nvPr/>
        </p:nvSpPr>
        <p:spPr>
          <a:xfrm>
            <a:off x="5541264" y="303580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Signal-strength slider, both systems side by side, frozen plot</a:t>
            </a:r>
          </a:p>
        </p:txBody>
      </p:sp>
      <p:sp>
        <p:nvSpPr>
          <p:cNvPr id="26" name="TextBox 25"/>
          <p:cNvSpPr txBox="1"/>
          <p:nvPr/>
        </p:nvSpPr>
        <p:spPr>
          <a:xfrm>
            <a:off x="10442448" y="305409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27" name="Connector 26"/>
          <p:cNvCxnSpPr/>
          <p:nvPr/>
        </p:nvCxnSpPr>
        <p:spPr>
          <a:xfrm>
            <a:off x="566928" y="341985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362102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W14</a:t>
            </a:r>
          </a:p>
        </p:txBody>
      </p:sp>
      <p:sp>
        <p:nvSpPr>
          <p:cNvPr id="29" name="TextBox 28"/>
          <p:cNvSpPr txBox="1"/>
          <p:nvPr/>
        </p:nvSpPr>
        <p:spPr>
          <a:xfrm>
            <a:off x="1298448" y="362102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26 Oct – 1 Nov</a:t>
            </a:r>
          </a:p>
        </p:txBody>
      </p:sp>
      <p:sp>
        <p:nvSpPr>
          <p:cNvPr id="30" name="TextBox 29"/>
          <p:cNvSpPr txBox="1"/>
          <p:nvPr/>
        </p:nvSpPr>
        <p:spPr>
          <a:xfrm>
            <a:off x="3017520" y="356616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Poster and hardware</a:t>
            </a:r>
          </a:p>
        </p:txBody>
      </p:sp>
      <p:sp>
        <p:nvSpPr>
          <p:cNvPr id="31" name="TextBox 30"/>
          <p:cNvSpPr txBox="1"/>
          <p:nvPr/>
        </p:nvSpPr>
        <p:spPr>
          <a:xfrm>
            <a:off x="5541264" y="358444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Poster draft; real radio only if the first tier leaves room</a:t>
            </a:r>
          </a:p>
        </p:txBody>
      </p:sp>
      <p:sp>
        <p:nvSpPr>
          <p:cNvPr id="32" name="TextBox 31"/>
          <p:cNvSpPr txBox="1"/>
          <p:nvPr/>
        </p:nvSpPr>
        <p:spPr>
          <a:xfrm>
            <a:off x="10442448" y="360273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33" name="Connector 32"/>
          <p:cNvCxnSpPr/>
          <p:nvPr/>
        </p:nvCxnSpPr>
        <p:spPr>
          <a:xfrm>
            <a:off x="566928" y="396849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 y="4169663"/>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W15</a:t>
            </a:r>
          </a:p>
        </p:txBody>
      </p:sp>
      <p:sp>
        <p:nvSpPr>
          <p:cNvPr id="35" name="TextBox 34"/>
          <p:cNvSpPr txBox="1"/>
          <p:nvPr/>
        </p:nvSpPr>
        <p:spPr>
          <a:xfrm>
            <a:off x="1298448" y="4169663"/>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2 – 8 Nov</a:t>
            </a:r>
          </a:p>
        </p:txBody>
      </p:sp>
      <p:sp>
        <p:nvSpPr>
          <p:cNvPr id="36" name="TextBox 35"/>
          <p:cNvSpPr txBox="1"/>
          <p:nvPr/>
        </p:nvSpPr>
        <p:spPr>
          <a:xfrm>
            <a:off x="3017520" y="411480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Internal freeze</a:t>
            </a:r>
          </a:p>
        </p:txBody>
      </p:sp>
      <p:sp>
        <p:nvSpPr>
          <p:cNvPr id="37" name="TextBox 36"/>
          <p:cNvSpPr txBox="1"/>
          <p:nvPr/>
        </p:nvSpPr>
        <p:spPr>
          <a:xfrm>
            <a:off x="5541264" y="4133087"/>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Report finished in the required format</a:t>
            </a:r>
          </a:p>
        </p:txBody>
      </p:sp>
      <p:sp>
        <p:nvSpPr>
          <p:cNvPr id="38" name="TextBox 37"/>
          <p:cNvSpPr txBox="1"/>
          <p:nvPr/>
        </p:nvSpPr>
        <p:spPr>
          <a:xfrm>
            <a:off x="10442448" y="415137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39" name="Connector 38"/>
          <p:cNvCxnSpPr/>
          <p:nvPr/>
        </p:nvCxnSpPr>
        <p:spPr>
          <a:xfrm>
            <a:off x="566928" y="451713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4718303"/>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W16</a:t>
            </a:r>
          </a:p>
        </p:txBody>
      </p:sp>
      <p:sp>
        <p:nvSpPr>
          <p:cNvPr id="41" name="TextBox 40"/>
          <p:cNvSpPr txBox="1"/>
          <p:nvPr/>
        </p:nvSpPr>
        <p:spPr>
          <a:xfrm>
            <a:off x="1298448" y="4718303"/>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9 – 15 Nov</a:t>
            </a:r>
          </a:p>
        </p:txBody>
      </p:sp>
      <p:sp>
        <p:nvSpPr>
          <p:cNvPr id="42" name="TextBox 41"/>
          <p:cNvSpPr txBox="1"/>
          <p:nvPr/>
        </p:nvSpPr>
        <p:spPr>
          <a:xfrm>
            <a:off x="3017520" y="466344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Spare week</a:t>
            </a:r>
          </a:p>
        </p:txBody>
      </p:sp>
      <p:sp>
        <p:nvSpPr>
          <p:cNvPr id="43" name="TextBox 42"/>
          <p:cNvSpPr txBox="1"/>
          <p:nvPr/>
        </p:nvSpPr>
        <p:spPr>
          <a:xfrm>
            <a:off x="5541264" y="4681727"/>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Report completion and checking only. No new experiments</a:t>
            </a:r>
          </a:p>
        </p:txBody>
      </p:sp>
      <p:sp>
        <p:nvSpPr>
          <p:cNvPr id="44" name="TextBox 43"/>
          <p:cNvSpPr txBox="1"/>
          <p:nvPr/>
        </p:nvSpPr>
        <p:spPr>
          <a:xfrm>
            <a:off x="10442448" y="470001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45" name="Connector 44"/>
          <p:cNvCxnSpPr/>
          <p:nvPr/>
        </p:nvCxnSpPr>
        <p:spPr>
          <a:xfrm>
            <a:off x="566928" y="506577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5266944"/>
            <a:ext cx="56692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11111"/>
                </a:solidFill>
                <a:latin typeface="Arial"/>
              </a:rPr>
              <a:t>W17</a:t>
            </a:r>
          </a:p>
        </p:txBody>
      </p:sp>
      <p:sp>
        <p:nvSpPr>
          <p:cNvPr id="47" name="TextBox 46"/>
          <p:cNvSpPr txBox="1"/>
          <p:nvPr/>
        </p:nvSpPr>
        <p:spPr>
          <a:xfrm>
            <a:off x="1298448" y="526694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16 – 22 Nov</a:t>
            </a:r>
          </a:p>
        </p:txBody>
      </p:sp>
      <p:sp>
        <p:nvSpPr>
          <p:cNvPr id="48" name="TextBox 47"/>
          <p:cNvSpPr txBox="1"/>
          <p:nvPr/>
        </p:nvSpPr>
        <p:spPr>
          <a:xfrm>
            <a:off x="3017520" y="5212080"/>
            <a:ext cx="2377440" cy="256032"/>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Final Review</a:t>
            </a:r>
          </a:p>
        </p:txBody>
      </p:sp>
      <p:sp>
        <p:nvSpPr>
          <p:cNvPr id="49" name="TextBox 48"/>
          <p:cNvSpPr txBox="1"/>
          <p:nvPr/>
        </p:nvSpPr>
        <p:spPr>
          <a:xfrm>
            <a:off x="5541264" y="5230368"/>
            <a:ext cx="4754880" cy="256032"/>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Final review 17–21 Nov; report and material due 20 Nov</a:t>
            </a:r>
          </a:p>
        </p:txBody>
      </p:sp>
      <p:sp>
        <p:nvSpPr>
          <p:cNvPr id="50" name="TextBox 49"/>
          <p:cNvSpPr txBox="1"/>
          <p:nvPr/>
        </p:nvSpPr>
        <p:spPr>
          <a:xfrm>
            <a:off x="10442448" y="5248656"/>
            <a:ext cx="1097280" cy="219456"/>
          </a:xfrm>
          <a:prstGeom prst="rect">
            <a:avLst/>
          </a:prstGeom>
          <a:noFill/>
        </p:spPr>
        <p:txBody>
          <a:bodyPr wrap="square" lIns="45720" rIns="45720" anchor="t">
            <a:spAutoFit/>
          </a:bodyPr>
          <a:lstStyle/>
          <a:p>
            <a:pPr algn="r">
              <a:lnSpc>
                <a:spcPct val="100000"/>
              </a:lnSpc>
              <a:spcBef>
                <a:spcPts val="0"/>
              </a:spcBef>
              <a:spcAft>
                <a:spcPts val="0"/>
              </a:spcAft>
            </a:pPr>
            <a:r>
              <a:rPr sz="1050" b="1" i="0">
                <a:solidFill>
                  <a:srgbClr val="999999"/>
                </a:solidFill>
                <a:latin typeface="Arial"/>
              </a:rPr>
              <a:t>planned</a:t>
            </a:r>
          </a:p>
        </p:txBody>
      </p:sp>
      <p:cxnSp>
        <p:nvCxnSpPr>
          <p:cNvPr id="51" name="Connector 50"/>
          <p:cNvCxnSpPr/>
          <p:nvPr/>
        </p:nvCxnSpPr>
        <p:spPr>
          <a:xfrm>
            <a:off x="566928" y="5614416"/>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66928" y="5907024"/>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5961888"/>
            <a:ext cx="11018520" cy="274320"/>
          </a:xfrm>
          <a:prstGeom prst="rect">
            <a:avLst/>
          </a:prstGeom>
          <a:noFill/>
        </p:spPr>
        <p:txBody>
          <a:bodyPr wrap="square" lIns="45720" rIns="45720" anchor="t">
            <a:spAutoFit/>
          </a:bodyPr>
          <a:lstStyle/>
          <a:p>
            <a:pPr algn="l">
              <a:lnSpc>
                <a:spcPct val="100000"/>
              </a:lnSpc>
              <a:spcBef>
                <a:spcPts val="0"/>
              </a:spcBef>
              <a:spcAft>
                <a:spcPts val="0"/>
              </a:spcAft>
            </a:pPr>
            <a:r>
              <a:rPr sz="1050" b="0" i="1">
                <a:solidFill>
                  <a:srgbClr val="555555"/>
                </a:solidFill>
                <a:latin typeface="Arial"/>
              </a:rPr>
              <a:t>The report is due inside Final Review week, which is why W15 is an internal freeze and W16 holds no experimental work.</a:t>
            </a:r>
          </a:p>
        </p:txBody>
      </p:sp>
      <p:cxnSp>
        <p:nvCxnSpPr>
          <p:cNvPr id="54" name="Connector 53"/>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Timeline</a:t>
            </a:r>
          </a:p>
        </p:txBody>
      </p:sp>
      <p:sp>
        <p:nvSpPr>
          <p:cNvPr id="56" name="TextBox 55"/>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Second Review 29 Sep–3 Oct · Final Review 17–21 Nov · report due 20 Nov</a:t>
            </a:r>
          </a:p>
        </p:txBody>
      </p:sp>
      <p:sp>
        <p:nvSpPr>
          <p:cNvPr id="57" name="TextBox 56"/>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18520" cy="512064"/>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11111"/>
                </a:solidFill>
                <a:latin typeface="Arial"/>
              </a:rPr>
              <a:t>Where this leaves the project</a:t>
            </a:r>
          </a:p>
        </p:txBody>
      </p:sp>
      <p:cxnSp>
        <p:nvCxnSpPr>
          <p:cNvPr id="3" name="Connector 2"/>
          <p:cNvCxnSpPr/>
          <p:nvPr/>
        </p:nvCxnSpPr>
        <p:spPr>
          <a:xfrm>
            <a:off x="566928" y="1078992"/>
            <a:ext cx="11018520" cy="0"/>
          </a:xfrm>
          <a:prstGeom prst="line">
            <a:avLst/>
          </a:prstGeom>
          <a:ln w="11430">
            <a:solidFill>
              <a:srgbClr val="D9D9D9"/>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426464"/>
            <a:ext cx="11018520" cy="1225296"/>
          </a:xfrm>
          <a:prstGeom prst="rect">
            <a:avLst/>
          </a:prstGeom>
          <a:solidFill>
            <a:srgbClr val="FFFFFF"/>
          </a:solidFill>
          <a:ln w="1143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45920"/>
            <a:ext cx="10433304" cy="822960"/>
          </a:xfrm>
          <a:prstGeom prst="rect">
            <a:avLst/>
          </a:prstGeom>
          <a:noFill/>
        </p:spPr>
        <p:txBody>
          <a:bodyPr wrap="square" lIns="45720" rIns="45720" anchor="ctr">
            <a:spAutoFit/>
          </a:bodyPr>
          <a:lstStyle/>
          <a:p>
            <a:pPr algn="ctr">
              <a:lnSpc>
                <a:spcPct val="100000"/>
              </a:lnSpc>
              <a:spcBef>
                <a:spcPts val="0"/>
              </a:spcBef>
              <a:spcAft>
                <a:spcPts val="0"/>
              </a:spcAft>
            </a:pPr>
            <a:r>
              <a:rPr sz="1600" b="0" i="0">
                <a:solidFill>
                  <a:srgbClr val="111111"/>
                </a:solidFill>
                <a:latin typeface="Arial"/>
              </a:rPr>
              <a:t>The learned system keeps answering when the link is too weak for the digital one to get a single picture through. Once the digital system starts delivering, it is the more accurate of the two. They cross between −5 and −4 dB.</a:t>
            </a:r>
          </a:p>
        </p:txBody>
      </p:sp>
      <p:sp>
        <p:nvSpPr>
          <p:cNvPr id="6" name="TextBox 5"/>
          <p:cNvSpPr txBox="1"/>
          <p:nvPr/>
        </p:nvSpPr>
        <p:spPr>
          <a:xfrm>
            <a:off x="566928" y="2962656"/>
            <a:ext cx="1005839" cy="274320"/>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Next</a:t>
            </a:r>
          </a:p>
        </p:txBody>
      </p:sp>
      <p:sp>
        <p:nvSpPr>
          <p:cNvPr id="7" name="TextBox 6"/>
          <p:cNvSpPr txBox="1"/>
          <p:nvPr/>
        </p:nvSpPr>
        <p:spPr>
          <a:xfrm>
            <a:off x="1664207" y="2944368"/>
            <a:ext cx="9921240" cy="457200"/>
          </a:xfrm>
          <a:prstGeom prst="rect">
            <a:avLst/>
          </a:prstGeom>
          <a:noFill/>
        </p:spPr>
        <p:txBody>
          <a:bodyPr wrap="square" lIns="45720" rIns="45720" anchor="t">
            <a:spAutoFit/>
          </a:bodyPr>
          <a:lstStyle/>
          <a:p>
            <a:pPr algn="l">
              <a:lnSpc>
                <a:spcPct val="100000"/>
              </a:lnSpc>
              <a:spcBef>
                <a:spcPts val="0"/>
              </a:spcBef>
              <a:spcAft>
                <a:spcPts val="0"/>
              </a:spcAft>
            </a:pPr>
            <a:r>
              <a:rPr sz="1200" b="0" i="0">
                <a:solidFill>
                  <a:srgbClr val="555555"/>
                </a:solidFill>
                <a:latin typeface="Arial"/>
              </a:rPr>
              <a:t>One guarded run on the exam set once the locking manifest is signed. So far, zero exam pictures opened.</a:t>
            </a:r>
          </a:p>
        </p:txBody>
      </p:sp>
      <p:cxnSp>
        <p:nvCxnSpPr>
          <p:cNvPr id="8" name="Connector 7"/>
          <p:cNvCxnSpPr/>
          <p:nvPr/>
        </p:nvCxnSpPr>
        <p:spPr>
          <a:xfrm>
            <a:off x="566928" y="3346704"/>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3474720"/>
            <a:ext cx="1005839" cy="274320"/>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Then</a:t>
            </a:r>
          </a:p>
        </p:txBody>
      </p:sp>
      <p:sp>
        <p:nvSpPr>
          <p:cNvPr id="10" name="TextBox 9"/>
          <p:cNvSpPr txBox="1"/>
          <p:nvPr/>
        </p:nvSpPr>
        <p:spPr>
          <a:xfrm>
            <a:off x="1664207" y="3456432"/>
            <a:ext cx="9921240" cy="457200"/>
          </a:xfrm>
          <a:prstGeom prst="rect">
            <a:avLst/>
          </a:prstGeom>
          <a:noFill/>
        </p:spPr>
        <p:txBody>
          <a:bodyPr wrap="square" lIns="45720" rIns="45720" anchor="t">
            <a:spAutoFit/>
          </a:bodyPr>
          <a:lstStyle/>
          <a:p>
            <a:pPr algn="l">
              <a:lnSpc>
                <a:spcPct val="100000"/>
              </a:lnSpc>
              <a:spcBef>
                <a:spcPts val="0"/>
              </a:spcBef>
              <a:spcAft>
                <a:spcPts val="0"/>
              </a:spcAft>
            </a:pPr>
            <a:r>
              <a:rPr sz="1200" b="0" i="0">
                <a:solidFill>
                  <a:srgbClr val="555555"/>
                </a:solidFill>
                <a:latin typeface="Arial"/>
              </a:rPr>
              <a:t>Every hypothesis settled on the exam set, and the first tier frozen.</a:t>
            </a:r>
          </a:p>
        </p:txBody>
      </p:sp>
      <p:cxnSp>
        <p:nvCxnSpPr>
          <p:cNvPr id="11" name="Connector 10"/>
          <p:cNvCxnSpPr/>
          <p:nvPr/>
        </p:nvCxnSpPr>
        <p:spPr>
          <a:xfrm>
            <a:off x="566928" y="3858768"/>
            <a:ext cx="1101852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3986784"/>
            <a:ext cx="1005839" cy="274320"/>
          </a:xfrm>
          <a:prstGeom prst="rect">
            <a:avLst/>
          </a:prstGeom>
          <a:noFill/>
        </p:spPr>
        <p:txBody>
          <a:bodyPr wrap="square" lIns="45720" rIns="45720" anchor="t">
            <a:spAutoFit/>
          </a:bodyPr>
          <a:lstStyle/>
          <a:p>
            <a:pPr algn="l">
              <a:lnSpc>
                <a:spcPct val="100000"/>
              </a:lnSpc>
              <a:spcBef>
                <a:spcPts val="0"/>
              </a:spcBef>
              <a:spcAft>
                <a:spcPts val="0"/>
              </a:spcAft>
            </a:pPr>
            <a:r>
              <a:rPr sz="1250" b="1" i="0">
                <a:solidFill>
                  <a:srgbClr val="111111"/>
                </a:solidFill>
                <a:latin typeface="Arial"/>
              </a:rPr>
              <a:t>Later</a:t>
            </a:r>
          </a:p>
        </p:txBody>
      </p:sp>
      <p:sp>
        <p:nvSpPr>
          <p:cNvPr id="13" name="TextBox 12"/>
          <p:cNvSpPr txBox="1"/>
          <p:nvPr/>
        </p:nvSpPr>
        <p:spPr>
          <a:xfrm>
            <a:off x="1664207" y="3968496"/>
            <a:ext cx="9921240" cy="457200"/>
          </a:xfrm>
          <a:prstGeom prst="rect">
            <a:avLst/>
          </a:prstGeom>
          <a:noFill/>
        </p:spPr>
        <p:txBody>
          <a:bodyPr wrap="square" lIns="45720" rIns="45720" anchor="t">
            <a:spAutoFit/>
          </a:bodyPr>
          <a:lstStyle/>
          <a:p>
            <a:pPr algn="l">
              <a:lnSpc>
                <a:spcPct val="100000"/>
              </a:lnSpc>
              <a:spcBef>
                <a:spcPts val="0"/>
              </a:spcBef>
              <a:spcAft>
                <a:spcPts val="0"/>
              </a:spcAft>
            </a:pPr>
            <a:r>
              <a:rPr sz="1200" b="0" i="0">
                <a:solidFill>
                  <a:srgbClr val="555555"/>
                </a:solidFill>
                <a:latin typeface="Arial"/>
              </a:rPr>
              <a:t>Real-radio replay and the live demo are stretch goals. The project does not depend on them.</a:t>
            </a:r>
          </a:p>
        </p:txBody>
      </p:sp>
      <p:cxnSp>
        <p:nvCxnSpPr>
          <p:cNvPr id="14" name="Connector 13"/>
          <p:cNvCxnSpPr/>
          <p:nvPr/>
        </p:nvCxnSpPr>
        <p:spPr>
          <a:xfrm>
            <a:off x="566928" y="4626864"/>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4754880"/>
            <a:ext cx="11018520" cy="256032"/>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111111"/>
                </a:solidFill>
                <a:latin typeface="Arial"/>
              </a:rPr>
              <a:t>Evidence trail</a:t>
            </a:r>
          </a:p>
        </p:txBody>
      </p:sp>
      <p:sp>
        <p:nvSpPr>
          <p:cNvPr id="16" name="TextBox 15"/>
          <p:cNvSpPr txBox="1"/>
          <p:nvPr/>
        </p:nvSpPr>
        <p:spPr>
          <a:xfrm>
            <a:off x="566928" y="5065776"/>
            <a:ext cx="11018520" cy="310896"/>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555555"/>
                </a:solidFill>
                <a:latin typeface="Arial"/>
              </a:rPr>
              <a:t>results/learned/w10/ holds the 252-measurement record and the per-picture manifest. Figures and data are in presentation-results/. Requirements and changes are in spec/SPEC.md §17.</a:t>
            </a:r>
          </a:p>
        </p:txBody>
      </p:sp>
      <p:cxnSp>
        <p:nvCxnSpPr>
          <p:cNvPr id="17" name="Connector 16"/>
          <p:cNvCxnSpPr/>
          <p:nvPr/>
        </p:nvCxnSpPr>
        <p:spPr>
          <a:xfrm>
            <a:off x="566928" y="5541264"/>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66928" y="5669280"/>
            <a:ext cx="11018520" cy="310896"/>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111111"/>
                </a:solidFill>
                <a:latin typeface="Arial"/>
              </a:rPr>
              <a:t>The exam set has never been opened. It stays that way through every gate, run and record in this project.</a:t>
            </a:r>
          </a:p>
        </p:txBody>
      </p:sp>
      <p:cxnSp>
        <p:nvCxnSpPr>
          <p:cNvPr id="19" name="Connector 18"/>
          <p:cNvCxnSpPr/>
          <p:nvPr/>
        </p:nvCxnSpPr>
        <p:spPr>
          <a:xfrm>
            <a:off x="566928" y="6419088"/>
            <a:ext cx="11018520" cy="0"/>
          </a:xfrm>
          <a:prstGeom prst="line">
            <a:avLst/>
          </a:prstGeom>
          <a:ln w="889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66928" y="6510528"/>
            <a:ext cx="3063240" cy="164592"/>
          </a:xfrm>
          <a:prstGeom prst="rect">
            <a:avLst/>
          </a:prstGeom>
          <a:noFill/>
        </p:spPr>
        <p:txBody>
          <a:bodyPr wrap="square" lIns="45720" rIns="45720" anchor="t">
            <a:spAutoFit/>
          </a:bodyPr>
          <a:lstStyle/>
          <a:p>
            <a:pPr algn="l">
              <a:lnSpc>
                <a:spcPct val="100000"/>
              </a:lnSpc>
              <a:spcBef>
                <a:spcPts val="0"/>
              </a:spcBef>
              <a:spcAft>
                <a:spcPts val="0"/>
              </a:spcAft>
            </a:pPr>
            <a:r>
              <a:rPr sz="850" b="0" i="0">
                <a:solidFill>
                  <a:srgbClr val="555555"/>
                </a:solidFill>
                <a:latin typeface="Arial"/>
              </a:rPr>
              <a:t>Rubric: Results, Methodology</a:t>
            </a:r>
          </a:p>
        </p:txBody>
      </p:sp>
      <p:sp>
        <p:nvSpPr>
          <p:cNvPr id="21" name="TextBox 20"/>
          <p:cNvSpPr txBox="1"/>
          <p:nvPr/>
        </p:nvSpPr>
        <p:spPr>
          <a:xfrm>
            <a:off x="3154680" y="6510528"/>
            <a:ext cx="7818120"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Questions welcome — the detail is in the repository, not on this slide</a:t>
            </a:r>
          </a:p>
        </p:txBody>
      </p:sp>
      <p:sp>
        <p:nvSpPr>
          <p:cNvPr id="22" name="TextBox 21"/>
          <p:cNvSpPr txBox="1"/>
          <p:nvPr/>
        </p:nvSpPr>
        <p:spPr>
          <a:xfrm>
            <a:off x="10716768" y="6501384"/>
            <a:ext cx="841248" cy="164592"/>
          </a:xfrm>
          <a:prstGeom prst="rect">
            <a:avLst/>
          </a:prstGeom>
          <a:noFill/>
        </p:spPr>
        <p:txBody>
          <a:bodyPr wrap="square" lIns="45720" rIns="45720" anchor="t">
            <a:spAutoFit/>
          </a:bodyPr>
          <a:lstStyle/>
          <a:p>
            <a:pPr algn="r">
              <a:lnSpc>
                <a:spcPct val="100000"/>
              </a:lnSpc>
              <a:spcBef>
                <a:spcPts val="0"/>
              </a:spcBef>
              <a:spcAft>
                <a:spcPts val="0"/>
              </a:spcAft>
            </a:pPr>
            <a:r>
              <a:rPr sz="850" b="0" i="0">
                <a:solidFill>
                  <a:srgbClr val="555555"/>
                </a:solidFill>
                <a:latin typeface="Arial"/>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Task-Oriented Deep Joint Source–Channel Coding — Second Review</dc:title>
  <dc:subject>Capstone Second Review, 29 September – 3 October 2026</dc:subject>
  <dc:creator>Capstone project team</dc:creator>
  <cp:keywords/>
  <dc:description>W10 validation evidence only; test split sealed. Editable native shapes and text.</dc:description>
  <cp:lastModifiedBy>Steve Canny</cp:lastModifiedBy>
  <cp:revision>1</cp:revision>
  <dcterms:created xsi:type="dcterms:W3CDTF">2013-01-27T09:14:16Z</dcterms:created>
  <dcterms:modified xsi:type="dcterms:W3CDTF">2013-01-27T09:15:58Z</dcterms:modified>
  <cp:category/>
</cp:coreProperties>
</file>