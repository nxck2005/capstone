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 dirty="0">
                <a:solidFill>
                  <a:srgbClr val="111111"/>
                </a:solidFill>
                <a:latin typeface="Arial"/>
              </a:rPr>
              <a:t>Task-Oriented </a:t>
            </a:r>
            <a:r>
              <a:rPr sz="2700" b="1" i="0" dirty="0" err="1">
                <a:solidFill>
                  <a:srgbClr val="111111"/>
                </a:solidFill>
                <a:latin typeface="Arial"/>
              </a:rPr>
              <a:t>Deep</a:t>
            </a:r>
            <a:r>
              <a:rPr lang="en-US" sz="2700" b="1" i="0" dirty="0" err="1">
                <a:solidFill>
                  <a:srgbClr val="111111"/>
                </a:solidFill>
                <a:latin typeface="Arial"/>
              </a:rPr>
              <a:t>JSCC</a:t>
            </a:r>
            <a:r>
              <a:rPr lang="en-US" sz="2700" b="1" i="0" dirty="0">
                <a:solidFill>
                  <a:srgbClr val="111111"/>
                </a:solidFill>
                <a:latin typeface="Arial"/>
              </a:rPr>
              <a:t> Based Semantic Communication</a:t>
            </a:r>
            <a:endParaRPr sz="2700" b="1" i="0" dirty="0">
              <a:solidFill>
                <a:srgbClr val="111111"/>
              </a:solidFill>
              <a:latin typeface="Arial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389888"/>
            <a:ext cx="11018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 dirty="0">
                <a:solidFill>
                  <a:srgbClr val="111111"/>
                </a:solidFill>
                <a:latin typeface="Arial"/>
              </a:rPr>
              <a:t>What a camera should send when the receiver only needs the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212848"/>
            <a:ext cx="246888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" y="2542032"/>
            <a:ext cx="22494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111111"/>
                </a:solidFill>
                <a:latin typeface="Arial"/>
              </a:rPr>
              <a:t>Edge camera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999232"/>
            <a:ext cx="22494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sees an image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2212848"/>
            <a:ext cx="301752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73168" y="2542032"/>
            <a:ext cx="2798063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Short, noisy 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73168" y="2999232"/>
            <a:ext cx="2798063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loses some pictures in transit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2212848"/>
            <a:ext cx="219456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13648" y="2542032"/>
            <a:ext cx="197510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Receiver classifier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13648" y="2999232"/>
            <a:ext cx="197510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needs one label back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29584" y="2825496"/>
            <a:ext cx="1024128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4489704" y="2775203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7735824" y="2825496"/>
            <a:ext cx="658368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8330184" y="2775203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928" y="3931920"/>
            <a:ext cx="11018520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6384" y="4187952"/>
            <a:ext cx="105796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Arial"/>
              </a:rPr>
              <a:t>Train the sender and the receiver together so the classification decision survives a short, noisy link.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626864"/>
            <a:ext cx="1057960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55555"/>
                </a:solidFill>
                <a:latin typeface="Arial"/>
              </a:rPr>
              <a:t>The thesis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5431536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5632704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Second Review, 29 September – 3 October 2026.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Presentation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Twenty-one measured signal strengths · one frozen training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700" b="1" dirty="0">
                <a:solidFill>
                  <a:srgbClr val="111111"/>
                </a:solidFill>
                <a:latin typeface="Arial"/>
              </a:rPr>
              <a:t>Progress </a:t>
            </a:r>
            <a:r>
              <a:rPr lang="en-US" sz="2700" b="1" dirty="0" err="1">
                <a:solidFill>
                  <a:srgbClr val="111111"/>
                </a:solidFill>
                <a:latin typeface="Arial"/>
              </a:rPr>
              <a:t>upto</a:t>
            </a:r>
            <a:r>
              <a:rPr lang="en-US" sz="2700" b="1" dirty="0">
                <a:solidFill>
                  <a:srgbClr val="111111"/>
                </a:solidFill>
                <a:latin typeface="Arial"/>
              </a:rPr>
              <a:t> Sep. 30th</a:t>
            </a:r>
            <a:endParaRPr sz="2700" b="1" i="0" dirty="0">
              <a:solidFill>
                <a:srgbClr val="111111"/>
              </a:solidFill>
              <a:latin typeface="Arial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0" i="0" dirty="0">
                <a:solidFill>
                  <a:srgbClr val="555555"/>
                </a:solidFill>
                <a:latin typeface="Arial"/>
              </a:rPr>
              <a:t>All learned models are trained now.</a:t>
            </a:r>
            <a:endParaRPr sz="1400" b="0" i="0" dirty="0">
              <a:solidFill>
                <a:srgbClr val="555555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179222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Aug · Digital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90087" y="177393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dirty="0">
                <a:solidFill>
                  <a:srgbClr val="555555"/>
                </a:solidFill>
                <a:latin typeface="Arial"/>
              </a:rPr>
              <a:t>Measured how badly it loses pictures at every setting. All 288,000 held-back combinations tested, and the settings it should use at each signal strength frozen.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221284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234086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Aug · Learned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0087" y="232257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dirty="0">
                <a:solidFill>
                  <a:srgbClr val="555555"/>
                </a:solidFill>
                <a:latin typeface="Arial"/>
              </a:rPr>
              <a:t>Training loop built, models trained at several seeds. Three of them are frozen at 1/6 rate.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276148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288950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Fair 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0087" y="287121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dirty="0">
                <a:solidFill>
                  <a:srgbClr val="555555"/>
                </a:solidFill>
                <a:latin typeface="Arial"/>
              </a:rPr>
              <a:t>Built a control that sends learned features digitally, so the comparison includes a task-aware system alongside a compressed image.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331012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43814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Weak-link training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0087" y="341985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dirty="0">
                <a:solidFill>
                  <a:srgbClr val="555555"/>
                </a:solidFill>
                <a:latin typeface="Arial"/>
              </a:rPr>
              <a:t>A second version, with the training signal strength picked at random each time, for comparison against the first.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385876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3986783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Crossing 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7" y="396849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dirty="0">
                <a:solidFill>
                  <a:srgbClr val="555555"/>
                </a:solidFill>
                <a:latin typeface="Arial"/>
              </a:rPr>
              <a:t>Decided it on held-back pictures before seeing the answer: the two lines cross between −5 and −4 </a:t>
            </a:r>
            <a:r>
              <a:rPr sz="1100" b="0" i="0" dirty="0" err="1">
                <a:solidFill>
                  <a:srgbClr val="555555"/>
                </a:solidFill>
                <a:latin typeface="Arial"/>
              </a:rPr>
              <a:t>dB.</a:t>
            </a:r>
            <a:endParaRPr sz="1100" b="0" i="0" dirty="0">
              <a:solidFill>
                <a:srgbClr val="555555"/>
              </a:solidFill>
              <a:latin typeface="Arial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658368" y="4407407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453542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Power limits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0087" y="451713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dirty="0">
                <a:solidFill>
                  <a:srgbClr val="555555"/>
                </a:solidFill>
                <a:latin typeface="Arial"/>
              </a:rPr>
              <a:t>Trained one model under a hard limit on how tall the signal spikes may get.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495604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508406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Oct · Measurements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0087" y="506577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252 measurements across twelve versions of the system and twenty-one signal strengths, 1,000 held-back pictures each.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8368" y="550468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8368" y="563270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Nov · Exam 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90087" y="561441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Opens in week 11, once the locking document is signed.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Timeline, Results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First review 18–22 Aug 2026 · Second review 29 Sep–3 Oct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 dirty="0">
                <a:solidFill>
                  <a:srgbClr val="111111"/>
                </a:solidFill>
                <a:latin typeface="Arial"/>
              </a:rPr>
              <a:t>Objective</a:t>
            </a:r>
            <a:r>
              <a:rPr lang="en-US" sz="2700" b="1" dirty="0">
                <a:solidFill>
                  <a:srgbClr val="111111"/>
                </a:solidFill>
                <a:latin typeface="Arial"/>
              </a:rPr>
              <a:t>s</a:t>
            </a:r>
            <a:endParaRPr sz="2700" b="1" i="0" dirty="0">
              <a:solidFill>
                <a:srgbClr val="111111"/>
              </a:solidFill>
              <a:latin typeface="Arial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2834640" y="1458468"/>
            <a:ext cx="63093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What we set out to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860804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1.  Build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0912" y="1842515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dirty="0">
                <a:solidFill>
                  <a:srgbClr val="555555"/>
                </a:solidFill>
                <a:latin typeface="Arial"/>
              </a:rPr>
              <a:t>Train a learned sender and receiver together, so the picture goes through the same kind of noise a radio adds.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427732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834640" y="2574036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2.  Same radio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0912" y="2555748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At every signal strength and rate, both systems get the same number of chances to use the radio.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834640" y="3140964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834640" y="3287268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3.  Charge the overhead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0912" y="3268980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dirty="0">
                <a:solidFill>
                  <a:srgbClr val="555555"/>
                </a:solidFill>
                <a:latin typeface="Arial"/>
              </a:rPr>
              <a:t>Checksums, padding and error-correction bytes come out of the budget before any picture data.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834640" y="3854195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834640" y="4000500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4.  Pick the setting fairly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10912" y="3982212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The operating point is chosen using the digital system alone, before anyone sees the learned curve.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834640" y="4567428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834640" y="4713732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5.  Report per picture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4695444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Every row records what happened to one picture, including those that failed to arrive.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Objectives Met, Methodology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Objectives confirmed at this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700" b="1" i="0" dirty="0">
                <a:solidFill>
                  <a:srgbClr val="111111"/>
                </a:solidFill>
                <a:latin typeface="Arial"/>
              </a:rPr>
              <a:t>Terminology</a:t>
            </a:r>
            <a:endParaRPr sz="2700" b="1" i="0" dirty="0">
              <a:solidFill>
                <a:srgbClr val="111111"/>
              </a:solidFill>
              <a:latin typeface="Arial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55555"/>
                </a:solidFill>
                <a:latin typeface="Arial"/>
              </a:rPr>
              <a:t>Every chart in this deck runs from a weak radio signal on the left to a clean one on the right.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82496"/>
            <a:ext cx="7818120" cy="365760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783080"/>
            <a:ext cx="30723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Plain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78224" y="1783080"/>
            <a:ext cx="197510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Our term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2783" y="1783080"/>
            <a:ext cx="2112263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Where you see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048256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2148840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strong the signal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78224" y="2148840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SNR, in decibels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2783" y="2148840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left-to-right axis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542032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2642616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many pictures got through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8224" y="2642616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delivery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642616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flat 10% 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035808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3136392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many we labelled correctly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3136392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top-1 accuracy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3" y="3136392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up-and-down axis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529584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6384" y="3630168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many times we use the radio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8224" y="3630168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channel-use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783" y="3630168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12,800 or 3,200 per picture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950208" y="1682496"/>
            <a:ext cx="0" cy="2340864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144768" y="1682496"/>
            <a:ext cx="0" cy="2340864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4160520"/>
            <a:ext cx="78181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dirty="0">
                <a:solidFill>
                  <a:srgbClr val="111111"/>
                </a:solidFill>
                <a:latin typeface="Arial"/>
              </a:rPr>
              <a:t>Every point on every chart is the same 1,000 pictures, at that one signal strength.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87968" y="1682496"/>
            <a:ext cx="2651760" cy="4041648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052560" y="1847088"/>
            <a:ext cx="23225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One example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157984"/>
            <a:ext cx="23225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At the weakest signal we measured: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487168"/>
            <a:ext cx="2322576" cy="17007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The learned system labelled 728 of the 1,000 pictures correctly.</a:t>
            </a:r>
            <a:br/>
            <a:br/>
            <a:r>
              <a:rPr sz="1050" b="0" i="0">
                <a:solidFill>
                  <a:srgbClr val="555555"/>
                </a:solidFill>
                <a:latin typeface="Arial"/>
              </a:rPr>
              <a:t>The digital system got almost nothing through, so every picture fell back to the same fixed answer. That answer is right 100 times out of 1,000, which is the 10%.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052560" y="4315968"/>
            <a:ext cx="2322576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052560" y="4443984"/>
            <a:ext cx="2322576" cy="11155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That flat 10% is the fallback rule: 1,000 pictures that never arrived.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Plain language. Everything after this slide depends on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What we measured for this review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55555"/>
                </a:solidFill>
                <a:latin typeface="Arial"/>
              </a:rPr>
              <a:t>We built twelve versions of the system and tested each one at twenty-one signal strengths.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64208"/>
            <a:ext cx="10744200" cy="384048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86384" y="1764792"/>
            <a:ext cx="28895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Item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95344" y="1764792"/>
            <a:ext cx="133502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Figure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9823" y="1764792"/>
            <a:ext cx="58613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What it is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048256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2148840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Measurements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95344" y="2148840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252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9823" y="2148840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One row each in the published record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468880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2569464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Versions of the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2569464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3" y="2569464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Five are controls, not headline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889504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2990088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Signal strengths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5344" y="2990088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3" y="2990088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From weak to clean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310128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6384" y="3410712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Pictures per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95344" y="3410712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1,000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9823" y="3410712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same held-back pictures every time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730752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86384" y="3831336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Exam pictures opened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5344" y="3831336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9823" y="3831336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Sealed until week 11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767328" y="1664208"/>
            <a:ext cx="0" cy="2487168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21807" y="1664208"/>
            <a:ext cx="0" cy="2487168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58368" y="4187952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58368" y="4315968"/>
            <a:ext cx="107442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Two things to keep in mind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718304"/>
            <a:ext cx="17373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Radio time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87168" y="4700016"/>
            <a:ext cx="8915400" cy="58521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1/6 rate uses the radio 12,800 times per picture; 1/24 rate uses it 3,200 times. Within one rate both systems get exactly the same amount of radio time.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523036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5358384"/>
            <a:ext cx="17373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Who marks 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87168" y="5340096"/>
            <a:ext cx="8915400" cy="58521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The learned systems are marked by the classifier built into them. The digital systems are marked by one we trained on compressed-looking images. So every comparison in this deck is between whole systems, link and marker included.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252 measurements = 12 versions of the system × 21 signal strengths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The two models behind every number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55555"/>
                </a:solidFill>
                <a:latin typeface="Arial"/>
              </a:rPr>
              <a:t>One classifier reads the pictures. One learned link decides what to transmit.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54480"/>
            <a:ext cx="54864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The learned link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28800"/>
            <a:ext cx="5486400" cy="347472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94944" y="1929384"/>
            <a:ext cx="129844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12848" y="1929384"/>
            <a:ext cx="3749039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What it is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176272"/>
            <a:ext cx="5486400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4944" y="2276856"/>
            <a:ext cx="12984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Encoder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2276856"/>
            <a:ext cx="3749039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Conv stack, 64 then 128 channels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42032"/>
            <a:ext cx="5486400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4944" y="2642615"/>
            <a:ext cx="12984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Blocks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12848" y="2642615"/>
            <a:ext cx="3749039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2 residual blocks, Group norm, PReLU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907791"/>
            <a:ext cx="5486400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4944" y="3008375"/>
            <a:ext cx="12984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Decoder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2848" y="3008375"/>
            <a:ext cx="3749039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Mirror of the encoder, two heads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273552"/>
            <a:ext cx="5486400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4944" y="3374136"/>
            <a:ext cx="12984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Heads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12848" y="3374136"/>
            <a:ext cx="3749039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Class scores, plus a rebuilt picture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639312"/>
            <a:ext cx="5486400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4944" y="3739896"/>
            <a:ext cx="12984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Width sent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12848" y="3739896"/>
            <a:ext cx="3749039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8 complex symbols per position, 1,600 positions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005072"/>
            <a:ext cx="5486400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4944" y="4105656"/>
            <a:ext cx="12984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Parameters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12848" y="4105656"/>
            <a:ext cx="3749039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1.57 M at the 1/6 rate reported here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84831" y="1828800"/>
            <a:ext cx="0" cy="25420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272784" y="1554480"/>
            <a:ext cx="52943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How it was trained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72784" y="1828800"/>
            <a:ext cx="5294376" cy="347472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0" y="1929384"/>
            <a:ext cx="151790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Setting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1929384"/>
            <a:ext cx="3337560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Value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72784" y="2176272"/>
            <a:ext cx="5294376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2276856"/>
            <a:ext cx="151790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Objective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2276856"/>
            <a:ext cx="33375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Class scores + 3.0 × reconstruction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72784" y="2542032"/>
            <a:ext cx="5294376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0800" y="2642615"/>
            <a:ext cx="151790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Optimiser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0" y="2642615"/>
            <a:ext cx="33375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Adam, learning rate 0.001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72784" y="2907791"/>
            <a:ext cx="5294376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00800" y="3008375"/>
            <a:ext cx="151790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Schedule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0" y="3008375"/>
            <a:ext cx="33375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Cosine decay, no warm-up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72784" y="3273552"/>
            <a:ext cx="5294376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00800" y="3374136"/>
            <a:ext cx="151790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Batch, epochs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0" y="3374136"/>
            <a:ext cx="33375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32 pictures, 100 epochs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72784" y="3639312"/>
            <a:ext cx="5294376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400800" y="3739896"/>
            <a:ext cx="151790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Augmentation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0" y="3739896"/>
            <a:ext cx="33375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Random crop, horizontal flip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72784" y="4005072"/>
            <a:ext cx="5294376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00800" y="4105656"/>
            <a:ext cx="151790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Precision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8160" y="4105656"/>
            <a:ext cx="33375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Mixed 16-bit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010144" y="1828800"/>
            <a:ext cx="0" cy="25420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566928" y="4517136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66928" y="4663440"/>
            <a:ext cx="164591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The classifier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04288" y="4645152"/>
            <a:ext cx="9281160" cy="6949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ResNet-18, 11.18 M parameters, trained from scratch. It reads 89.8% of held-back pictures correctly, and that is the ceiling both systems are measured against.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66928" y="5285232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66928" y="5413248"/>
            <a:ext cx="164591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Training cost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04288" y="5394960"/>
            <a:ext cx="9281160" cy="6949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48.7 seconds per epoch and 1.0 GiB of graphics memory, measured on a laptop GPU.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Both trained from scratch on this dataset; no pre-trained weights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Where the digital system gives up, and where it takes over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One line runs the whole width of the chart. The other has a step in it near the left.</a:t>
            </a:r>
          </a:p>
        </p:txBody>
      </p:sp>
      <p:pic>
        <p:nvPicPr>
          <p:cNvPr id="5" name="Picture 4" descr="01_headline_full_sn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380" y="1645920"/>
            <a:ext cx="7466933" cy="3986784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658368" y="5797296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870448"/>
            <a:ext cx="10744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At the weakest signal the learned system is right on 728 of 1,000 while the digital system delivers nothing. From −4 dB it delivers and goes ahead. At +18 dB it is well ahead.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1/6 rate · all 21 measured signal strengths · held-back pictures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Close-up: the moment the digital system starts working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Between −5 and −4 dB the digital system begins getting pictures through, and its score jumps 73 points.</a:t>
            </a:r>
          </a:p>
        </p:txBody>
      </p:sp>
      <p:pic>
        <p:nvPicPr>
          <p:cNvPr id="5" name="Picture 4" descr="02_low_snr_close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839" y="1645920"/>
            <a:ext cx="5114015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846320"/>
            <a:ext cx="12801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At −8 dB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9967" y="4828032"/>
            <a:ext cx="93726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learned system is right on 728 of 1,000. The digital system got nothing through, so it scores 10%.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5120640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248656"/>
            <a:ext cx="12801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At −4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9967" y="5230368"/>
            <a:ext cx="93726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digital system now gets everything through and reaches 83.4%, ahead of the learned system's 79.4%.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5522976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5650992"/>
            <a:ext cx="12801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After that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967" y="5632704"/>
            <a:ext cx="93726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It dips at −2 dB and again at +9 dB.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−8 to +2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Why the digital line breaks where it does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1280160"/>
            <a:ext cx="56692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The score only moves when the pictures start or stop arriving.</a:t>
            </a:r>
          </a:p>
        </p:txBody>
      </p:sp>
      <p:pic>
        <p:nvPicPr>
          <p:cNvPr id="5" name="Picture 4" descr="08_delivery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1682496"/>
            <a:ext cx="4858041" cy="3749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9984" y="1737360"/>
            <a:ext cx="14630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The 10% is a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4464" y="1719072"/>
            <a:ext cx="3255263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Every picture takes the same fallback answer when delivery fails. On an evenly split set that is right 100 times in 1,000.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729984" y="2761488"/>
            <a:ext cx="4809744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729984" y="2889504"/>
            <a:ext cx="14630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Outages are part of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4464" y="2871216"/>
            <a:ext cx="3255263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We report how many pictures arrived next to how many we got right, so a broken link is distinguishable from a wrong guess.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29984" y="3913632"/>
            <a:ext cx="4809744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9984" y="4041648"/>
            <a:ext cx="14630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Learned always answers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4" y="4023360"/>
            <a:ext cx="3255263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Its rules promise a label at every strength, so its curve never flattens against a floor.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Analytical Skills, Results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When pictures stop arriving, the score drops to 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What happens when we cut the radio time fourfold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With four times less radio time, the digital system loses far more at the weak end than the learned one does.</a:t>
            </a:r>
          </a:p>
        </p:txBody>
      </p:sp>
      <p:pic>
        <p:nvPicPr>
          <p:cNvPr id="5" name="Picture 4" descr="03_bandwidth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2672" y="1645920"/>
            <a:ext cx="6586350" cy="26700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572000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Weak signal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4553712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Cutting from 1/6 to 1/24 rate drops the learned system from 72.8% to 49.4%.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4901184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029200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At 0 dB, 1/24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5010912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Learned 78.7% against digital 69.4%. The learned system is still ahead.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5358384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5486400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Catches up, then slips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8608" y="5468112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Digital passes learned at the +4 dB point, loses the lead at +9 dB, then goes ahead again.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1/24 rate against 1/6 rate · compare within each panel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Training across signal strengths instead of one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Picking the training signal strength at random each time lifts the whole weak end of the line.</a:t>
            </a:r>
          </a:p>
        </p:txBody>
      </p:sp>
      <p:pic>
        <p:nvPicPr>
          <p:cNvPr id="5" name="Picture 4" descr="04_training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7160" y="1645920"/>
            <a:ext cx="5717374" cy="288950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011680" y="4700016"/>
            <a:ext cx="7680960" cy="384048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39696" y="4800600"/>
            <a:ext cx="24323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91455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−8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9729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−4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0313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0 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0897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+9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481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+18 dB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5084064"/>
            <a:ext cx="7680960" cy="420624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139696" y="5184648"/>
            <a:ext cx="2432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Random each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455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77.0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729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82.4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313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83.0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897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84.1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481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83.9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5504688"/>
            <a:ext cx="768096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139696" y="5605272"/>
            <a:ext cx="2432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One fixed strength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1455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72.8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729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79.4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0313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81.2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0897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83.8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1481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83.4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66344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66928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67512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8096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68680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Two separately trained versions of the learned system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The control that keeps the comparison honest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A JPEG image is an easy thing to beat. This system is harder, and it is the one worth reporting.</a:t>
            </a:r>
          </a:p>
        </p:txBody>
      </p:sp>
      <p:pic>
        <p:nvPicPr>
          <p:cNvPr id="5" name="Picture 4" descr="05_task_aware_digi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4323" y="1645920"/>
            <a:ext cx="6043048" cy="30540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86460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What this system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4846320"/>
            <a:ext cx="882396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Instead of a JPEG image it sends the learned features themselves, through the same error-correction code and radio settings, using the same 12,800 uses of the radio. It separates “knows the task” from “codes both at once”.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541324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541264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What it settles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5522976"/>
            <a:ext cx="882396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It holds 82.0% at every strength from −4 dB up. Sending learned features digitally is strong once pictures get through, so the weak-signal gap is about failed deliveries as much as representation.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Same radio time, same error-correction code, same modulation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Keeping the signal peaks from getting too tall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A real transmitter needs a limit on signal peaks, so we trained a second model under one.</a:t>
            </a:r>
          </a:p>
        </p:txBody>
      </p:sp>
      <p:pic>
        <p:nvPicPr>
          <p:cNvPr id="5" name="Picture 4" descr="06_papr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0788" y="1645920"/>
            <a:ext cx="6090118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224528"/>
            <a:ext cx="10744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5555"/>
                </a:solidFill>
                <a:latin typeface="Arial"/>
              </a:rPr>
              <a:t>“Peak-to-average power ratio” = how much taller the tallest spike is than the average.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4590288"/>
            <a:ext cx="8321040" cy="384048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91056" y="4690872"/>
            <a:ext cx="28895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4690872"/>
            <a:ext cx="15179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Tallest spike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7376" y="4690872"/>
            <a:ext cx="15179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At −8 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4736" y="4690872"/>
            <a:ext cx="15179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At +18 dB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4974336"/>
            <a:ext cx="8321040" cy="420624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91056" y="5074920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Power-limited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5074920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3.000002 dB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5074920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75.9%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4736" y="5074920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83.2%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5394959"/>
            <a:ext cx="832104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591056" y="5495544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Ordinary learned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0016" y="5495544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20.059284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5495544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72.8%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5495544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83.4%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72000" y="4590288"/>
            <a:ext cx="0" cy="1225295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309360" y="4590288"/>
            <a:ext cx="0" cy="1225295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46719" y="4590288"/>
            <a:ext cx="0" cy="1225295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Peak-to-average power ratio, measured on the numbers we send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Four controls on the digital system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Each panel takes one design choice away and shows what it was worth.</a:t>
            </a:r>
          </a:p>
        </p:txBody>
      </p:sp>
      <p:pic>
        <p:nvPicPr>
          <p:cNvPr id="5" name="Picture 4" descr="07_secondary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8307" y="1609344"/>
            <a:ext cx="3415079" cy="2487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3159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Fixed settings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42976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Sits at the fallback floor until +6 dB, then reaches 89.0%. Choosing settings per strength buys real reach.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464515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47731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Fixed modulation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47548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Starts working later than adaptive selection, and settles near 88.7%.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510235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52303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JPEG secondary curve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8608" y="52120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88.6% at +18 dB, with a full outage at +9 dB.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555955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56875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Sending the answer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56692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82.0% once it arrives, using the sender’s own predicted label.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Settings, image format, sending the answer, rebuilding the picture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The numbers behind the curves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How many of the 1,000 held-back pictures we labelled correctly, one picture at a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09344"/>
            <a:ext cx="530352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1/6 rate — 12,800 uses of the radio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157216" cy="365760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94944" y="1984248"/>
            <a:ext cx="160934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238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102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9663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830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66944" y="1984248"/>
            <a:ext cx="3657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249424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4944" y="2350008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Learned, one strength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374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72.8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238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77.5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79.4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9663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81.2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30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6944" y="2350008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651760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94944" y="2752344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Digital, picks settings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7238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102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9663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87.3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86.5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2752344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89.3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054096"/>
            <a:ext cx="5157216" cy="40233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4944" y="3154679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Learned, random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2374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77.0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7238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2102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9663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1830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84.1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66944" y="3154679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456432"/>
            <a:ext cx="5157216" cy="40233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94944" y="3557016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Digital, learned feats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2374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10.0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7238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10.0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2102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69663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1830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66944" y="3557016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858768"/>
            <a:ext cx="5157216" cy="40233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94944" y="3959352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Learned, power-limited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2374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75.9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7238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80.1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2102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80.5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69663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1830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66944" y="3959352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83.2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39572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94436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49300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04164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59028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13892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6144768" y="1609344"/>
            <a:ext cx="515721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1/24 rate — 3,200 uses of the radio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44768" y="1883664"/>
            <a:ext cx="5157216" cy="365760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272783" y="1984248"/>
            <a:ext cx="160934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System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01583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5022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9886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74750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9614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844784" y="1984248"/>
            <a:ext cx="3657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+18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44768" y="2249424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272783" y="2350008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Learned, one strength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3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49.4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5022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69.3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9886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76.2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4750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78.7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29614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82.0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844784" y="2350008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82.8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44768" y="2651760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72783" y="2752344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Digital, picks settings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01583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5022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9886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31.0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4750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69.4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29614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44784" y="2752344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87.7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973567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852220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07084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61948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16812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0716767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6144768" y="3054096"/>
            <a:ext cx="515721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Where the two lines cross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44768" y="3346704"/>
            <a:ext cx="5157216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At 1/6 rate, which system is ahead flips between −5 dB and −4 dB. We decided the crossing question on exactly that, before seeing the answer.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658368" y="4224528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658368" y="4352544"/>
            <a:ext cx="106070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Reading the two tables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8368" y="4681728"/>
            <a:ext cx="1060704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Each column is one signal strength; each cell is the number of correct labels out of the same 1,000 held-back pictures. At 1/6 rate the learned row leads up to −5 dB and the digital row leads from −4 dB. At 1/24 rate the digital row stays on the fallback floor four dB longer, then climbs past the learned row from +4 dB. The difference between the two tables is the effect of cutting radio time fourfold.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Pictures labelled correctly out of 1,000 · held-back set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How to read these results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1463040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One training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90087" y="1444752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A single observed measurement per figure, from one run over 1,000 held-back pictures.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2194560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2322576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Whole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0087" y="2304288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Marked by their own classifier on one side, by one trained on compressed images on the other. These numbers describe whole systems.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3054096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3182112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Different amounts of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0087" y="3163824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Digital settings and grader were frozen from earlier validation work; the learned versions are separate training runs.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91363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041648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Simulated channel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0087" y="4023360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Spike heights are measured on the numbers we send. Real-radio replay is scheduled for late October.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477316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4901183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Frozen operating points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7" y="4882896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fallback rule and fixed settings produce visible jumps. Every curve passes through measured points.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5870448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5925312"/>
            <a:ext cx="10744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Both outcomes count as a successful project: a crossing, and the learned system winning everywhere.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Analytical Skills, Methodology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The qualifications behind every number in this deck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Four times we changed the approach because of what we found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Each one was a decision we would have got wrong on paper.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1773936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Baseline too weak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66543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We had pinned the digital system to the weakest radio setting, which made the lines crossing impossible by arithmetic. We let it pick a stronger setting as the signal improves.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49808" y="3090672"/>
            <a:ext cx="5038344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49808" y="3182112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The rule we adopted: every change strengthens the digital system or is decided in advance.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1344" y="1627632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64224" y="1773936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Signal grid too coarse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2066543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Our signal strengths were spaced 2 dB apart exactly where the sharpest drop happens, so we could have missed it entirely. We added three more strengths before it mattered.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64224" y="3090672"/>
            <a:ext cx="5038343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64224" y="3182112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Put the detail where the effect 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840480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8" y="3986784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A faulty 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279392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script that checks our packet sizes reported no problems while breaking four of its own rules. We fixed the script, and every result came out the same.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9808" y="5303520"/>
            <a:ext cx="5038344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9808" y="5394960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All 215 configurations stayed feasible, and every scientific outcome was unchanged.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3840480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64224" y="3986784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Exam set unlocked too early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4279392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exam set was set to unlock in week 9, about three weeks before the document that locks it existed. We moved that to week 11.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364224" y="5303520"/>
            <a:ext cx="5038343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64224" y="5394960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They have stayed locked ever since.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6928" y="59618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6928" y="6016752"/>
            <a:ext cx="11018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Twenty-two more changes were made during the project, three of them repairs to checks that were themselves wrong.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Methodology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What we changed once we could see the measurements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What we claim as new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627632"/>
            <a:ext cx="6967728" cy="140817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8096" y="1755648"/>
            <a:ext cx="656539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The task-aware digital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084832"/>
            <a:ext cx="6565392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A second system sends learned features through the same error-correction code and radio settings, using the same amount of radio time. It tells “knows the task” apart from “codes both at once” inside one experiment.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68096" y="2706624"/>
            <a:ext cx="6565392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8096" y="2779776"/>
            <a:ext cx="65653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Prior work reports the gap without this control.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200400"/>
            <a:ext cx="6967728" cy="140817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3328416"/>
            <a:ext cx="656539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Charging the overhead to the digital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657600"/>
            <a:ext cx="6565392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The picture file, framing, checksums and rate-matching bytes are all measured and counted, so the digital system is tuned on the payload it can genuinely use.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68096" y="4279392"/>
            <a:ext cx="6565392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68096" y="4352544"/>
            <a:ext cx="65653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Prior work quotes a nominal rate and leaves the overhead uncounted.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1627632"/>
            <a:ext cx="3657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What this builds 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7" y="2011680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011680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Getting steadily worse as the link worsens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7" y="2414016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414016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Avoiding the sudden drop-off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7" y="2816352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816352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Sending task-aware features digitally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7" y="3218688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218688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Training a neural encoder and decoder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2127" y="3712463"/>
            <a:ext cx="365760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5555"/>
                </a:solidFill>
                <a:latin typeface="Arial"/>
              </a:rPr>
              <a:t>All four are established in the prior literature. This project builds on them.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4846320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4974336"/>
            <a:ext cx="11018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Negative 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303520"/>
            <a:ext cx="1101852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Each claim resolves to a specific entry in the 30-source literature review. The full written novelty statement ships with the final review package.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Originality, Novelty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Two claims · both about experimental design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Where the remaining weeks went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40817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29 Sep – 3 Oct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2032" y="137160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Second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138988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Held-back measurements complete; package and figures frozen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42448" y="140817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done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177393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195681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5 – 11 Oct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2032" y="192024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Open the exam 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93852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One guarded opening once the freeze is signed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42448" y="195681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66928" y="232257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66928" y="250545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12 – 18 Oct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2032" y="246888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Decide everything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48716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Every hypothesis settled on the exam set; first tier frozen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42448" y="250545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6928" y="287121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6928" y="305409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19 – 25 Oct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2032" y="301752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303580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Signal-strength slider, both systems side by side, frozen plot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42448" y="305409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6928" y="341985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6928" y="360273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26 Oct – 1 Nov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42032" y="356616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Poster and hardware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58444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Poster draft; real radio only if the first tier leaves room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42448" y="360273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66928" y="396849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66928" y="415137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 – 8 Nov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2032" y="411480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Report freeze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4133087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Report finished in the required format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42448" y="415137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66928" y="451713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66928" y="470001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9 – 15 Nov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42032" y="466344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Spare week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4681727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Report completion and checking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42448" y="470001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6928" y="506577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6928" y="524865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16 – 22 Nov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2032" y="521208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Final Review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0640" y="523036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Final review 17–21 Nov; report and material due 20 Nov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42448" y="524865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66928" y="561441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66928" y="5907024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The report is due on 20 November, inside Final Review week, so the week before it is a freeze.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Timeline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Second Review 29 Sep–3 Oct · Final Review 17–21 Nov · report due 20 Nov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Where this leaves the project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426464"/>
            <a:ext cx="1101852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9536" y="1645920"/>
            <a:ext cx="10433304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The learned system keeps answering when the link is too weak for the digital one to get a single picture through. Once the digital system starts delivering, it is the more accurate of the two. They cross between −5 and −4 dB.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962656"/>
            <a:ext cx="10058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7" y="2944368"/>
            <a:ext cx="9921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One guarded run on the exam set once the locking manifest is signed.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3346704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3474720"/>
            <a:ext cx="10058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Then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7" y="3456432"/>
            <a:ext cx="9921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Every hypothesis settled on the exam set, and the first tier frozen.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928" y="3858768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66928" y="3986784"/>
            <a:ext cx="10058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Later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7" y="3968496"/>
            <a:ext cx="9921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Real-radio replay and the live demo run once the first tier is frozen.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4626864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4791456"/>
            <a:ext cx="11018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What we are asking for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138928"/>
            <a:ext cx="1101852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Questions on the method or the numbers. The per-picture records behind any point here are available on request. The exam set stays sealed until week 11.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Methodology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Questions welcome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</TotalTime>
  <Words>3035</Words>
  <Application>Microsoft Office PowerPoint</Application>
  <PresentationFormat>Widescreen</PresentationFormat>
  <Paragraphs>423</Paragraphs>
  <Slides>20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Task-Oriented Deep Joint Source–Channel Coding — Second Review</dc:title>
  <dc:subject>Capstone Second Review, 29 September – 3 October 2026</dc:subject>
  <dc:creator>Capstone project team</dc:creator>
  <cp:keywords/>
  <dc:description>W10 validation evidence only; test split sealed. Editable native shapes and text.</dc:description>
  <cp:lastModifiedBy>Lalit Kumar</cp:lastModifiedBy>
  <cp:revision>2</cp:revision>
  <dcterms:created xsi:type="dcterms:W3CDTF">2013-01-27T09:14:16Z</dcterms:created>
  <dcterms:modified xsi:type="dcterms:W3CDTF">2026-09-30T22:16:48Z</dcterms:modified>
  <cp:category/>
</cp:coreProperties>
</file>