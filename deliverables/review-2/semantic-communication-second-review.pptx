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01</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Task-Oriented Deep Joint Source–Channel Coding</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1444752"/>
            <a:ext cx="10844784" cy="420624"/>
          </a:xfrm>
          <a:prstGeom prst="rect">
            <a:avLst/>
          </a:prstGeom>
          <a:noFill/>
        </p:spPr>
        <p:txBody>
          <a:bodyPr wrap="square" lIns="45720" rIns="45720" anchor="t">
            <a:spAutoFit/>
          </a:bodyPr>
          <a:lstStyle/>
          <a:p>
            <a:pPr algn="ctr">
              <a:lnSpc>
                <a:spcPct val="100000"/>
              </a:lnSpc>
              <a:spcBef>
                <a:spcPts val="0"/>
              </a:spcBef>
              <a:spcAft>
                <a:spcPts val="0"/>
              </a:spcAft>
            </a:pPr>
            <a:r>
              <a:rPr sz="2000" b="0" i="1">
                <a:solidFill>
                  <a:srgbClr val="111111"/>
                </a:solidFill>
                <a:latin typeface="Arial"/>
              </a:rPr>
              <a:t>What a camera should send when the receiver only needs the answer</a:t>
            </a:r>
          </a:p>
        </p:txBody>
      </p:sp>
      <p:sp>
        <p:nvSpPr>
          <p:cNvPr id="7" name="Rounded Rectangle 6"/>
          <p:cNvSpPr/>
          <p:nvPr/>
        </p:nvSpPr>
        <p:spPr>
          <a:xfrm>
            <a:off x="1024128" y="2194560"/>
            <a:ext cx="2834640" cy="1170432"/>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468880"/>
            <a:ext cx="2432304" cy="219456"/>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EDGE CAMERA</a:t>
            </a:r>
          </a:p>
        </p:txBody>
      </p:sp>
      <p:sp>
        <p:nvSpPr>
          <p:cNvPr id="9" name="TextBox 8"/>
          <p:cNvSpPr txBox="1"/>
          <p:nvPr/>
        </p:nvSpPr>
        <p:spPr>
          <a:xfrm>
            <a:off x="1225296" y="2871216"/>
            <a:ext cx="2432304" cy="274320"/>
          </a:xfrm>
          <a:prstGeom prst="rect">
            <a:avLst/>
          </a:prstGeom>
          <a:noFill/>
        </p:spPr>
        <p:txBody>
          <a:bodyPr wrap="square" lIns="45720" rIns="45720" anchor="t">
            <a:spAutoFit/>
          </a:bodyPr>
          <a:lstStyle/>
          <a:p>
            <a:pPr algn="ctr">
              <a:lnSpc>
                <a:spcPct val="100000"/>
              </a:lnSpc>
              <a:spcBef>
                <a:spcPts val="0"/>
              </a:spcBef>
              <a:spcAft>
                <a:spcPts val="0"/>
              </a:spcAft>
            </a:pPr>
            <a:r>
              <a:rPr sz="1200" b="0" i="0">
                <a:solidFill>
                  <a:srgbClr val="555555"/>
                </a:solidFill>
                <a:latin typeface="Arial"/>
              </a:rPr>
              <a:t>sees an image</a:t>
            </a:r>
          </a:p>
        </p:txBody>
      </p:sp>
      <p:sp>
        <p:nvSpPr>
          <p:cNvPr id="10" name="Rounded Rectangle 9"/>
          <p:cNvSpPr/>
          <p:nvPr/>
        </p:nvSpPr>
        <p:spPr>
          <a:xfrm>
            <a:off x="4672584" y="2194560"/>
            <a:ext cx="2834640" cy="1170432"/>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73752" y="2468880"/>
            <a:ext cx="2432304" cy="219456"/>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SHORT, NOISY LINK</a:t>
            </a:r>
          </a:p>
        </p:txBody>
      </p:sp>
      <p:sp>
        <p:nvSpPr>
          <p:cNvPr id="12" name="TextBox 11"/>
          <p:cNvSpPr txBox="1"/>
          <p:nvPr/>
        </p:nvSpPr>
        <p:spPr>
          <a:xfrm>
            <a:off x="4873752" y="2871216"/>
            <a:ext cx="2432304" cy="274320"/>
          </a:xfrm>
          <a:prstGeom prst="rect">
            <a:avLst/>
          </a:prstGeom>
          <a:noFill/>
        </p:spPr>
        <p:txBody>
          <a:bodyPr wrap="square" lIns="45720" rIns="45720" anchor="t">
            <a:spAutoFit/>
          </a:bodyPr>
          <a:lstStyle/>
          <a:p>
            <a:pPr algn="ctr">
              <a:lnSpc>
                <a:spcPct val="100000"/>
              </a:lnSpc>
              <a:spcBef>
                <a:spcPts val="0"/>
              </a:spcBef>
              <a:spcAft>
                <a:spcPts val="0"/>
              </a:spcAft>
            </a:pPr>
            <a:r>
              <a:rPr sz="1200" b="0" i="0">
                <a:solidFill>
                  <a:srgbClr val="555555"/>
                </a:solidFill>
                <a:latin typeface="Arial"/>
              </a:rPr>
              <a:t>cannot carry every picture reliably</a:t>
            </a:r>
          </a:p>
        </p:txBody>
      </p:sp>
      <p:sp>
        <p:nvSpPr>
          <p:cNvPr id="13" name="Rounded Rectangle 12"/>
          <p:cNvSpPr/>
          <p:nvPr/>
        </p:nvSpPr>
        <p:spPr>
          <a:xfrm>
            <a:off x="8321040" y="2194560"/>
            <a:ext cx="2834640" cy="1170432"/>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22208" y="2468880"/>
            <a:ext cx="2432304" cy="219456"/>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RECEIVER CLASSIFIER</a:t>
            </a:r>
          </a:p>
        </p:txBody>
      </p:sp>
      <p:sp>
        <p:nvSpPr>
          <p:cNvPr id="15" name="TextBox 14"/>
          <p:cNvSpPr txBox="1"/>
          <p:nvPr/>
        </p:nvSpPr>
        <p:spPr>
          <a:xfrm>
            <a:off x="8522208" y="2871216"/>
            <a:ext cx="2432304" cy="274320"/>
          </a:xfrm>
          <a:prstGeom prst="rect">
            <a:avLst/>
          </a:prstGeom>
          <a:noFill/>
        </p:spPr>
        <p:txBody>
          <a:bodyPr wrap="square" lIns="45720" rIns="45720" anchor="t">
            <a:spAutoFit/>
          </a:bodyPr>
          <a:lstStyle/>
          <a:p>
            <a:pPr algn="ctr">
              <a:lnSpc>
                <a:spcPct val="100000"/>
              </a:lnSpc>
              <a:spcBef>
                <a:spcPts val="0"/>
              </a:spcBef>
              <a:spcAft>
                <a:spcPts val="0"/>
              </a:spcAft>
            </a:pPr>
            <a:r>
              <a:rPr sz="1200" b="0" i="0">
                <a:solidFill>
                  <a:srgbClr val="555555"/>
                </a:solidFill>
                <a:latin typeface="Arial"/>
              </a:rPr>
              <a:t>needs one label back</a:t>
            </a:r>
          </a:p>
        </p:txBody>
      </p:sp>
      <p:cxnSp>
        <p:nvCxnSpPr>
          <p:cNvPr id="16" name="Connector 15"/>
          <p:cNvCxnSpPr/>
          <p:nvPr/>
        </p:nvCxnSpPr>
        <p:spPr>
          <a:xfrm>
            <a:off x="3950208" y="2779776"/>
            <a:ext cx="585216" cy="0"/>
          </a:xfrm>
          <a:prstGeom prst="line">
            <a:avLst/>
          </a:prstGeom>
          <a:ln w="15240">
            <a:solidFill>
              <a:srgbClr val="999999"/>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4471416" y="2729484"/>
            <a:ext cx="128016" cy="100584"/>
          </a:xfrm>
          <a:prstGeom prst="triangl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7598664" y="2779776"/>
            <a:ext cx="585216" cy="0"/>
          </a:xfrm>
          <a:prstGeom prst="line">
            <a:avLst/>
          </a:prstGeom>
          <a:ln w="15240">
            <a:solidFill>
              <a:srgbClr val="999999"/>
            </a:solidFill>
          </a:ln>
        </p:spPr>
        <p:style>
          <a:lnRef idx="2">
            <a:schemeClr val="accent1"/>
          </a:lnRef>
          <a:fillRef idx="0">
            <a:schemeClr val="accent1"/>
          </a:fillRef>
          <a:effectRef idx="1">
            <a:schemeClr val="accent1"/>
          </a:effectRef>
          <a:fontRef idx="minor">
            <a:schemeClr val="tx1"/>
          </a:fontRef>
        </p:style>
      </p:cxnSp>
      <p:sp>
        <p:nvSpPr>
          <p:cNvPr id="19" name="Isosceles Triangle 18"/>
          <p:cNvSpPr/>
          <p:nvPr/>
        </p:nvSpPr>
        <p:spPr>
          <a:xfrm rot="5400000">
            <a:off x="8119872" y="2729484"/>
            <a:ext cx="128016" cy="100584"/>
          </a:xfrm>
          <a:prstGeom prst="triangl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0120" y="3895344"/>
            <a:ext cx="10268712" cy="1188720"/>
          </a:xfrm>
          <a:prstGeom prst="roundRect">
            <a:avLst/>
          </a:prstGeom>
          <a:solidFill>
            <a:srgbClr val="FFFFFF"/>
          </a:solidFill>
          <a:ln w="15240">
            <a:solidFill>
              <a:srgbClr val="11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225296" y="4114800"/>
            <a:ext cx="841248" cy="25603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07592" y="4155948"/>
            <a:ext cx="676656" cy="173736"/>
          </a:xfrm>
          <a:prstGeom prst="rect">
            <a:avLst/>
          </a:prstGeom>
          <a:noFill/>
        </p:spPr>
        <p:txBody>
          <a:bodyPr wrap="square" lIns="45720" rIns="45720" anchor="ctr">
            <a:spAutoFit/>
          </a:bodyPr>
          <a:lstStyle/>
          <a:p>
            <a:pPr algn="l">
              <a:lnSpc>
                <a:spcPct val="100000"/>
              </a:lnSpc>
              <a:spcBef>
                <a:spcPts val="0"/>
              </a:spcBef>
              <a:spcAft>
                <a:spcPts val="0"/>
              </a:spcAft>
            </a:pPr>
            <a:r>
              <a:rPr sz="819" b="1" i="0">
                <a:solidFill>
                  <a:srgbClr val="111111"/>
                </a:solidFill>
                <a:latin typeface="Arial"/>
              </a:rPr>
              <a:t>THESIS</a:t>
            </a:r>
          </a:p>
        </p:txBody>
      </p:sp>
      <p:sp>
        <p:nvSpPr>
          <p:cNvPr id="23" name="TextBox 22"/>
          <p:cNvSpPr txBox="1"/>
          <p:nvPr/>
        </p:nvSpPr>
        <p:spPr>
          <a:xfrm>
            <a:off x="1216152" y="4498848"/>
            <a:ext cx="9747504" cy="420624"/>
          </a:xfrm>
          <a:prstGeom prst="rect">
            <a:avLst/>
          </a:prstGeom>
          <a:noFill/>
        </p:spPr>
        <p:txBody>
          <a:bodyPr wrap="square" lIns="45720" rIns="45720" anchor="ctr">
            <a:spAutoFit/>
          </a:bodyPr>
          <a:lstStyle/>
          <a:p>
            <a:pPr algn="ctr">
              <a:lnSpc>
                <a:spcPct val="100000"/>
              </a:lnSpc>
              <a:spcBef>
                <a:spcPts val="0"/>
              </a:spcBef>
              <a:spcAft>
                <a:spcPts val="0"/>
              </a:spcAft>
            </a:pPr>
            <a:r>
              <a:rPr sz="1700" b="0" i="0">
                <a:solidFill>
                  <a:srgbClr val="111111"/>
                </a:solidFill>
                <a:latin typeface="Arial"/>
              </a:rPr>
              <a:t>Train the sender and the receiver together so the classification decision survives a short, noisy link.</a:t>
            </a:r>
          </a:p>
        </p:txBody>
      </p:sp>
      <p:sp>
        <p:nvSpPr>
          <p:cNvPr id="24" name="Rounded Rectangle 23"/>
          <p:cNvSpPr/>
          <p:nvPr/>
        </p:nvSpPr>
        <p:spPr>
          <a:xfrm>
            <a:off x="960120" y="5321808"/>
            <a:ext cx="10268712" cy="859536"/>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97864" y="5468112"/>
            <a:ext cx="9793224" cy="585216"/>
          </a:xfrm>
          <a:prstGeom prst="rect">
            <a:avLst/>
          </a:prstGeom>
          <a:noFill/>
        </p:spPr>
        <p:txBody>
          <a:bodyPr wrap="square" lIns="45720" rIns="45720" anchor="t">
            <a:spAutoFit/>
          </a:bodyPr>
          <a:lstStyle/>
          <a:p>
            <a:pPr algn="ctr">
              <a:lnSpc>
                <a:spcPct val="100000"/>
              </a:lnSpc>
              <a:spcBef>
                <a:spcPts val="0"/>
              </a:spcBef>
              <a:spcAft>
                <a:spcPts val="0"/>
              </a:spcAft>
            </a:pPr>
            <a:r>
              <a:rPr sz="1200" b="0" i="0">
                <a:solidFill>
                  <a:srgbClr val="111111"/>
                </a:solidFill>
                <a:latin typeface="Arial"/>
              </a:rPr>
              <a:t>Second Review, 29 September – 3 October 2026.</a:t>
            </a:r>
            <a:br/>
            <a:r>
              <a:rPr sz="1200" b="0" i="0">
                <a:solidFill>
                  <a:srgbClr val="111111"/>
                </a:solidFill>
                <a:latin typeface="Arial"/>
              </a:rPr>
              <a:t>Everything here was measured on held-back pictures. The exam set has not been opened.</a:t>
            </a:r>
          </a:p>
        </p:txBody>
      </p:sp>
      <p:cxnSp>
        <p:nvCxnSpPr>
          <p:cNvPr id="26" name="Connector 25"/>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3035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3503"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29" name="Rounded Rectangle 28"/>
          <p:cNvSpPr/>
          <p:nvPr/>
        </p:nvSpPr>
        <p:spPr>
          <a:xfrm>
            <a:off x="1376172" y="6519672"/>
            <a:ext cx="10972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49324" y="6547104"/>
            <a:ext cx="95097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PRESENTATION</a:t>
            </a:r>
          </a:p>
        </p:txBody>
      </p:sp>
      <p:sp>
        <p:nvSpPr>
          <p:cNvPr id="31" name="TextBox 30"/>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Held-back pictures only · the exam set has never been opened</a:t>
            </a:r>
          </a:p>
        </p:txBody>
      </p:sp>
      <p:sp>
        <p:nvSpPr>
          <p:cNvPr id="32" name="TextBox 31"/>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02</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What has changed since the first review</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80160"/>
            <a:ext cx="10680192" cy="310896"/>
          </a:xfrm>
          <a:prstGeom prst="rect">
            <a:avLst/>
          </a:prstGeom>
          <a:noFill/>
        </p:spPr>
        <p:txBody>
          <a:bodyPr wrap="square" lIns="45720" rIns="45720" anchor="t">
            <a:spAutoFit/>
          </a:bodyPr>
          <a:lstStyle/>
          <a:p>
            <a:pPr algn="ctr">
              <a:lnSpc>
                <a:spcPct val="100000"/>
              </a:lnSpc>
              <a:spcBef>
                <a:spcPts val="0"/>
              </a:spcBef>
              <a:spcAft>
                <a:spcPts val="0"/>
              </a:spcAft>
            </a:pPr>
            <a:r>
              <a:rPr sz="1400" b="0" i="0">
                <a:solidFill>
                  <a:srgbClr val="555555"/>
                </a:solidFill>
                <a:latin typeface="Arial"/>
              </a:rPr>
              <a:t>In August we had a working digital system and no trained learned model. We have both now.</a:t>
            </a:r>
          </a:p>
        </p:txBody>
      </p:sp>
      <p:sp>
        <p:nvSpPr>
          <p:cNvPr id="7" name="Rounded Rectangle 6"/>
          <p:cNvSpPr/>
          <p:nvPr/>
        </p:nvSpPr>
        <p:spPr>
          <a:xfrm>
            <a:off x="749808" y="1773936"/>
            <a:ext cx="10680192" cy="422452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9264" y="1975104"/>
            <a:ext cx="676656" cy="219456"/>
          </a:xfrm>
          <a:prstGeom prst="rect">
            <a:avLst/>
          </a:prstGeom>
          <a:noFill/>
        </p:spPr>
        <p:txBody>
          <a:bodyPr wrap="square" lIns="45720" rIns="45720" anchor="t">
            <a:spAutoFit/>
          </a:bodyPr>
          <a:lstStyle/>
          <a:p>
            <a:pPr algn="l">
              <a:lnSpc>
                <a:spcPct val="100000"/>
              </a:lnSpc>
              <a:spcBef>
                <a:spcPts val="0"/>
              </a:spcBef>
              <a:spcAft>
                <a:spcPts val="0"/>
              </a:spcAft>
            </a:pPr>
            <a:r>
              <a:rPr sz="1000" b="1" i="0">
                <a:solidFill>
                  <a:srgbClr val="555555"/>
                </a:solidFill>
                <a:latin typeface="Arial"/>
              </a:rPr>
              <a:t>Aug</a:t>
            </a:r>
          </a:p>
        </p:txBody>
      </p:sp>
      <p:sp>
        <p:nvSpPr>
          <p:cNvPr id="9" name="TextBox 8"/>
          <p:cNvSpPr txBox="1"/>
          <p:nvPr/>
        </p:nvSpPr>
        <p:spPr>
          <a:xfrm>
            <a:off x="1700784" y="1938528"/>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The digital system</a:t>
            </a:r>
          </a:p>
        </p:txBody>
      </p:sp>
      <p:sp>
        <p:nvSpPr>
          <p:cNvPr id="10" name="TextBox 9"/>
          <p:cNvSpPr txBox="1"/>
          <p:nvPr/>
        </p:nvSpPr>
        <p:spPr>
          <a:xfrm>
            <a:off x="3877056" y="1956816"/>
            <a:ext cx="7315200" cy="40233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Measured how badly it loses pictures at every setting, tested it on all 288,000 held-back combinations, and froze the settings it should use at each signal strength</a:t>
            </a:r>
          </a:p>
        </p:txBody>
      </p:sp>
      <p:cxnSp>
        <p:nvCxnSpPr>
          <p:cNvPr id="11" name="Connector 10"/>
          <p:cNvCxnSpPr/>
          <p:nvPr/>
        </p:nvCxnSpPr>
        <p:spPr>
          <a:xfrm>
            <a:off x="969264" y="2368296"/>
            <a:ext cx="1018641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69264" y="2482596"/>
            <a:ext cx="676656" cy="219456"/>
          </a:xfrm>
          <a:prstGeom prst="rect">
            <a:avLst/>
          </a:prstGeom>
          <a:noFill/>
        </p:spPr>
        <p:txBody>
          <a:bodyPr wrap="square" lIns="45720" rIns="45720" anchor="t">
            <a:spAutoFit/>
          </a:bodyPr>
          <a:lstStyle/>
          <a:p>
            <a:pPr algn="l">
              <a:lnSpc>
                <a:spcPct val="100000"/>
              </a:lnSpc>
              <a:spcBef>
                <a:spcPts val="0"/>
              </a:spcBef>
              <a:spcAft>
                <a:spcPts val="0"/>
              </a:spcAft>
            </a:pPr>
            <a:r>
              <a:rPr sz="1000" b="1" i="0">
                <a:solidFill>
                  <a:srgbClr val="555555"/>
                </a:solidFill>
                <a:latin typeface="Arial"/>
              </a:rPr>
              <a:t>Aug</a:t>
            </a:r>
          </a:p>
        </p:txBody>
      </p:sp>
      <p:sp>
        <p:nvSpPr>
          <p:cNvPr id="13" name="TextBox 12"/>
          <p:cNvSpPr txBox="1"/>
          <p:nvPr/>
        </p:nvSpPr>
        <p:spPr>
          <a:xfrm>
            <a:off x="1700784" y="2446020"/>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The learned system</a:t>
            </a:r>
          </a:p>
        </p:txBody>
      </p:sp>
      <p:sp>
        <p:nvSpPr>
          <p:cNvPr id="14" name="TextBox 13"/>
          <p:cNvSpPr txBox="1"/>
          <p:nvPr/>
        </p:nvSpPr>
        <p:spPr>
          <a:xfrm>
            <a:off x="3877056" y="2464308"/>
            <a:ext cx="7315200" cy="40233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Built the training loop, trained models at several seeds, and froze three of them at half rate</a:t>
            </a:r>
          </a:p>
        </p:txBody>
      </p:sp>
      <p:cxnSp>
        <p:nvCxnSpPr>
          <p:cNvPr id="15" name="Connector 14"/>
          <p:cNvCxnSpPr/>
          <p:nvPr/>
        </p:nvCxnSpPr>
        <p:spPr>
          <a:xfrm>
            <a:off x="969264" y="2875788"/>
            <a:ext cx="1018641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9264" y="2990088"/>
            <a:ext cx="676656" cy="219456"/>
          </a:xfrm>
          <a:prstGeom prst="rect">
            <a:avLst/>
          </a:prstGeom>
          <a:noFill/>
        </p:spPr>
        <p:txBody>
          <a:bodyPr wrap="square" lIns="45720" rIns="45720" anchor="t">
            <a:spAutoFit/>
          </a:bodyPr>
          <a:lstStyle/>
          <a:p>
            <a:pPr algn="l">
              <a:lnSpc>
                <a:spcPct val="100000"/>
              </a:lnSpc>
              <a:spcBef>
                <a:spcPts val="0"/>
              </a:spcBef>
              <a:spcAft>
                <a:spcPts val="0"/>
              </a:spcAft>
            </a:pPr>
            <a:r>
              <a:rPr sz="1000" b="1" i="0">
                <a:solidFill>
                  <a:srgbClr val="555555"/>
                </a:solidFill>
                <a:latin typeface="Arial"/>
              </a:rPr>
              <a:t>Sep</a:t>
            </a:r>
          </a:p>
        </p:txBody>
      </p:sp>
      <p:sp>
        <p:nvSpPr>
          <p:cNvPr id="17" name="TextBox 16"/>
          <p:cNvSpPr txBox="1"/>
          <p:nvPr/>
        </p:nvSpPr>
        <p:spPr>
          <a:xfrm>
            <a:off x="1700784" y="2953512"/>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The fair comparison</a:t>
            </a:r>
          </a:p>
        </p:txBody>
      </p:sp>
      <p:sp>
        <p:nvSpPr>
          <p:cNvPr id="18" name="TextBox 17"/>
          <p:cNvSpPr txBox="1"/>
          <p:nvPr/>
        </p:nvSpPr>
        <p:spPr>
          <a:xfrm>
            <a:off x="3877056" y="2971800"/>
            <a:ext cx="7315200" cy="40233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Built the control that sends learned features digitally, so we are not just comparing against a normal compressed picture</a:t>
            </a:r>
          </a:p>
        </p:txBody>
      </p:sp>
      <p:cxnSp>
        <p:nvCxnSpPr>
          <p:cNvPr id="19" name="Connector 18"/>
          <p:cNvCxnSpPr/>
          <p:nvPr/>
        </p:nvCxnSpPr>
        <p:spPr>
          <a:xfrm>
            <a:off x="969264" y="3383280"/>
            <a:ext cx="1018641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9264" y="3497580"/>
            <a:ext cx="676656" cy="219456"/>
          </a:xfrm>
          <a:prstGeom prst="rect">
            <a:avLst/>
          </a:prstGeom>
          <a:noFill/>
        </p:spPr>
        <p:txBody>
          <a:bodyPr wrap="square" lIns="45720" rIns="45720" anchor="t">
            <a:spAutoFit/>
          </a:bodyPr>
          <a:lstStyle/>
          <a:p>
            <a:pPr algn="l">
              <a:lnSpc>
                <a:spcPct val="100000"/>
              </a:lnSpc>
              <a:spcBef>
                <a:spcPts val="0"/>
              </a:spcBef>
              <a:spcAft>
                <a:spcPts val="0"/>
              </a:spcAft>
            </a:pPr>
            <a:r>
              <a:rPr sz="1000" b="1" i="0">
                <a:solidFill>
                  <a:srgbClr val="555555"/>
                </a:solidFill>
                <a:latin typeface="Arial"/>
              </a:rPr>
              <a:t>Sep</a:t>
            </a:r>
          </a:p>
        </p:txBody>
      </p:sp>
      <p:sp>
        <p:nvSpPr>
          <p:cNvPr id="21" name="TextBox 20"/>
          <p:cNvSpPr txBox="1"/>
          <p:nvPr/>
        </p:nvSpPr>
        <p:spPr>
          <a:xfrm>
            <a:off x="1700784" y="3461004"/>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Weak-link training</a:t>
            </a:r>
          </a:p>
        </p:txBody>
      </p:sp>
      <p:sp>
        <p:nvSpPr>
          <p:cNvPr id="22" name="TextBox 21"/>
          <p:cNvSpPr txBox="1"/>
          <p:nvPr/>
        </p:nvSpPr>
        <p:spPr>
          <a:xfrm>
            <a:off x="3877056" y="3479292"/>
            <a:ext cx="7315200" cy="40233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Trained a second version with the signal strength picked at random, and compared it against the first</a:t>
            </a:r>
          </a:p>
        </p:txBody>
      </p:sp>
      <p:cxnSp>
        <p:nvCxnSpPr>
          <p:cNvPr id="23" name="Connector 22"/>
          <p:cNvCxnSpPr/>
          <p:nvPr/>
        </p:nvCxnSpPr>
        <p:spPr>
          <a:xfrm>
            <a:off x="969264" y="3890772"/>
            <a:ext cx="1018641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69264" y="4005072"/>
            <a:ext cx="676656" cy="219456"/>
          </a:xfrm>
          <a:prstGeom prst="rect">
            <a:avLst/>
          </a:prstGeom>
          <a:noFill/>
        </p:spPr>
        <p:txBody>
          <a:bodyPr wrap="square" lIns="45720" rIns="45720" anchor="t">
            <a:spAutoFit/>
          </a:bodyPr>
          <a:lstStyle/>
          <a:p>
            <a:pPr algn="l">
              <a:lnSpc>
                <a:spcPct val="100000"/>
              </a:lnSpc>
              <a:spcBef>
                <a:spcPts val="0"/>
              </a:spcBef>
              <a:spcAft>
                <a:spcPts val="0"/>
              </a:spcAft>
            </a:pPr>
            <a:r>
              <a:rPr sz="1000" b="1" i="0">
                <a:solidFill>
                  <a:srgbClr val="555555"/>
                </a:solidFill>
                <a:latin typeface="Arial"/>
              </a:rPr>
              <a:t>Sep</a:t>
            </a:r>
          </a:p>
        </p:txBody>
      </p:sp>
      <p:sp>
        <p:nvSpPr>
          <p:cNvPr id="25" name="TextBox 24"/>
          <p:cNvSpPr txBox="1"/>
          <p:nvPr/>
        </p:nvSpPr>
        <p:spPr>
          <a:xfrm>
            <a:off x="1700784" y="3968496"/>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The crossing question</a:t>
            </a:r>
          </a:p>
        </p:txBody>
      </p:sp>
      <p:sp>
        <p:nvSpPr>
          <p:cNvPr id="26" name="TextBox 25"/>
          <p:cNvSpPr txBox="1"/>
          <p:nvPr/>
        </p:nvSpPr>
        <p:spPr>
          <a:xfrm>
            <a:off x="3877056" y="3986783"/>
            <a:ext cx="7315200" cy="40233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Decided it on held-back pictures before seeing the answer: the two lines cross between −5 and −4 dB</a:t>
            </a:r>
          </a:p>
        </p:txBody>
      </p:sp>
      <p:cxnSp>
        <p:nvCxnSpPr>
          <p:cNvPr id="27" name="Connector 26"/>
          <p:cNvCxnSpPr/>
          <p:nvPr/>
        </p:nvCxnSpPr>
        <p:spPr>
          <a:xfrm>
            <a:off x="969264" y="4398264"/>
            <a:ext cx="1018641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69264" y="4512564"/>
            <a:ext cx="676656" cy="219456"/>
          </a:xfrm>
          <a:prstGeom prst="rect">
            <a:avLst/>
          </a:prstGeom>
          <a:noFill/>
        </p:spPr>
        <p:txBody>
          <a:bodyPr wrap="square" lIns="45720" rIns="45720" anchor="t">
            <a:spAutoFit/>
          </a:bodyPr>
          <a:lstStyle/>
          <a:p>
            <a:pPr algn="l">
              <a:lnSpc>
                <a:spcPct val="100000"/>
              </a:lnSpc>
              <a:spcBef>
                <a:spcPts val="0"/>
              </a:spcBef>
              <a:spcAft>
                <a:spcPts val="0"/>
              </a:spcAft>
            </a:pPr>
            <a:r>
              <a:rPr sz="1000" b="1" i="0">
                <a:solidFill>
                  <a:srgbClr val="555555"/>
                </a:solidFill>
                <a:latin typeface="Arial"/>
              </a:rPr>
              <a:t>Sep</a:t>
            </a:r>
          </a:p>
        </p:txBody>
      </p:sp>
      <p:sp>
        <p:nvSpPr>
          <p:cNvPr id="29" name="TextBox 28"/>
          <p:cNvSpPr txBox="1"/>
          <p:nvPr/>
        </p:nvSpPr>
        <p:spPr>
          <a:xfrm>
            <a:off x="1700784" y="4475988"/>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Power limits</a:t>
            </a:r>
          </a:p>
        </p:txBody>
      </p:sp>
      <p:sp>
        <p:nvSpPr>
          <p:cNvPr id="30" name="TextBox 29"/>
          <p:cNvSpPr txBox="1"/>
          <p:nvPr/>
        </p:nvSpPr>
        <p:spPr>
          <a:xfrm>
            <a:off x="3877056" y="4494276"/>
            <a:ext cx="7315200" cy="40233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Trained one model under a hard limit on how tall the signal spikes may get</a:t>
            </a:r>
          </a:p>
        </p:txBody>
      </p:sp>
      <p:cxnSp>
        <p:nvCxnSpPr>
          <p:cNvPr id="31" name="Connector 30"/>
          <p:cNvCxnSpPr/>
          <p:nvPr/>
        </p:nvCxnSpPr>
        <p:spPr>
          <a:xfrm>
            <a:off x="969264" y="4905756"/>
            <a:ext cx="1018641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69264" y="5020056"/>
            <a:ext cx="676656" cy="219456"/>
          </a:xfrm>
          <a:prstGeom prst="rect">
            <a:avLst/>
          </a:prstGeom>
          <a:noFill/>
        </p:spPr>
        <p:txBody>
          <a:bodyPr wrap="square" lIns="45720" rIns="45720" anchor="t">
            <a:spAutoFit/>
          </a:bodyPr>
          <a:lstStyle/>
          <a:p>
            <a:pPr algn="l">
              <a:lnSpc>
                <a:spcPct val="100000"/>
              </a:lnSpc>
              <a:spcBef>
                <a:spcPts val="0"/>
              </a:spcBef>
              <a:spcAft>
                <a:spcPts val="0"/>
              </a:spcAft>
            </a:pPr>
            <a:r>
              <a:rPr sz="1000" b="1" i="0">
                <a:solidFill>
                  <a:srgbClr val="555555"/>
                </a:solidFill>
                <a:latin typeface="Arial"/>
              </a:rPr>
              <a:t>Oct</a:t>
            </a:r>
          </a:p>
        </p:txBody>
      </p:sp>
      <p:sp>
        <p:nvSpPr>
          <p:cNvPr id="33" name="TextBox 32"/>
          <p:cNvSpPr txBox="1"/>
          <p:nvPr/>
        </p:nvSpPr>
        <p:spPr>
          <a:xfrm>
            <a:off x="1700784" y="4983480"/>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The measurements</a:t>
            </a:r>
          </a:p>
        </p:txBody>
      </p:sp>
      <p:sp>
        <p:nvSpPr>
          <p:cNvPr id="34" name="TextBox 33"/>
          <p:cNvSpPr txBox="1"/>
          <p:nvPr/>
        </p:nvSpPr>
        <p:spPr>
          <a:xfrm>
            <a:off x="3877056" y="5001768"/>
            <a:ext cx="7315200" cy="40233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252 measurements across twelve versions of the system and twenty-one signal strengths, 1,000 held-back pictures each</a:t>
            </a:r>
          </a:p>
        </p:txBody>
      </p:sp>
      <p:cxnSp>
        <p:nvCxnSpPr>
          <p:cNvPr id="35" name="Connector 34"/>
          <p:cNvCxnSpPr/>
          <p:nvPr/>
        </p:nvCxnSpPr>
        <p:spPr>
          <a:xfrm>
            <a:off x="969264" y="5413248"/>
            <a:ext cx="1018641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69264" y="5527548"/>
            <a:ext cx="676656" cy="219456"/>
          </a:xfrm>
          <a:prstGeom prst="rect">
            <a:avLst/>
          </a:prstGeom>
          <a:noFill/>
        </p:spPr>
        <p:txBody>
          <a:bodyPr wrap="square" lIns="45720" rIns="45720" anchor="t">
            <a:spAutoFit/>
          </a:bodyPr>
          <a:lstStyle/>
          <a:p>
            <a:pPr algn="l">
              <a:lnSpc>
                <a:spcPct val="100000"/>
              </a:lnSpc>
              <a:spcBef>
                <a:spcPts val="0"/>
              </a:spcBef>
              <a:spcAft>
                <a:spcPts val="0"/>
              </a:spcAft>
            </a:pPr>
            <a:r>
              <a:rPr sz="1000" b="1" i="0">
                <a:solidFill>
                  <a:srgbClr val="555555"/>
                </a:solidFill>
                <a:latin typeface="Arial"/>
              </a:rPr>
              <a:t>Nov</a:t>
            </a:r>
          </a:p>
        </p:txBody>
      </p:sp>
      <p:sp>
        <p:nvSpPr>
          <p:cNvPr id="37" name="TextBox 36"/>
          <p:cNvSpPr txBox="1"/>
          <p:nvPr/>
        </p:nvSpPr>
        <p:spPr>
          <a:xfrm>
            <a:off x="1700784" y="5490972"/>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The exam set</a:t>
            </a:r>
          </a:p>
        </p:txBody>
      </p:sp>
      <p:sp>
        <p:nvSpPr>
          <p:cNvPr id="38" name="TextBox 37"/>
          <p:cNvSpPr txBox="1"/>
          <p:nvPr/>
        </p:nvSpPr>
        <p:spPr>
          <a:xfrm>
            <a:off x="3877056" y="5509260"/>
            <a:ext cx="7315200" cy="40233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Still locked. It opens in week 11 once the locking document is signed</a:t>
            </a:r>
          </a:p>
        </p:txBody>
      </p:sp>
      <p:sp>
        <p:nvSpPr>
          <p:cNvPr id="39" name="TextBox 38"/>
          <p:cNvSpPr txBox="1"/>
          <p:nvPr/>
        </p:nvSpPr>
        <p:spPr>
          <a:xfrm>
            <a:off x="749808" y="6144768"/>
            <a:ext cx="10680192" cy="219456"/>
          </a:xfrm>
          <a:prstGeom prst="rect">
            <a:avLst/>
          </a:prstGeom>
          <a:noFill/>
        </p:spPr>
        <p:txBody>
          <a:bodyPr wrap="square" lIns="45720" rIns="45720" anchor="t">
            <a:spAutoFit/>
          </a:bodyPr>
          <a:lstStyle/>
          <a:p>
            <a:pPr algn="ctr">
              <a:lnSpc>
                <a:spcPct val="100000"/>
              </a:lnSpc>
              <a:spcBef>
                <a:spcPts val="0"/>
              </a:spcBef>
              <a:spcAft>
                <a:spcPts val="0"/>
              </a:spcAft>
            </a:pPr>
            <a:r>
              <a:rPr sz="1050" b="0" i="1">
                <a:solidFill>
                  <a:srgbClr val="555555"/>
                </a:solidFill>
                <a:latin typeface="Arial"/>
              </a:rPr>
              <a:t>Everything above ran on held-back pictures. The exam set stays locked until gate G-12.</a:t>
            </a:r>
          </a:p>
        </p:txBody>
      </p:sp>
      <p:cxnSp>
        <p:nvCxnSpPr>
          <p:cNvPr id="40" name="Connector 39"/>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0352" y="6519672"/>
            <a:ext cx="822959"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3" y="6547104"/>
            <a:ext cx="67665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TIMELINE</a:t>
            </a:r>
          </a:p>
        </p:txBody>
      </p:sp>
      <p:sp>
        <p:nvSpPr>
          <p:cNvPr id="43" name="Rounded Rectangle 42"/>
          <p:cNvSpPr/>
          <p:nvPr/>
        </p:nvSpPr>
        <p:spPr>
          <a:xfrm>
            <a:off x="1444751"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517904"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45" name="TextBox 44"/>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First review 18–22 Aug 2026 · Second review 29 Sep–3 Oct 2026</a:t>
            </a:r>
          </a:p>
        </p:txBody>
      </p:sp>
      <p:sp>
        <p:nvSpPr>
          <p:cNvPr id="46" name="TextBox 45"/>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03</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Objectives, stated as completion criteria</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61872"/>
            <a:ext cx="10680192" cy="292608"/>
          </a:xfrm>
          <a:prstGeom prst="rect">
            <a:avLst/>
          </a:prstGeom>
          <a:noFill/>
        </p:spPr>
        <p:txBody>
          <a:bodyPr wrap="square" lIns="45720" rIns="45720" anchor="t">
            <a:spAutoFit/>
          </a:bodyPr>
          <a:lstStyle/>
          <a:p>
            <a:pPr algn="ctr">
              <a:lnSpc>
                <a:spcPct val="100000"/>
              </a:lnSpc>
              <a:spcBef>
                <a:spcPts val="0"/>
              </a:spcBef>
              <a:spcAft>
                <a:spcPts val="0"/>
              </a:spcAft>
            </a:pPr>
            <a:r>
              <a:rPr sz="1250" b="0" i="0">
                <a:solidFill>
                  <a:srgbClr val="555555"/>
                </a:solidFill>
                <a:latin typeface="Arial"/>
              </a:rPr>
              <a:t>The rubric asks whether we finished what we set out to do, so we wrote it as things we did, not results we hoped for.</a:t>
            </a:r>
          </a:p>
        </p:txBody>
      </p:sp>
      <p:sp>
        <p:nvSpPr>
          <p:cNvPr id="7" name="Rounded Rectangle 6"/>
          <p:cNvSpPr/>
          <p:nvPr/>
        </p:nvSpPr>
        <p:spPr>
          <a:xfrm>
            <a:off x="749808" y="1737360"/>
            <a:ext cx="6839712" cy="420624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1956816"/>
            <a:ext cx="1188720" cy="25603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1997964"/>
            <a:ext cx="1024128" cy="173736"/>
          </a:xfrm>
          <a:prstGeom prst="rect">
            <a:avLst/>
          </a:prstGeom>
          <a:noFill/>
        </p:spPr>
        <p:txBody>
          <a:bodyPr wrap="square" lIns="45720" rIns="45720" anchor="ctr">
            <a:spAutoFit/>
          </a:bodyPr>
          <a:lstStyle/>
          <a:p>
            <a:pPr algn="l">
              <a:lnSpc>
                <a:spcPct val="100000"/>
              </a:lnSpc>
              <a:spcBef>
                <a:spcPts val="0"/>
              </a:spcBef>
              <a:spcAft>
                <a:spcPts val="0"/>
              </a:spcAft>
            </a:pPr>
            <a:r>
              <a:rPr sz="819" b="1" i="0">
                <a:solidFill>
                  <a:srgbClr val="111111"/>
                </a:solidFill>
                <a:latin typeface="Arial"/>
              </a:rPr>
              <a:t>WHAT WE SET OUT TO DO</a:t>
            </a:r>
          </a:p>
        </p:txBody>
      </p:sp>
      <p:sp>
        <p:nvSpPr>
          <p:cNvPr id="10" name="Oval 9"/>
          <p:cNvSpPr/>
          <p:nvPr/>
        </p:nvSpPr>
        <p:spPr>
          <a:xfrm>
            <a:off x="1005840" y="2423160"/>
            <a:ext cx="274320" cy="274320"/>
          </a:xfrm>
          <a:prstGeom prst="ellipse">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478024"/>
            <a:ext cx="274320" cy="146304"/>
          </a:xfrm>
          <a:prstGeom prst="rect">
            <a:avLst/>
          </a:prstGeom>
          <a:noFill/>
        </p:spPr>
        <p:txBody>
          <a:bodyPr wrap="square" lIns="45720" rIns="45720" anchor="t">
            <a:spAutoFit/>
          </a:bodyPr>
          <a:lstStyle/>
          <a:p>
            <a:pPr algn="ctr">
              <a:lnSpc>
                <a:spcPct val="100000"/>
              </a:lnSpc>
              <a:spcBef>
                <a:spcPts val="0"/>
              </a:spcBef>
              <a:spcAft>
                <a:spcPts val="0"/>
              </a:spcAft>
            </a:pPr>
            <a:r>
              <a:rPr sz="900" b="1" i="0">
                <a:solidFill>
                  <a:srgbClr val="FFFFFF"/>
                </a:solidFill>
                <a:latin typeface="Arial"/>
              </a:rPr>
              <a:t>1</a:t>
            </a:r>
          </a:p>
        </p:txBody>
      </p:sp>
      <p:sp>
        <p:nvSpPr>
          <p:cNvPr id="12" name="TextBox 11"/>
          <p:cNvSpPr txBox="1"/>
          <p:nvPr/>
        </p:nvSpPr>
        <p:spPr>
          <a:xfrm>
            <a:off x="1408176" y="2395728"/>
            <a:ext cx="1700784"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Build it</a:t>
            </a:r>
          </a:p>
        </p:txBody>
      </p:sp>
      <p:sp>
        <p:nvSpPr>
          <p:cNvPr id="13" name="TextBox 12"/>
          <p:cNvSpPr txBox="1"/>
          <p:nvPr/>
        </p:nvSpPr>
        <p:spPr>
          <a:xfrm>
            <a:off x="3163824" y="2377440"/>
            <a:ext cx="4187952" cy="56692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Train a learned sender and receiver together, so the picture goes through the same kind of noise a radio adds.</a:t>
            </a:r>
          </a:p>
        </p:txBody>
      </p:sp>
      <p:cxnSp>
        <p:nvCxnSpPr>
          <p:cNvPr id="14" name="Connector 13"/>
          <p:cNvCxnSpPr/>
          <p:nvPr/>
        </p:nvCxnSpPr>
        <p:spPr>
          <a:xfrm>
            <a:off x="1408176" y="2962656"/>
            <a:ext cx="5943599"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05840" y="3118103"/>
            <a:ext cx="274320" cy="274320"/>
          </a:xfrm>
          <a:prstGeom prst="ellipse">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172968"/>
            <a:ext cx="274320" cy="146304"/>
          </a:xfrm>
          <a:prstGeom prst="rect">
            <a:avLst/>
          </a:prstGeom>
          <a:noFill/>
        </p:spPr>
        <p:txBody>
          <a:bodyPr wrap="square" lIns="45720" rIns="45720" anchor="t">
            <a:spAutoFit/>
          </a:bodyPr>
          <a:lstStyle/>
          <a:p>
            <a:pPr algn="ctr">
              <a:lnSpc>
                <a:spcPct val="100000"/>
              </a:lnSpc>
              <a:spcBef>
                <a:spcPts val="0"/>
              </a:spcBef>
              <a:spcAft>
                <a:spcPts val="0"/>
              </a:spcAft>
            </a:pPr>
            <a:r>
              <a:rPr sz="900" b="1" i="0">
                <a:solidFill>
                  <a:srgbClr val="FFFFFF"/>
                </a:solidFill>
                <a:latin typeface="Arial"/>
              </a:rPr>
              <a:t>2</a:t>
            </a:r>
          </a:p>
        </p:txBody>
      </p:sp>
      <p:sp>
        <p:nvSpPr>
          <p:cNvPr id="17" name="TextBox 16"/>
          <p:cNvSpPr txBox="1"/>
          <p:nvPr/>
        </p:nvSpPr>
        <p:spPr>
          <a:xfrm>
            <a:off x="1408176" y="3090672"/>
            <a:ext cx="1700784"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Same radio time</a:t>
            </a:r>
          </a:p>
        </p:txBody>
      </p:sp>
      <p:sp>
        <p:nvSpPr>
          <p:cNvPr id="18" name="TextBox 17"/>
          <p:cNvSpPr txBox="1"/>
          <p:nvPr/>
        </p:nvSpPr>
        <p:spPr>
          <a:xfrm>
            <a:off x="3163824" y="3072384"/>
            <a:ext cx="4187952" cy="56692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At every signal strength and rate, both systems get the same number of chances to use the radio.</a:t>
            </a:r>
          </a:p>
        </p:txBody>
      </p:sp>
      <p:cxnSp>
        <p:nvCxnSpPr>
          <p:cNvPr id="19" name="Connector 18"/>
          <p:cNvCxnSpPr/>
          <p:nvPr/>
        </p:nvCxnSpPr>
        <p:spPr>
          <a:xfrm>
            <a:off x="1408176" y="3657600"/>
            <a:ext cx="5943599"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1005840" y="3813048"/>
            <a:ext cx="274320" cy="274320"/>
          </a:xfrm>
          <a:prstGeom prst="ellipse">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3867912"/>
            <a:ext cx="274320" cy="146304"/>
          </a:xfrm>
          <a:prstGeom prst="rect">
            <a:avLst/>
          </a:prstGeom>
          <a:noFill/>
        </p:spPr>
        <p:txBody>
          <a:bodyPr wrap="square" lIns="45720" rIns="45720" anchor="t">
            <a:spAutoFit/>
          </a:bodyPr>
          <a:lstStyle/>
          <a:p>
            <a:pPr algn="ctr">
              <a:lnSpc>
                <a:spcPct val="100000"/>
              </a:lnSpc>
              <a:spcBef>
                <a:spcPts val="0"/>
              </a:spcBef>
              <a:spcAft>
                <a:spcPts val="0"/>
              </a:spcAft>
            </a:pPr>
            <a:r>
              <a:rPr sz="900" b="1" i="0">
                <a:solidFill>
                  <a:srgbClr val="FFFFFF"/>
                </a:solidFill>
                <a:latin typeface="Arial"/>
              </a:rPr>
              <a:t>3</a:t>
            </a:r>
          </a:p>
        </p:txBody>
      </p:sp>
      <p:sp>
        <p:nvSpPr>
          <p:cNvPr id="22" name="TextBox 21"/>
          <p:cNvSpPr txBox="1"/>
          <p:nvPr/>
        </p:nvSpPr>
        <p:spPr>
          <a:xfrm>
            <a:off x="1408176" y="3785616"/>
            <a:ext cx="1700784"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Charge the overhead</a:t>
            </a:r>
          </a:p>
        </p:txBody>
      </p:sp>
      <p:sp>
        <p:nvSpPr>
          <p:cNvPr id="23" name="TextBox 22"/>
          <p:cNvSpPr txBox="1"/>
          <p:nvPr/>
        </p:nvSpPr>
        <p:spPr>
          <a:xfrm>
            <a:off x="3163824" y="3767328"/>
            <a:ext cx="4187952" cy="56692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Checksums, padding and error-correction bytes come out of the budget before any picture data.</a:t>
            </a:r>
          </a:p>
        </p:txBody>
      </p:sp>
      <p:cxnSp>
        <p:nvCxnSpPr>
          <p:cNvPr id="24" name="Connector 23"/>
          <p:cNvCxnSpPr/>
          <p:nvPr/>
        </p:nvCxnSpPr>
        <p:spPr>
          <a:xfrm>
            <a:off x="1408176" y="4352544"/>
            <a:ext cx="5943599"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1005840" y="4507992"/>
            <a:ext cx="274320" cy="274320"/>
          </a:xfrm>
          <a:prstGeom prst="ellipse">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562856"/>
            <a:ext cx="274320" cy="146304"/>
          </a:xfrm>
          <a:prstGeom prst="rect">
            <a:avLst/>
          </a:prstGeom>
          <a:noFill/>
        </p:spPr>
        <p:txBody>
          <a:bodyPr wrap="square" lIns="45720" rIns="45720" anchor="t">
            <a:spAutoFit/>
          </a:bodyPr>
          <a:lstStyle/>
          <a:p>
            <a:pPr algn="ctr">
              <a:lnSpc>
                <a:spcPct val="100000"/>
              </a:lnSpc>
              <a:spcBef>
                <a:spcPts val="0"/>
              </a:spcBef>
              <a:spcAft>
                <a:spcPts val="0"/>
              </a:spcAft>
            </a:pPr>
            <a:r>
              <a:rPr sz="900" b="1" i="0">
                <a:solidFill>
                  <a:srgbClr val="FFFFFF"/>
                </a:solidFill>
                <a:latin typeface="Arial"/>
              </a:rPr>
              <a:t>4</a:t>
            </a:r>
          </a:p>
        </p:txBody>
      </p:sp>
      <p:sp>
        <p:nvSpPr>
          <p:cNvPr id="27" name="TextBox 26"/>
          <p:cNvSpPr txBox="1"/>
          <p:nvPr/>
        </p:nvSpPr>
        <p:spPr>
          <a:xfrm>
            <a:off x="1408176" y="4480560"/>
            <a:ext cx="1700784"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Pick the setting fairly</a:t>
            </a:r>
          </a:p>
        </p:txBody>
      </p:sp>
      <p:sp>
        <p:nvSpPr>
          <p:cNvPr id="28" name="TextBox 27"/>
          <p:cNvSpPr txBox="1"/>
          <p:nvPr/>
        </p:nvSpPr>
        <p:spPr>
          <a:xfrm>
            <a:off x="3163824" y="4462272"/>
            <a:ext cx="4187952" cy="56692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The operating point is chosen using the digital system alone, before anyone sees the learned curve.</a:t>
            </a:r>
          </a:p>
        </p:txBody>
      </p:sp>
      <p:cxnSp>
        <p:nvCxnSpPr>
          <p:cNvPr id="29" name="Connector 28"/>
          <p:cNvCxnSpPr/>
          <p:nvPr/>
        </p:nvCxnSpPr>
        <p:spPr>
          <a:xfrm>
            <a:off x="1408176" y="5047488"/>
            <a:ext cx="5943599"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05840" y="5202936"/>
            <a:ext cx="274320" cy="274320"/>
          </a:xfrm>
          <a:prstGeom prst="ellipse">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257800"/>
            <a:ext cx="274320" cy="146304"/>
          </a:xfrm>
          <a:prstGeom prst="rect">
            <a:avLst/>
          </a:prstGeom>
          <a:noFill/>
        </p:spPr>
        <p:txBody>
          <a:bodyPr wrap="square" lIns="45720" rIns="45720" anchor="t">
            <a:spAutoFit/>
          </a:bodyPr>
          <a:lstStyle/>
          <a:p>
            <a:pPr algn="ctr">
              <a:lnSpc>
                <a:spcPct val="100000"/>
              </a:lnSpc>
              <a:spcBef>
                <a:spcPts val="0"/>
              </a:spcBef>
              <a:spcAft>
                <a:spcPts val="0"/>
              </a:spcAft>
            </a:pPr>
            <a:r>
              <a:rPr sz="900" b="1" i="0">
                <a:solidFill>
                  <a:srgbClr val="FFFFFF"/>
                </a:solidFill>
                <a:latin typeface="Arial"/>
              </a:rPr>
              <a:t>5</a:t>
            </a:r>
          </a:p>
        </p:txBody>
      </p:sp>
      <p:sp>
        <p:nvSpPr>
          <p:cNvPr id="32" name="TextBox 31"/>
          <p:cNvSpPr txBox="1"/>
          <p:nvPr/>
        </p:nvSpPr>
        <p:spPr>
          <a:xfrm>
            <a:off x="1408176" y="5175504"/>
            <a:ext cx="1700784" cy="237744"/>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Report per picture</a:t>
            </a:r>
          </a:p>
        </p:txBody>
      </p:sp>
      <p:sp>
        <p:nvSpPr>
          <p:cNvPr id="33" name="TextBox 32"/>
          <p:cNvSpPr txBox="1"/>
          <p:nvPr/>
        </p:nvSpPr>
        <p:spPr>
          <a:xfrm>
            <a:off x="3163824" y="5157216"/>
            <a:ext cx="4187952" cy="56692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Every row records what happened to one picture, including the ones that never arrived.</a:t>
            </a:r>
          </a:p>
        </p:txBody>
      </p:sp>
      <p:sp>
        <p:nvSpPr>
          <p:cNvPr id="34" name="Rounded Rectangle 33"/>
          <p:cNvSpPr/>
          <p:nvPr/>
        </p:nvSpPr>
        <p:spPr>
          <a:xfrm>
            <a:off x="7900416" y="1737360"/>
            <a:ext cx="3529584" cy="4206240"/>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156448" y="1956816"/>
            <a:ext cx="1627632" cy="25603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38744" y="1997964"/>
            <a:ext cx="1463040" cy="173736"/>
          </a:xfrm>
          <a:prstGeom prst="rect">
            <a:avLst/>
          </a:prstGeom>
          <a:noFill/>
        </p:spPr>
        <p:txBody>
          <a:bodyPr wrap="square" lIns="45720" rIns="45720" anchor="ctr">
            <a:spAutoFit/>
          </a:bodyPr>
          <a:lstStyle/>
          <a:p>
            <a:pPr algn="l">
              <a:lnSpc>
                <a:spcPct val="100000"/>
              </a:lnSpc>
              <a:spcBef>
                <a:spcPts val="0"/>
              </a:spcBef>
              <a:spcAft>
                <a:spcPts val="0"/>
              </a:spcAft>
            </a:pPr>
            <a:r>
              <a:rPr sz="819" b="1" i="0">
                <a:solidFill>
                  <a:srgbClr val="111111"/>
                </a:solidFill>
                <a:latin typeface="Arial"/>
              </a:rPr>
              <a:t>WHAT WE DID NOT AIM FOR</a:t>
            </a:r>
          </a:p>
        </p:txBody>
      </p:sp>
      <p:sp>
        <p:nvSpPr>
          <p:cNvPr id="37" name="TextBox 36"/>
          <p:cNvSpPr txBox="1"/>
          <p:nvPr/>
        </p:nvSpPr>
        <p:spPr>
          <a:xfrm>
            <a:off x="8156448" y="2450592"/>
            <a:ext cx="3017520" cy="1316736"/>
          </a:xfrm>
          <a:prstGeom prst="rect">
            <a:avLst/>
          </a:prstGeom>
          <a:noFill/>
        </p:spPr>
        <p:txBody>
          <a:bodyPr wrap="square" lIns="45720" rIns="45720" anchor="t">
            <a:spAutoFit/>
          </a:bodyPr>
          <a:lstStyle/>
          <a:p>
            <a:pPr algn="ctr">
              <a:lnSpc>
                <a:spcPct val="100000"/>
              </a:lnSpc>
              <a:spcBef>
                <a:spcPts val="0"/>
              </a:spcBef>
              <a:spcAft>
                <a:spcPts val="0"/>
              </a:spcAft>
            </a:pPr>
            <a:r>
              <a:rPr sz="1600" b="1" i="0">
                <a:solidFill>
                  <a:srgbClr val="111111"/>
                </a:solidFill>
                <a:latin typeface="Arial"/>
              </a:rPr>
              <a:t>“Show that the learned system beats the digital one.”</a:t>
            </a:r>
          </a:p>
        </p:txBody>
      </p:sp>
      <p:sp>
        <p:nvSpPr>
          <p:cNvPr id="38" name="TextBox 37"/>
          <p:cNvSpPr txBox="1"/>
          <p:nvPr/>
        </p:nvSpPr>
        <p:spPr>
          <a:xfrm>
            <a:off x="8156448" y="3913632"/>
            <a:ext cx="3017520" cy="1755648"/>
          </a:xfrm>
          <a:prstGeom prst="rect">
            <a:avLst/>
          </a:prstGeom>
          <a:noFill/>
        </p:spPr>
        <p:txBody>
          <a:bodyPr wrap="square" lIns="45720" rIns="45720" anchor="t">
            <a:spAutoFit/>
          </a:bodyPr>
          <a:lstStyle/>
          <a:p>
            <a:pPr algn="ctr">
              <a:lnSpc>
                <a:spcPct val="100000"/>
              </a:lnSpc>
              <a:spcBef>
                <a:spcPts val="0"/>
              </a:spcBef>
              <a:spcAft>
                <a:spcPts val="0"/>
              </a:spcAft>
            </a:pPr>
            <a:r>
              <a:rPr sz="1100" b="0" i="0">
                <a:solidFill>
                  <a:srgbClr val="111111"/>
                </a:solidFill>
                <a:latin typeface="Arial"/>
              </a:rPr>
              <a:t>That is a result, not an objective. Our specification treats both a crossing and the learned system winning everywhere as complete, successful outcomes. The rubric scores this review on what we set out to do, not on which way the curve went.</a:t>
            </a:r>
          </a:p>
        </p:txBody>
      </p:sp>
      <p:sp>
        <p:nvSpPr>
          <p:cNvPr id="39" name="TextBox 38"/>
          <p:cNvSpPr txBox="1"/>
          <p:nvPr/>
        </p:nvSpPr>
        <p:spPr>
          <a:xfrm>
            <a:off x="749808" y="6071616"/>
            <a:ext cx="10680192" cy="219456"/>
          </a:xfrm>
          <a:prstGeom prst="rect">
            <a:avLst/>
          </a:prstGeom>
          <a:noFill/>
        </p:spPr>
        <p:txBody>
          <a:bodyPr wrap="square" lIns="45720" rIns="45720" anchor="t">
            <a:spAutoFit/>
          </a:bodyPr>
          <a:lstStyle/>
          <a:p>
            <a:pPr algn="ctr">
              <a:lnSpc>
                <a:spcPct val="100000"/>
              </a:lnSpc>
              <a:spcBef>
                <a:spcPts val="0"/>
              </a:spcBef>
              <a:spcAft>
                <a:spcPts val="0"/>
              </a:spcAft>
            </a:pPr>
            <a:r>
              <a:rPr sz="1050" b="0" i="1">
                <a:solidFill>
                  <a:srgbClr val="555555"/>
                </a:solidFill>
                <a:latin typeface="Arial"/>
              </a:rPr>
              <a:t>We found a crossing, so the fallback we had planned for never happened and the objectives were not rewritten.</a:t>
            </a:r>
          </a:p>
        </p:txBody>
      </p:sp>
      <p:cxnSp>
        <p:nvCxnSpPr>
          <p:cNvPr id="40" name="Connector 39"/>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0352" y="6519672"/>
            <a:ext cx="123444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3" y="6547104"/>
            <a:ext cx="108813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OBJECTIVES MET</a:t>
            </a:r>
          </a:p>
        </p:txBody>
      </p:sp>
      <p:sp>
        <p:nvSpPr>
          <p:cNvPr id="43" name="Rounded Rectangle 42"/>
          <p:cNvSpPr/>
          <p:nvPr/>
        </p:nvSpPr>
        <p:spPr>
          <a:xfrm>
            <a:off x="1856232" y="6519672"/>
            <a:ext cx="102870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29384" y="6547104"/>
            <a:ext cx="88239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METHODOLOGY</a:t>
            </a:r>
          </a:p>
        </p:txBody>
      </p:sp>
      <p:sp>
        <p:nvSpPr>
          <p:cNvPr id="45" name="TextBox 44"/>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Objectives are not restated at this review</a:t>
            </a:r>
          </a:p>
        </p:txBody>
      </p:sp>
      <p:sp>
        <p:nvSpPr>
          <p:cNvPr id="46" name="TextBox 45"/>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04</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Before the numbers, one picture</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61872"/>
            <a:ext cx="10680192" cy="310896"/>
          </a:xfrm>
          <a:prstGeom prst="rect">
            <a:avLst/>
          </a:prstGeom>
          <a:noFill/>
        </p:spPr>
        <p:txBody>
          <a:bodyPr wrap="square" lIns="45720" rIns="45720" anchor="t">
            <a:spAutoFit/>
          </a:bodyPr>
          <a:lstStyle/>
          <a:p>
            <a:pPr algn="ctr">
              <a:lnSpc>
                <a:spcPct val="100000"/>
              </a:lnSpc>
              <a:spcBef>
                <a:spcPts val="0"/>
              </a:spcBef>
              <a:spcAft>
                <a:spcPts val="0"/>
              </a:spcAft>
            </a:pPr>
            <a:r>
              <a:rPr sz="1350" b="0" i="0">
                <a:solidFill>
                  <a:srgbClr val="555555"/>
                </a:solidFill>
                <a:latin typeface="Arial"/>
              </a:rPr>
              <a:t>Every chart that follows runs from a very weak radio signal on the left to a clean one on the right.</a:t>
            </a:r>
          </a:p>
        </p:txBody>
      </p:sp>
      <p:sp>
        <p:nvSpPr>
          <p:cNvPr id="7" name="Rounded Rectangle 6"/>
          <p:cNvSpPr/>
          <p:nvPr/>
        </p:nvSpPr>
        <p:spPr>
          <a:xfrm>
            <a:off x="749808" y="1719072"/>
            <a:ext cx="6675120" cy="3895344"/>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1938528"/>
            <a:ext cx="1737360" cy="25603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1979676"/>
            <a:ext cx="1572768" cy="173736"/>
          </a:xfrm>
          <a:prstGeom prst="rect">
            <a:avLst/>
          </a:prstGeom>
          <a:noFill/>
        </p:spPr>
        <p:txBody>
          <a:bodyPr wrap="square" lIns="45720" rIns="45720" anchor="ctr">
            <a:spAutoFit/>
          </a:bodyPr>
          <a:lstStyle/>
          <a:p>
            <a:pPr algn="l">
              <a:lnSpc>
                <a:spcPct val="100000"/>
              </a:lnSpc>
              <a:spcBef>
                <a:spcPts val="0"/>
              </a:spcBef>
              <a:spcAft>
                <a:spcPts val="0"/>
              </a:spcAft>
            </a:pPr>
            <a:r>
              <a:rPr sz="819" b="1" i="0">
                <a:solidFill>
                  <a:srgbClr val="111111"/>
                </a:solidFill>
                <a:latin typeface="Arial"/>
              </a:rPr>
              <a:t>PLAIN WORDS / OUR TERM</a:t>
            </a:r>
          </a:p>
        </p:txBody>
      </p:sp>
      <p:sp>
        <p:nvSpPr>
          <p:cNvPr id="10" name="Rectangle 9"/>
          <p:cNvSpPr/>
          <p:nvPr/>
        </p:nvSpPr>
        <p:spPr>
          <a:xfrm>
            <a:off x="987552" y="2542032"/>
            <a:ext cx="73152" cy="310896"/>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2505456"/>
            <a:ext cx="2560320" cy="274320"/>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How strong the signal is</a:t>
            </a:r>
          </a:p>
        </p:txBody>
      </p:sp>
      <p:sp>
        <p:nvSpPr>
          <p:cNvPr id="12" name="TextBox 11"/>
          <p:cNvSpPr txBox="1"/>
          <p:nvPr/>
        </p:nvSpPr>
        <p:spPr>
          <a:xfrm>
            <a:off x="3840480" y="2523744"/>
            <a:ext cx="1755648" cy="23774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111111"/>
                </a:solidFill>
                <a:latin typeface="Arial"/>
              </a:rPr>
              <a:t>SNR, in decibels</a:t>
            </a:r>
          </a:p>
        </p:txBody>
      </p:sp>
      <p:sp>
        <p:nvSpPr>
          <p:cNvPr id="13" name="TextBox 12"/>
          <p:cNvSpPr txBox="1"/>
          <p:nvPr/>
        </p:nvSpPr>
        <p:spPr>
          <a:xfrm>
            <a:off x="5650992" y="2523744"/>
            <a:ext cx="1572768" cy="365760"/>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the left-to-right axis</a:t>
            </a:r>
          </a:p>
        </p:txBody>
      </p:sp>
      <p:cxnSp>
        <p:nvCxnSpPr>
          <p:cNvPr id="14" name="Connector 13"/>
          <p:cNvCxnSpPr/>
          <p:nvPr/>
        </p:nvCxnSpPr>
        <p:spPr>
          <a:xfrm>
            <a:off x="987552" y="3035808"/>
            <a:ext cx="62179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87552" y="3273552"/>
            <a:ext cx="73152" cy="310896"/>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07008" y="3236976"/>
            <a:ext cx="2560320" cy="274320"/>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How many pictures got through</a:t>
            </a:r>
          </a:p>
        </p:txBody>
      </p:sp>
      <p:sp>
        <p:nvSpPr>
          <p:cNvPr id="17" name="TextBox 16"/>
          <p:cNvSpPr txBox="1"/>
          <p:nvPr/>
        </p:nvSpPr>
        <p:spPr>
          <a:xfrm>
            <a:off x="3840480" y="3255264"/>
            <a:ext cx="1755648" cy="23774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111111"/>
                </a:solidFill>
                <a:latin typeface="Arial"/>
              </a:rPr>
              <a:t>delivery coverage</a:t>
            </a:r>
          </a:p>
        </p:txBody>
      </p:sp>
      <p:sp>
        <p:nvSpPr>
          <p:cNvPr id="18" name="TextBox 17"/>
          <p:cNvSpPr txBox="1"/>
          <p:nvPr/>
        </p:nvSpPr>
        <p:spPr>
          <a:xfrm>
            <a:off x="5650992" y="3255264"/>
            <a:ext cx="1572768" cy="365760"/>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the flat 10% line</a:t>
            </a:r>
          </a:p>
        </p:txBody>
      </p:sp>
      <p:cxnSp>
        <p:nvCxnSpPr>
          <p:cNvPr id="19" name="Connector 18"/>
          <p:cNvCxnSpPr/>
          <p:nvPr/>
        </p:nvCxnSpPr>
        <p:spPr>
          <a:xfrm>
            <a:off x="987552" y="3767328"/>
            <a:ext cx="62179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987552" y="4005072"/>
            <a:ext cx="73152" cy="310896"/>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7008" y="3968496"/>
            <a:ext cx="2560320" cy="274320"/>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How many we labelled correctly</a:t>
            </a:r>
          </a:p>
        </p:txBody>
      </p:sp>
      <p:sp>
        <p:nvSpPr>
          <p:cNvPr id="22" name="TextBox 21"/>
          <p:cNvSpPr txBox="1"/>
          <p:nvPr/>
        </p:nvSpPr>
        <p:spPr>
          <a:xfrm>
            <a:off x="3840480" y="3986784"/>
            <a:ext cx="1755648" cy="23774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111111"/>
                </a:solidFill>
                <a:latin typeface="Arial"/>
              </a:rPr>
              <a:t>top-1 accuracy</a:t>
            </a:r>
          </a:p>
        </p:txBody>
      </p:sp>
      <p:sp>
        <p:nvSpPr>
          <p:cNvPr id="23" name="TextBox 22"/>
          <p:cNvSpPr txBox="1"/>
          <p:nvPr/>
        </p:nvSpPr>
        <p:spPr>
          <a:xfrm>
            <a:off x="5650992" y="3986784"/>
            <a:ext cx="1572768" cy="365760"/>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the up-and-down axis</a:t>
            </a:r>
          </a:p>
        </p:txBody>
      </p:sp>
      <p:cxnSp>
        <p:nvCxnSpPr>
          <p:cNvPr id="24" name="Connector 23"/>
          <p:cNvCxnSpPr/>
          <p:nvPr/>
        </p:nvCxnSpPr>
        <p:spPr>
          <a:xfrm>
            <a:off x="987552" y="4498848"/>
            <a:ext cx="62179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87552" y="4736592"/>
            <a:ext cx="73152" cy="310896"/>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07008" y="4700016"/>
            <a:ext cx="2560320" cy="274320"/>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How many times we use the radio</a:t>
            </a:r>
          </a:p>
        </p:txBody>
      </p:sp>
      <p:sp>
        <p:nvSpPr>
          <p:cNvPr id="27" name="TextBox 26"/>
          <p:cNvSpPr txBox="1"/>
          <p:nvPr/>
        </p:nvSpPr>
        <p:spPr>
          <a:xfrm>
            <a:off x="3840480" y="4718304"/>
            <a:ext cx="1755648" cy="23774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111111"/>
                </a:solidFill>
                <a:latin typeface="Arial"/>
              </a:rPr>
              <a:t>channel-use budget</a:t>
            </a:r>
          </a:p>
        </p:txBody>
      </p:sp>
      <p:sp>
        <p:nvSpPr>
          <p:cNvPr id="28" name="TextBox 27"/>
          <p:cNvSpPr txBox="1"/>
          <p:nvPr/>
        </p:nvSpPr>
        <p:spPr>
          <a:xfrm>
            <a:off x="5650992" y="4718304"/>
            <a:ext cx="1572768" cy="365760"/>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12,800 or 3,200 per picture</a:t>
            </a:r>
          </a:p>
        </p:txBody>
      </p:sp>
      <p:sp>
        <p:nvSpPr>
          <p:cNvPr id="29" name="TextBox 28"/>
          <p:cNvSpPr txBox="1"/>
          <p:nvPr/>
        </p:nvSpPr>
        <p:spPr>
          <a:xfrm>
            <a:off x="987552" y="5285232"/>
            <a:ext cx="6217920" cy="256032"/>
          </a:xfrm>
          <a:prstGeom prst="rect">
            <a:avLst/>
          </a:prstGeom>
          <a:noFill/>
        </p:spPr>
        <p:txBody>
          <a:bodyPr wrap="square" lIns="45720" rIns="45720" anchor="t">
            <a:spAutoFit/>
          </a:bodyPr>
          <a:lstStyle/>
          <a:p>
            <a:pPr algn="l">
              <a:lnSpc>
                <a:spcPct val="100000"/>
              </a:lnSpc>
              <a:spcBef>
                <a:spcPts val="0"/>
              </a:spcBef>
              <a:spcAft>
                <a:spcPts val="0"/>
              </a:spcAft>
            </a:pPr>
            <a:r>
              <a:rPr sz="1100" b="0" i="1">
                <a:solidFill>
                  <a:srgbClr val="555555"/>
                </a:solidFill>
                <a:latin typeface="Arial"/>
              </a:rPr>
              <a:t>Every point on every chart is the same 1,000 pictures, at that one signal strength.</a:t>
            </a:r>
          </a:p>
        </p:txBody>
      </p:sp>
      <p:sp>
        <p:nvSpPr>
          <p:cNvPr id="30" name="Rounded Rectangle 29"/>
          <p:cNvSpPr/>
          <p:nvPr/>
        </p:nvSpPr>
        <p:spPr>
          <a:xfrm>
            <a:off x="7735824" y="1719072"/>
            <a:ext cx="3712463" cy="3895344"/>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991856" y="1938528"/>
            <a:ext cx="1554480" cy="25603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74152" y="1979676"/>
            <a:ext cx="1389888" cy="173736"/>
          </a:xfrm>
          <a:prstGeom prst="rect">
            <a:avLst/>
          </a:prstGeom>
          <a:noFill/>
        </p:spPr>
        <p:txBody>
          <a:bodyPr wrap="square" lIns="45720" rIns="45720" anchor="ctr">
            <a:spAutoFit/>
          </a:bodyPr>
          <a:lstStyle/>
          <a:p>
            <a:pPr algn="l">
              <a:lnSpc>
                <a:spcPct val="100000"/>
              </a:lnSpc>
              <a:spcBef>
                <a:spcPts val="0"/>
              </a:spcBef>
              <a:spcAft>
                <a:spcPts val="0"/>
              </a:spcAft>
            </a:pPr>
            <a:r>
              <a:rPr sz="819" b="1" i="0">
                <a:solidFill>
                  <a:srgbClr val="111111"/>
                </a:solidFill>
                <a:latin typeface="Arial"/>
              </a:rPr>
              <a:t>ONE EXAMPLE</a:t>
            </a:r>
          </a:p>
        </p:txBody>
      </p:sp>
      <p:sp>
        <p:nvSpPr>
          <p:cNvPr id="33" name="TextBox 32"/>
          <p:cNvSpPr txBox="1"/>
          <p:nvPr/>
        </p:nvSpPr>
        <p:spPr>
          <a:xfrm>
            <a:off x="7991856" y="2377440"/>
            <a:ext cx="3200400" cy="256032"/>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At the weakest signal we measured:</a:t>
            </a:r>
          </a:p>
        </p:txBody>
      </p:sp>
      <p:sp>
        <p:nvSpPr>
          <p:cNvPr id="34" name="TextBox 33"/>
          <p:cNvSpPr txBox="1"/>
          <p:nvPr/>
        </p:nvSpPr>
        <p:spPr>
          <a:xfrm>
            <a:off x="7991856" y="2724912"/>
            <a:ext cx="3200400" cy="124358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111111"/>
                </a:solidFill>
                <a:latin typeface="Arial"/>
              </a:rPr>
              <a:t>The learned system labelled 728 of the 1,000 pictures correctly.</a:t>
            </a:r>
            <a:br/>
            <a:br/>
            <a:r>
              <a:rPr sz="1100" b="0" i="0">
                <a:solidFill>
                  <a:srgbClr val="111111"/>
                </a:solidFill>
                <a:latin typeface="Arial"/>
              </a:rPr>
              <a:t>The digital system got almost nothing through, so every picture fell back to one fixed answer — and that answer happens to be right 100 times out of 1,000. So 10%.</a:t>
            </a:r>
          </a:p>
        </p:txBody>
      </p:sp>
      <p:sp>
        <p:nvSpPr>
          <p:cNvPr id="35" name="Rounded Rectangle 34"/>
          <p:cNvSpPr/>
          <p:nvPr/>
        </p:nvSpPr>
        <p:spPr>
          <a:xfrm>
            <a:off x="7991856" y="4224528"/>
            <a:ext cx="3200400" cy="111556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56448" y="4407408"/>
            <a:ext cx="2871216" cy="82296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That flat 10% is not a bad prediction. It is 1,000 pictures that never arrived.</a:t>
            </a:r>
          </a:p>
        </p:txBody>
      </p:sp>
      <p:sp>
        <p:nvSpPr>
          <p:cNvPr id="37" name="TextBox 36"/>
          <p:cNvSpPr txBox="1"/>
          <p:nvPr/>
        </p:nvSpPr>
        <p:spPr>
          <a:xfrm>
            <a:off x="749808" y="6089904"/>
            <a:ext cx="10680192" cy="219456"/>
          </a:xfrm>
          <a:prstGeom prst="rect">
            <a:avLst/>
          </a:prstGeom>
          <a:noFill/>
        </p:spPr>
        <p:txBody>
          <a:bodyPr wrap="square" lIns="45720" rIns="45720" anchor="t">
            <a:spAutoFit/>
          </a:bodyPr>
          <a:lstStyle/>
          <a:p>
            <a:pPr algn="ctr">
              <a:lnSpc>
                <a:spcPct val="100000"/>
              </a:lnSpc>
              <a:spcBef>
                <a:spcPts val="0"/>
              </a:spcBef>
              <a:spcAft>
                <a:spcPts val="0"/>
              </a:spcAft>
            </a:pPr>
            <a:r>
              <a:rPr sz="1050" b="0" i="1">
                <a:solidFill>
                  <a:srgbClr val="555555"/>
                </a:solidFill>
                <a:latin typeface="Arial"/>
              </a:rPr>
              <a:t>These were 1,000 held-back pictures. The exam set stays locked until week 11.</a:t>
            </a:r>
          </a:p>
        </p:txBody>
      </p:sp>
      <p:cxnSp>
        <p:nvCxnSpPr>
          <p:cNvPr id="38" name="Connector 37"/>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3035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03503"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41" name="Rounded Rectangle 40"/>
          <p:cNvSpPr/>
          <p:nvPr/>
        </p:nvSpPr>
        <p:spPr>
          <a:xfrm>
            <a:off x="1376172" y="6519672"/>
            <a:ext cx="14401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449324" y="6547104"/>
            <a:ext cx="129387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ANALYTICAL SKILLS</a:t>
            </a:r>
          </a:p>
        </p:txBody>
      </p:sp>
      <p:sp>
        <p:nvSpPr>
          <p:cNvPr id="43" name="TextBox 42"/>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Nothing technical on this slide. The next fourteen depend on it.</a:t>
            </a:r>
          </a:p>
        </p:txBody>
      </p:sp>
      <p:sp>
        <p:nvSpPr>
          <p:cNvPr id="44" name="TextBox 43"/>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05</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What we measured for this review</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80160"/>
            <a:ext cx="10680192" cy="292608"/>
          </a:xfrm>
          <a:prstGeom prst="rect">
            <a:avLst/>
          </a:prstGeom>
          <a:noFill/>
        </p:spPr>
        <p:txBody>
          <a:bodyPr wrap="square" lIns="45720" rIns="45720" anchor="t">
            <a:spAutoFit/>
          </a:bodyPr>
          <a:lstStyle/>
          <a:p>
            <a:pPr algn="ctr">
              <a:lnSpc>
                <a:spcPct val="100000"/>
              </a:lnSpc>
              <a:spcBef>
                <a:spcPts val="0"/>
              </a:spcBef>
              <a:spcAft>
                <a:spcPts val="0"/>
              </a:spcAft>
            </a:pPr>
            <a:r>
              <a:rPr sz="1350" b="0" i="0">
                <a:solidFill>
                  <a:srgbClr val="555555"/>
                </a:solidFill>
                <a:latin typeface="Arial"/>
              </a:rPr>
              <a:t>We built twelve versions of the system and tested each one at twenty-one signal strengths.</a:t>
            </a:r>
          </a:p>
        </p:txBody>
      </p:sp>
      <p:sp>
        <p:nvSpPr>
          <p:cNvPr id="7" name="Rounded Rectangle 6"/>
          <p:cNvSpPr/>
          <p:nvPr/>
        </p:nvSpPr>
        <p:spPr>
          <a:xfrm>
            <a:off x="749808" y="1700784"/>
            <a:ext cx="1993392" cy="155448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00784"/>
            <a:ext cx="1993392"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956816"/>
            <a:ext cx="1773936" cy="548640"/>
          </a:xfrm>
          <a:prstGeom prst="rect">
            <a:avLst/>
          </a:prstGeom>
          <a:noFill/>
        </p:spPr>
        <p:txBody>
          <a:bodyPr wrap="square" lIns="45720" rIns="45720" anchor="t">
            <a:spAutoFit/>
          </a:bodyPr>
          <a:lstStyle/>
          <a:p>
            <a:pPr algn="ctr">
              <a:lnSpc>
                <a:spcPct val="100000"/>
              </a:lnSpc>
              <a:spcBef>
                <a:spcPts val="0"/>
              </a:spcBef>
              <a:spcAft>
                <a:spcPts val="0"/>
              </a:spcAft>
            </a:pPr>
            <a:r>
              <a:rPr sz="3000" b="1" i="0">
                <a:solidFill>
                  <a:srgbClr val="111111"/>
                </a:solidFill>
                <a:latin typeface="Arial"/>
              </a:rPr>
              <a:t>252</a:t>
            </a:r>
          </a:p>
        </p:txBody>
      </p:sp>
      <p:sp>
        <p:nvSpPr>
          <p:cNvPr id="10" name="TextBox 9"/>
          <p:cNvSpPr txBox="1"/>
          <p:nvPr/>
        </p:nvSpPr>
        <p:spPr>
          <a:xfrm>
            <a:off x="859536" y="2596896"/>
            <a:ext cx="1773936" cy="566927"/>
          </a:xfrm>
          <a:prstGeom prst="rect">
            <a:avLst/>
          </a:prstGeom>
          <a:noFill/>
        </p:spPr>
        <p:txBody>
          <a:bodyPr wrap="square" lIns="45720" rIns="45720" anchor="t">
            <a:spAutoFit/>
          </a:bodyPr>
          <a:lstStyle/>
          <a:p>
            <a:pPr algn="ctr">
              <a:lnSpc>
                <a:spcPct val="100000"/>
              </a:lnSpc>
              <a:spcBef>
                <a:spcPts val="0"/>
              </a:spcBef>
              <a:spcAft>
                <a:spcPts val="0"/>
              </a:spcAft>
            </a:pPr>
            <a:r>
              <a:rPr sz="1050" b="0" i="0">
                <a:solidFill>
                  <a:srgbClr val="555555"/>
                </a:solidFill>
                <a:latin typeface="Arial"/>
              </a:rPr>
              <a:t>individual measurements</a:t>
            </a:r>
          </a:p>
        </p:txBody>
      </p:sp>
      <p:sp>
        <p:nvSpPr>
          <p:cNvPr id="11" name="Rounded Rectangle 10"/>
          <p:cNvSpPr/>
          <p:nvPr/>
        </p:nvSpPr>
        <p:spPr>
          <a:xfrm>
            <a:off x="2907791" y="1700784"/>
            <a:ext cx="1993392" cy="155448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07791" y="1700784"/>
            <a:ext cx="1993392"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17520" y="1956816"/>
            <a:ext cx="1773936" cy="548640"/>
          </a:xfrm>
          <a:prstGeom prst="rect">
            <a:avLst/>
          </a:prstGeom>
          <a:noFill/>
        </p:spPr>
        <p:txBody>
          <a:bodyPr wrap="square" lIns="45720" rIns="45720" anchor="t">
            <a:spAutoFit/>
          </a:bodyPr>
          <a:lstStyle/>
          <a:p>
            <a:pPr algn="ctr">
              <a:lnSpc>
                <a:spcPct val="100000"/>
              </a:lnSpc>
              <a:spcBef>
                <a:spcPts val="0"/>
              </a:spcBef>
              <a:spcAft>
                <a:spcPts val="0"/>
              </a:spcAft>
            </a:pPr>
            <a:r>
              <a:rPr sz="3000" b="1" i="0">
                <a:solidFill>
                  <a:srgbClr val="111111"/>
                </a:solidFill>
                <a:latin typeface="Arial"/>
              </a:rPr>
              <a:t>12</a:t>
            </a:r>
          </a:p>
        </p:txBody>
      </p:sp>
      <p:sp>
        <p:nvSpPr>
          <p:cNvPr id="14" name="TextBox 13"/>
          <p:cNvSpPr txBox="1"/>
          <p:nvPr/>
        </p:nvSpPr>
        <p:spPr>
          <a:xfrm>
            <a:off x="3017520" y="2596896"/>
            <a:ext cx="1773936" cy="566927"/>
          </a:xfrm>
          <a:prstGeom prst="rect">
            <a:avLst/>
          </a:prstGeom>
          <a:noFill/>
        </p:spPr>
        <p:txBody>
          <a:bodyPr wrap="square" lIns="45720" rIns="45720" anchor="t">
            <a:spAutoFit/>
          </a:bodyPr>
          <a:lstStyle/>
          <a:p>
            <a:pPr algn="ctr">
              <a:lnSpc>
                <a:spcPct val="100000"/>
              </a:lnSpc>
              <a:spcBef>
                <a:spcPts val="0"/>
              </a:spcBef>
              <a:spcAft>
                <a:spcPts val="0"/>
              </a:spcAft>
            </a:pPr>
            <a:r>
              <a:rPr sz="1050" b="0" i="0">
                <a:solidFill>
                  <a:srgbClr val="555555"/>
                </a:solidFill>
                <a:latin typeface="Arial"/>
              </a:rPr>
              <a:t>versions of the system</a:t>
            </a:r>
          </a:p>
        </p:txBody>
      </p:sp>
      <p:sp>
        <p:nvSpPr>
          <p:cNvPr id="15" name="Rounded Rectangle 14"/>
          <p:cNvSpPr/>
          <p:nvPr/>
        </p:nvSpPr>
        <p:spPr>
          <a:xfrm>
            <a:off x="5065776" y="1700784"/>
            <a:ext cx="1993392" cy="155448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65776" y="1700784"/>
            <a:ext cx="1993392"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75504" y="1956816"/>
            <a:ext cx="1773936" cy="548640"/>
          </a:xfrm>
          <a:prstGeom prst="rect">
            <a:avLst/>
          </a:prstGeom>
          <a:noFill/>
        </p:spPr>
        <p:txBody>
          <a:bodyPr wrap="square" lIns="45720" rIns="45720" anchor="t">
            <a:spAutoFit/>
          </a:bodyPr>
          <a:lstStyle/>
          <a:p>
            <a:pPr algn="ctr">
              <a:lnSpc>
                <a:spcPct val="100000"/>
              </a:lnSpc>
              <a:spcBef>
                <a:spcPts val="0"/>
              </a:spcBef>
              <a:spcAft>
                <a:spcPts val="0"/>
              </a:spcAft>
            </a:pPr>
            <a:r>
              <a:rPr sz="3000" b="1" i="0">
                <a:solidFill>
                  <a:srgbClr val="111111"/>
                </a:solidFill>
                <a:latin typeface="Arial"/>
              </a:rPr>
              <a:t>21</a:t>
            </a:r>
          </a:p>
        </p:txBody>
      </p:sp>
      <p:sp>
        <p:nvSpPr>
          <p:cNvPr id="18" name="TextBox 17"/>
          <p:cNvSpPr txBox="1"/>
          <p:nvPr/>
        </p:nvSpPr>
        <p:spPr>
          <a:xfrm>
            <a:off x="5175504" y="2596896"/>
            <a:ext cx="1773936" cy="566927"/>
          </a:xfrm>
          <a:prstGeom prst="rect">
            <a:avLst/>
          </a:prstGeom>
          <a:noFill/>
        </p:spPr>
        <p:txBody>
          <a:bodyPr wrap="square" lIns="45720" rIns="45720" anchor="t">
            <a:spAutoFit/>
          </a:bodyPr>
          <a:lstStyle/>
          <a:p>
            <a:pPr algn="ctr">
              <a:lnSpc>
                <a:spcPct val="100000"/>
              </a:lnSpc>
              <a:spcBef>
                <a:spcPts val="0"/>
              </a:spcBef>
              <a:spcAft>
                <a:spcPts val="0"/>
              </a:spcAft>
            </a:pPr>
            <a:r>
              <a:rPr sz="1050" b="0" i="0">
                <a:solidFill>
                  <a:srgbClr val="555555"/>
                </a:solidFill>
                <a:latin typeface="Arial"/>
              </a:rPr>
              <a:t>signal strengths</a:t>
            </a:r>
          </a:p>
        </p:txBody>
      </p:sp>
      <p:sp>
        <p:nvSpPr>
          <p:cNvPr id="19" name="Rounded Rectangle 18"/>
          <p:cNvSpPr/>
          <p:nvPr/>
        </p:nvSpPr>
        <p:spPr>
          <a:xfrm>
            <a:off x="7223760" y="1700784"/>
            <a:ext cx="1993392" cy="155448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23760" y="1700784"/>
            <a:ext cx="1993392"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33488" y="1956816"/>
            <a:ext cx="1773936" cy="548640"/>
          </a:xfrm>
          <a:prstGeom prst="rect">
            <a:avLst/>
          </a:prstGeom>
          <a:noFill/>
        </p:spPr>
        <p:txBody>
          <a:bodyPr wrap="square" lIns="45720" rIns="45720" anchor="t">
            <a:spAutoFit/>
          </a:bodyPr>
          <a:lstStyle/>
          <a:p>
            <a:pPr algn="ctr">
              <a:lnSpc>
                <a:spcPct val="100000"/>
              </a:lnSpc>
              <a:spcBef>
                <a:spcPts val="0"/>
              </a:spcBef>
              <a:spcAft>
                <a:spcPts val="0"/>
              </a:spcAft>
            </a:pPr>
            <a:r>
              <a:rPr sz="3000" b="1" i="0">
                <a:solidFill>
                  <a:srgbClr val="111111"/>
                </a:solidFill>
                <a:latin typeface="Arial"/>
              </a:rPr>
              <a:t>1,000</a:t>
            </a:r>
          </a:p>
        </p:txBody>
      </p:sp>
      <p:sp>
        <p:nvSpPr>
          <p:cNvPr id="22" name="TextBox 21"/>
          <p:cNvSpPr txBox="1"/>
          <p:nvPr/>
        </p:nvSpPr>
        <p:spPr>
          <a:xfrm>
            <a:off x="7333488" y="2596896"/>
            <a:ext cx="1773936" cy="566927"/>
          </a:xfrm>
          <a:prstGeom prst="rect">
            <a:avLst/>
          </a:prstGeom>
          <a:noFill/>
        </p:spPr>
        <p:txBody>
          <a:bodyPr wrap="square" lIns="45720" rIns="45720" anchor="t">
            <a:spAutoFit/>
          </a:bodyPr>
          <a:lstStyle/>
          <a:p>
            <a:pPr algn="ctr">
              <a:lnSpc>
                <a:spcPct val="100000"/>
              </a:lnSpc>
              <a:spcBef>
                <a:spcPts val="0"/>
              </a:spcBef>
              <a:spcAft>
                <a:spcPts val="0"/>
              </a:spcAft>
            </a:pPr>
            <a:r>
              <a:rPr sz="1050" b="0" i="0">
                <a:solidFill>
                  <a:srgbClr val="555555"/>
                </a:solidFill>
                <a:latin typeface="Arial"/>
              </a:rPr>
              <a:t>held-back pictures each</a:t>
            </a:r>
          </a:p>
        </p:txBody>
      </p:sp>
      <p:sp>
        <p:nvSpPr>
          <p:cNvPr id="23" name="Rounded Rectangle 22"/>
          <p:cNvSpPr/>
          <p:nvPr/>
        </p:nvSpPr>
        <p:spPr>
          <a:xfrm>
            <a:off x="9381744" y="1700784"/>
            <a:ext cx="1993392" cy="155448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381744" y="1700784"/>
            <a:ext cx="1993392"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91472" y="1956816"/>
            <a:ext cx="1773936" cy="548640"/>
          </a:xfrm>
          <a:prstGeom prst="rect">
            <a:avLst/>
          </a:prstGeom>
          <a:noFill/>
        </p:spPr>
        <p:txBody>
          <a:bodyPr wrap="square" lIns="45720" rIns="45720" anchor="t">
            <a:spAutoFit/>
          </a:bodyPr>
          <a:lstStyle/>
          <a:p>
            <a:pPr algn="ctr">
              <a:lnSpc>
                <a:spcPct val="100000"/>
              </a:lnSpc>
              <a:spcBef>
                <a:spcPts val="0"/>
              </a:spcBef>
              <a:spcAft>
                <a:spcPts val="0"/>
              </a:spcAft>
            </a:pPr>
            <a:r>
              <a:rPr sz="3000" b="1" i="0">
                <a:solidFill>
                  <a:srgbClr val="111111"/>
                </a:solidFill>
                <a:latin typeface="Arial"/>
              </a:rPr>
              <a:t>0</a:t>
            </a:r>
          </a:p>
        </p:txBody>
      </p:sp>
      <p:sp>
        <p:nvSpPr>
          <p:cNvPr id="26" name="TextBox 25"/>
          <p:cNvSpPr txBox="1"/>
          <p:nvPr/>
        </p:nvSpPr>
        <p:spPr>
          <a:xfrm>
            <a:off x="9491472" y="2596896"/>
            <a:ext cx="1773936" cy="566927"/>
          </a:xfrm>
          <a:prstGeom prst="rect">
            <a:avLst/>
          </a:prstGeom>
          <a:noFill/>
        </p:spPr>
        <p:txBody>
          <a:bodyPr wrap="square" lIns="45720" rIns="45720" anchor="t">
            <a:spAutoFit/>
          </a:bodyPr>
          <a:lstStyle/>
          <a:p>
            <a:pPr algn="ctr">
              <a:lnSpc>
                <a:spcPct val="100000"/>
              </a:lnSpc>
              <a:spcBef>
                <a:spcPts val="0"/>
              </a:spcBef>
              <a:spcAft>
                <a:spcPts val="0"/>
              </a:spcAft>
            </a:pPr>
            <a:r>
              <a:rPr sz="1050" b="0" i="0">
                <a:solidFill>
                  <a:srgbClr val="555555"/>
                </a:solidFill>
                <a:latin typeface="Arial"/>
              </a:rPr>
              <a:t>exam pictures opened</a:t>
            </a:r>
          </a:p>
        </p:txBody>
      </p:sp>
      <p:sp>
        <p:nvSpPr>
          <p:cNvPr id="27" name="Rounded Rectangle 26"/>
          <p:cNvSpPr/>
          <p:nvPr/>
        </p:nvSpPr>
        <p:spPr>
          <a:xfrm>
            <a:off x="749808" y="3493008"/>
            <a:ext cx="5285232" cy="248716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87552" y="3712463"/>
            <a:ext cx="1280160" cy="25603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9848" y="3753611"/>
            <a:ext cx="1115568" cy="173736"/>
          </a:xfrm>
          <a:prstGeom prst="rect">
            <a:avLst/>
          </a:prstGeom>
          <a:noFill/>
        </p:spPr>
        <p:txBody>
          <a:bodyPr wrap="square" lIns="45720" rIns="45720" anchor="ctr">
            <a:spAutoFit/>
          </a:bodyPr>
          <a:lstStyle/>
          <a:p>
            <a:pPr algn="l">
              <a:lnSpc>
                <a:spcPct val="100000"/>
              </a:lnSpc>
              <a:spcBef>
                <a:spcPts val="0"/>
              </a:spcBef>
              <a:spcAft>
                <a:spcPts val="0"/>
              </a:spcAft>
            </a:pPr>
            <a:r>
              <a:rPr sz="819" b="1" i="0">
                <a:solidFill>
                  <a:srgbClr val="111111"/>
                </a:solidFill>
                <a:latin typeface="Arial"/>
              </a:rPr>
              <a:t>RADIO TIME</a:t>
            </a:r>
          </a:p>
        </p:txBody>
      </p:sp>
      <p:sp>
        <p:nvSpPr>
          <p:cNvPr id="30" name="TextBox 29"/>
          <p:cNvSpPr txBox="1"/>
          <p:nvPr/>
        </p:nvSpPr>
        <p:spPr>
          <a:xfrm>
            <a:off x="987552" y="4151376"/>
            <a:ext cx="4809744" cy="512064"/>
          </a:xfrm>
          <a:prstGeom prst="rect">
            <a:avLst/>
          </a:prstGeom>
          <a:noFill/>
        </p:spPr>
        <p:txBody>
          <a:bodyPr wrap="square" lIns="45720" rIns="45720" anchor="t">
            <a:spAutoFit/>
          </a:bodyPr>
          <a:lstStyle/>
          <a:p>
            <a:pPr algn="l">
              <a:lnSpc>
                <a:spcPct val="100000"/>
              </a:lnSpc>
              <a:spcBef>
                <a:spcPts val="0"/>
              </a:spcBef>
              <a:spcAft>
                <a:spcPts val="0"/>
              </a:spcAft>
            </a:pPr>
            <a:r>
              <a:rPr sz="1200" b="0" i="0">
                <a:solidFill>
                  <a:srgbClr val="111111"/>
                </a:solidFill>
                <a:latin typeface="Arial"/>
              </a:rPr>
              <a:t>Half rate — 12,800 uses of the radio per picture</a:t>
            </a:r>
            <a:br/>
            <a:r>
              <a:rPr sz="1200" b="0" i="0">
                <a:solidFill>
                  <a:srgbClr val="111111"/>
                </a:solidFill>
                <a:latin typeface="Arial"/>
              </a:rPr>
              <a:t>Quarter rate — 3,200 uses per picture</a:t>
            </a:r>
          </a:p>
        </p:txBody>
      </p:sp>
      <p:sp>
        <p:nvSpPr>
          <p:cNvPr id="31" name="TextBox 30"/>
          <p:cNvSpPr txBox="1"/>
          <p:nvPr/>
        </p:nvSpPr>
        <p:spPr>
          <a:xfrm>
            <a:off x="987552" y="4846320"/>
            <a:ext cx="4809744" cy="96926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Within one rate, both systems get the same amount of radio time. It does not mean they send the same information, and the two sides carry different kinds of picture.</a:t>
            </a:r>
          </a:p>
        </p:txBody>
      </p:sp>
      <p:sp>
        <p:nvSpPr>
          <p:cNvPr id="32" name="Rounded Rectangle 31"/>
          <p:cNvSpPr/>
          <p:nvPr/>
        </p:nvSpPr>
        <p:spPr>
          <a:xfrm>
            <a:off x="6254496" y="3493008"/>
            <a:ext cx="5193792" cy="248716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492240" y="3712463"/>
            <a:ext cx="1554480" cy="25603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74536" y="3753611"/>
            <a:ext cx="1389888" cy="173736"/>
          </a:xfrm>
          <a:prstGeom prst="rect">
            <a:avLst/>
          </a:prstGeom>
          <a:noFill/>
        </p:spPr>
        <p:txBody>
          <a:bodyPr wrap="square" lIns="45720" rIns="45720" anchor="ctr">
            <a:spAutoFit/>
          </a:bodyPr>
          <a:lstStyle/>
          <a:p>
            <a:pPr algn="l">
              <a:lnSpc>
                <a:spcPct val="100000"/>
              </a:lnSpc>
              <a:spcBef>
                <a:spcPts val="0"/>
              </a:spcBef>
              <a:spcAft>
                <a:spcPts val="0"/>
              </a:spcAft>
            </a:pPr>
            <a:r>
              <a:rPr sz="819" b="1" i="0">
                <a:solidFill>
                  <a:srgbClr val="111111"/>
                </a:solidFill>
                <a:latin typeface="Arial"/>
              </a:rPr>
              <a:t>WHO MARKS IT</a:t>
            </a:r>
          </a:p>
        </p:txBody>
      </p:sp>
      <p:sp>
        <p:nvSpPr>
          <p:cNvPr id="35" name="TextBox 34"/>
          <p:cNvSpPr txBox="1"/>
          <p:nvPr/>
        </p:nvSpPr>
        <p:spPr>
          <a:xfrm>
            <a:off x="6492240" y="4151376"/>
            <a:ext cx="4718304" cy="170078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The learned systems are marked by the classifier built into them. The digital systems are marked by one we trained on compressed-looking images.</a:t>
            </a:r>
            <a:br/>
            <a:br/>
            <a:r>
              <a:rPr sz="1100" b="0" i="0">
                <a:solidFill>
                  <a:srgbClr val="555555"/>
                </a:solidFill>
                <a:latin typeface="Arial"/>
              </a:rPr>
              <a:t>So we compare whole systems: the link, the way the picture is represented, and the marker.</a:t>
            </a:r>
          </a:p>
        </p:txBody>
      </p:sp>
      <p:sp>
        <p:nvSpPr>
          <p:cNvPr id="36" name="Rounded Rectangle 35"/>
          <p:cNvSpPr/>
          <p:nvPr/>
        </p:nvSpPr>
        <p:spPr>
          <a:xfrm>
            <a:off x="749808" y="6089904"/>
            <a:ext cx="10698480" cy="310896"/>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6144768"/>
            <a:ext cx="10369296" cy="201168"/>
          </a:xfrm>
          <a:prstGeom prst="rect">
            <a:avLst/>
          </a:prstGeom>
          <a:noFill/>
        </p:spPr>
        <p:txBody>
          <a:bodyPr wrap="square" lIns="45720" rIns="45720" anchor="t">
            <a:spAutoFit/>
          </a:bodyPr>
          <a:lstStyle/>
          <a:p>
            <a:pPr algn="ctr">
              <a:lnSpc>
                <a:spcPct val="100000"/>
              </a:lnSpc>
              <a:spcBef>
                <a:spcPts val="0"/>
              </a:spcBef>
              <a:spcAft>
                <a:spcPts val="0"/>
              </a:spcAft>
            </a:pPr>
            <a:r>
              <a:rPr sz="1050" b="1" i="0">
                <a:solidFill>
                  <a:srgbClr val="111111"/>
                </a:solidFill>
                <a:latin typeface="Arial"/>
              </a:rPr>
              <a:t>One training run. These are observed differences, not confidence intervals.</a:t>
            </a:r>
          </a:p>
        </p:txBody>
      </p:sp>
      <p:cxnSp>
        <p:nvCxnSpPr>
          <p:cNvPr id="38" name="Connector 37"/>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3035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03503"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41" name="Rounded Rectangle 40"/>
          <p:cNvSpPr/>
          <p:nvPr/>
        </p:nvSpPr>
        <p:spPr>
          <a:xfrm>
            <a:off x="1376172" y="6519672"/>
            <a:ext cx="14401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449324" y="6547104"/>
            <a:ext cx="129387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ANALYTICAL SKILLS</a:t>
            </a:r>
          </a:p>
        </p:txBody>
      </p:sp>
      <p:sp>
        <p:nvSpPr>
          <p:cNvPr id="43" name="TextBox 42"/>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252 measurements = 12 versions of the system × 21 signal strengths</a:t>
            </a:r>
          </a:p>
        </p:txBody>
      </p:sp>
      <p:sp>
        <p:nvSpPr>
          <p:cNvPr id="44" name="TextBox 43"/>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06</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Where the digital system gives up, and where it takes over</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25296"/>
            <a:ext cx="10680192" cy="292608"/>
          </a:xfrm>
          <a:prstGeom prst="rect">
            <a:avLst/>
          </a:prstGeom>
          <a:noFill/>
        </p:spPr>
        <p:txBody>
          <a:bodyPr wrap="square" lIns="45720" rIns="45720" anchor="t">
            <a:spAutoFit/>
          </a:bodyPr>
          <a:lstStyle/>
          <a:p>
            <a:pPr algn="ctr">
              <a:lnSpc>
                <a:spcPct val="100000"/>
              </a:lnSpc>
              <a:spcBef>
                <a:spcPts val="0"/>
              </a:spcBef>
              <a:spcAft>
                <a:spcPts val="0"/>
              </a:spcAft>
            </a:pPr>
            <a:r>
              <a:rPr sz="1350" b="1" i="0">
                <a:solidFill>
                  <a:srgbClr val="111111"/>
                </a:solidFill>
                <a:latin typeface="Arial"/>
              </a:rPr>
              <a:t>The learned system keeps answering the whole way across. The digital system stays silent, then overtakes it.</a:t>
            </a:r>
          </a:p>
        </p:txBody>
      </p:sp>
      <p:pic>
        <p:nvPicPr>
          <p:cNvPr id="7" name="Picture 6" descr="01_headline_full_snr.png"/>
          <p:cNvPicPr>
            <a:picLocks noChangeAspect="1"/>
          </p:cNvPicPr>
          <p:nvPr/>
        </p:nvPicPr>
        <p:blipFill>
          <a:blip r:embed="rId2"/>
          <a:stretch>
            <a:fillRect/>
          </a:stretch>
        </p:blipFill>
        <p:spPr>
          <a:xfrm>
            <a:off x="2259624" y="1609344"/>
            <a:ext cx="7672445" cy="4096512"/>
          </a:xfrm>
          <a:prstGeom prst="rect">
            <a:avLst/>
          </a:prstGeom>
        </p:spPr>
      </p:pic>
      <p:sp>
        <p:nvSpPr>
          <p:cNvPr id="8" name="Rounded Rectangle 7"/>
          <p:cNvSpPr/>
          <p:nvPr/>
        </p:nvSpPr>
        <p:spPr>
          <a:xfrm>
            <a:off x="822960" y="5852160"/>
            <a:ext cx="10561320" cy="475488"/>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5943600"/>
            <a:ext cx="10268712" cy="310896"/>
          </a:xfrm>
          <a:prstGeom prst="rect">
            <a:avLst/>
          </a:prstGeom>
          <a:noFill/>
        </p:spPr>
        <p:txBody>
          <a:bodyPr wrap="square" lIns="45720" rIns="45720" anchor="t">
            <a:spAutoFit/>
          </a:bodyPr>
          <a:lstStyle/>
          <a:p>
            <a:pPr algn="ctr">
              <a:lnSpc>
                <a:spcPct val="100000"/>
              </a:lnSpc>
              <a:spcBef>
                <a:spcPts val="0"/>
              </a:spcBef>
              <a:spcAft>
                <a:spcPts val="0"/>
              </a:spcAft>
            </a:pPr>
            <a:r>
              <a:rPr sz="1050" b="0" i="0">
                <a:solidFill>
                  <a:srgbClr val="111111"/>
                </a:solidFill>
                <a:latin typeface="Arial"/>
              </a:rPr>
              <a:t>Weakest signal: learned right on 728 of 1,000, digital got nothing through. At −4 dB the digital system starts working and goes ahead. At +18 dB it is well ahead.</a:t>
            </a:r>
          </a:p>
        </p:txBody>
      </p:sp>
      <p:cxnSp>
        <p:nvCxnSpPr>
          <p:cNvPr id="10" name="Connector 9"/>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035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3"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13" name="TextBox 12"/>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Half rate · all 21 measured signal strengths · held-back pictures</a:t>
            </a:r>
          </a:p>
        </p:txBody>
      </p:sp>
      <p:sp>
        <p:nvSpPr>
          <p:cNvPr id="14" name="TextBox 13"/>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07</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Close-up: the moment the digital system starts working</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25296"/>
            <a:ext cx="10680192" cy="292608"/>
          </a:xfrm>
          <a:prstGeom prst="rect">
            <a:avLst/>
          </a:prstGeom>
          <a:noFill/>
        </p:spPr>
        <p:txBody>
          <a:bodyPr wrap="square" lIns="45720" rIns="45720" anchor="t">
            <a:spAutoFit/>
          </a:bodyPr>
          <a:lstStyle/>
          <a:p>
            <a:pPr algn="ctr">
              <a:lnSpc>
                <a:spcPct val="100000"/>
              </a:lnSpc>
              <a:spcBef>
                <a:spcPts val="0"/>
              </a:spcBef>
              <a:spcAft>
                <a:spcPts val="0"/>
              </a:spcAft>
            </a:pPr>
            <a:r>
              <a:rPr sz="1350" b="1" i="0">
                <a:solidFill>
                  <a:srgbClr val="111111"/>
                </a:solidFill>
                <a:latin typeface="Arial"/>
              </a:rPr>
              <a:t>Between −5 and −4 dB the digital system begins getting pictures through, and its score jumps 73 points.</a:t>
            </a:r>
          </a:p>
        </p:txBody>
      </p:sp>
      <p:pic>
        <p:nvPicPr>
          <p:cNvPr id="7" name="Picture 6" descr="02_low_snr_closeup.png"/>
          <p:cNvPicPr>
            <a:picLocks noChangeAspect="1"/>
          </p:cNvPicPr>
          <p:nvPr/>
        </p:nvPicPr>
        <p:blipFill>
          <a:blip r:embed="rId2"/>
          <a:stretch>
            <a:fillRect/>
          </a:stretch>
        </p:blipFill>
        <p:spPr>
          <a:xfrm>
            <a:off x="3244396" y="1591056"/>
            <a:ext cx="5702902" cy="3364992"/>
          </a:xfrm>
          <a:prstGeom prst="rect">
            <a:avLst/>
          </a:prstGeom>
        </p:spPr>
      </p:pic>
      <p:sp>
        <p:nvSpPr>
          <p:cNvPr id="8" name="Rounded Rectangle 7"/>
          <p:cNvSpPr/>
          <p:nvPr/>
        </p:nvSpPr>
        <p:spPr>
          <a:xfrm>
            <a:off x="822960" y="5120640"/>
            <a:ext cx="3401568" cy="93268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5120640"/>
            <a:ext cx="64008" cy="932688"/>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5230368"/>
            <a:ext cx="3017520" cy="237744"/>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At −8 dB</a:t>
            </a:r>
          </a:p>
        </p:txBody>
      </p:sp>
      <p:sp>
        <p:nvSpPr>
          <p:cNvPr id="11" name="TextBox 10"/>
          <p:cNvSpPr txBox="1"/>
          <p:nvPr/>
        </p:nvSpPr>
        <p:spPr>
          <a:xfrm>
            <a:off x="1024128" y="5504688"/>
            <a:ext cx="3017520" cy="475488"/>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Learned right on 728 of 1,000. Digital got nothing through, so it scores 10%.</a:t>
            </a:r>
          </a:p>
        </p:txBody>
      </p:sp>
      <p:sp>
        <p:nvSpPr>
          <p:cNvPr id="12" name="Rounded Rectangle 11"/>
          <p:cNvSpPr/>
          <p:nvPr/>
        </p:nvSpPr>
        <p:spPr>
          <a:xfrm>
            <a:off x="4361688" y="5120640"/>
            <a:ext cx="3401568" cy="93268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61688" y="5120640"/>
            <a:ext cx="64008" cy="932688"/>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6" y="5230368"/>
            <a:ext cx="3017520" cy="237744"/>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At −4 dB</a:t>
            </a:r>
          </a:p>
        </p:txBody>
      </p:sp>
      <p:sp>
        <p:nvSpPr>
          <p:cNvPr id="15" name="TextBox 14"/>
          <p:cNvSpPr txBox="1"/>
          <p:nvPr/>
        </p:nvSpPr>
        <p:spPr>
          <a:xfrm>
            <a:off x="4562856" y="5504688"/>
            <a:ext cx="3017520" cy="475488"/>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Digital now gets everything through and reaches 83.4%, ahead of learned's 79.4%.</a:t>
            </a:r>
          </a:p>
        </p:txBody>
      </p:sp>
      <p:sp>
        <p:nvSpPr>
          <p:cNvPr id="16" name="Rounded Rectangle 15"/>
          <p:cNvSpPr/>
          <p:nvPr/>
        </p:nvSpPr>
        <p:spPr>
          <a:xfrm>
            <a:off x="7900416" y="5120640"/>
            <a:ext cx="3401568" cy="93268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00416" y="5120640"/>
            <a:ext cx="64008" cy="932688"/>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01584" y="5230368"/>
            <a:ext cx="3017520" cy="237744"/>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After that</a:t>
            </a:r>
          </a:p>
        </p:txBody>
      </p:sp>
      <p:sp>
        <p:nvSpPr>
          <p:cNvPr id="19" name="TextBox 18"/>
          <p:cNvSpPr txBox="1"/>
          <p:nvPr/>
        </p:nvSpPr>
        <p:spPr>
          <a:xfrm>
            <a:off x="8101584" y="5504688"/>
            <a:ext cx="3017520" cy="475488"/>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It dips at −2 dB and again at +9 dB, so its line is not perfectly smooth.</a:t>
            </a:r>
          </a:p>
        </p:txBody>
      </p:sp>
      <p:sp>
        <p:nvSpPr>
          <p:cNvPr id="20" name="TextBox 19"/>
          <p:cNvSpPr txBox="1"/>
          <p:nvPr/>
        </p:nvSpPr>
        <p:spPr>
          <a:xfrm>
            <a:off x="749808" y="6163056"/>
            <a:ext cx="10680192" cy="201168"/>
          </a:xfrm>
          <a:prstGeom prst="rect">
            <a:avLst/>
          </a:prstGeom>
          <a:noFill/>
        </p:spPr>
        <p:txBody>
          <a:bodyPr wrap="square" lIns="45720" rIns="45720" anchor="t">
            <a:spAutoFit/>
          </a:bodyPr>
          <a:lstStyle/>
          <a:p>
            <a:pPr algn="ctr">
              <a:lnSpc>
                <a:spcPct val="100000"/>
              </a:lnSpc>
              <a:spcBef>
                <a:spcPts val="0"/>
              </a:spcBef>
              <a:spcAft>
                <a:spcPts val="0"/>
              </a:spcAft>
            </a:pPr>
            <a:r>
              <a:rPr sz="1000" b="0" i="1">
                <a:solidFill>
                  <a:srgbClr val="555555"/>
                </a:solidFill>
                <a:latin typeface="Arial"/>
              </a:rPr>
              <a:t>We never measured a strength between −5 and −4 dB, so this is a gap between two points, not a known threshold.</a:t>
            </a:r>
          </a:p>
        </p:txBody>
      </p:sp>
      <p:cxnSp>
        <p:nvCxnSpPr>
          <p:cNvPr id="21" name="Connector 20"/>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035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3"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24" name="Rounded Rectangle 23"/>
          <p:cNvSpPr/>
          <p:nvPr/>
        </p:nvSpPr>
        <p:spPr>
          <a:xfrm>
            <a:off x="1376172" y="6519672"/>
            <a:ext cx="14401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49324" y="6547104"/>
            <a:ext cx="129387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ANALYTICAL SKILLS</a:t>
            </a:r>
          </a:p>
        </p:txBody>
      </p:sp>
      <p:sp>
        <p:nvSpPr>
          <p:cNvPr id="26" name="TextBox 25"/>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−8 to +2 dB · measured points only, nothing in between</a:t>
            </a:r>
          </a:p>
        </p:txBody>
      </p:sp>
      <p:sp>
        <p:nvSpPr>
          <p:cNvPr id="27" name="TextBox 26"/>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08</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What happens when we quarter the radio time</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07008"/>
            <a:ext cx="10680192" cy="292608"/>
          </a:xfrm>
          <a:prstGeom prst="rect">
            <a:avLst/>
          </a:prstGeom>
          <a:noFill/>
        </p:spPr>
        <p:txBody>
          <a:bodyPr wrap="square" lIns="45720" rIns="45720" anchor="t">
            <a:spAutoFit/>
          </a:bodyPr>
          <a:lstStyle/>
          <a:p>
            <a:pPr algn="ctr">
              <a:lnSpc>
                <a:spcPct val="100000"/>
              </a:lnSpc>
              <a:spcBef>
                <a:spcPts val="0"/>
              </a:spcBef>
              <a:spcAft>
                <a:spcPts val="0"/>
              </a:spcAft>
            </a:pPr>
            <a:r>
              <a:rPr sz="1350" b="1" i="0">
                <a:solidFill>
                  <a:srgbClr val="111111"/>
                </a:solidFill>
                <a:latin typeface="Arial"/>
              </a:rPr>
              <a:t>On a quarter of the radio time, the digital system loses far more at the weak end than the learned one does.</a:t>
            </a:r>
          </a:p>
        </p:txBody>
      </p:sp>
      <p:pic>
        <p:nvPicPr>
          <p:cNvPr id="7" name="Picture 6" descr="03_bandwidth_efficiency.png"/>
          <p:cNvPicPr>
            <a:picLocks noChangeAspect="1"/>
          </p:cNvPicPr>
          <p:nvPr/>
        </p:nvPicPr>
        <p:blipFill>
          <a:blip r:embed="rId2"/>
          <a:stretch>
            <a:fillRect/>
          </a:stretch>
        </p:blipFill>
        <p:spPr>
          <a:xfrm>
            <a:off x="2532000" y="1554480"/>
            <a:ext cx="7127694" cy="2889504"/>
          </a:xfrm>
          <a:prstGeom prst="rect">
            <a:avLst/>
          </a:prstGeom>
        </p:spPr>
      </p:pic>
      <p:sp>
        <p:nvSpPr>
          <p:cNvPr id="8" name="Rounded Rectangle 7"/>
          <p:cNvSpPr/>
          <p:nvPr/>
        </p:nvSpPr>
        <p:spPr>
          <a:xfrm>
            <a:off x="822960" y="4663440"/>
            <a:ext cx="3401568" cy="138988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4663440"/>
            <a:ext cx="64008" cy="1389888"/>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6" y="4864607"/>
            <a:ext cx="2980944" cy="329184"/>
          </a:xfrm>
          <a:prstGeom prst="rect">
            <a:avLst/>
          </a:prstGeom>
          <a:noFill/>
        </p:spPr>
        <p:txBody>
          <a:bodyPr wrap="square" lIns="45720" rIns="45720" anchor="t">
            <a:spAutoFit/>
          </a:bodyPr>
          <a:lstStyle/>
          <a:p>
            <a:pPr algn="l">
              <a:lnSpc>
                <a:spcPct val="100000"/>
              </a:lnSpc>
              <a:spcBef>
                <a:spcPts val="0"/>
              </a:spcBef>
              <a:spcAft>
                <a:spcPts val="0"/>
              </a:spcAft>
            </a:pPr>
            <a:r>
              <a:rPr sz="1600" b="1" i="0">
                <a:solidFill>
                  <a:srgbClr val="111111"/>
                </a:solidFill>
                <a:latin typeface="Arial"/>
              </a:rPr>
              <a:t>Weak signal, half → quarter</a:t>
            </a:r>
          </a:p>
        </p:txBody>
      </p:sp>
      <p:sp>
        <p:nvSpPr>
          <p:cNvPr id="11" name="TextBox 10"/>
          <p:cNvSpPr txBox="1"/>
          <p:nvPr/>
        </p:nvSpPr>
        <p:spPr>
          <a:xfrm>
            <a:off x="1042416" y="5266944"/>
            <a:ext cx="2980944" cy="65836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Learned drops from 72.8% to 49.4%. A 23 point loss.</a:t>
            </a:r>
          </a:p>
        </p:txBody>
      </p:sp>
      <p:sp>
        <p:nvSpPr>
          <p:cNvPr id="12" name="Rounded Rectangle 11"/>
          <p:cNvSpPr/>
          <p:nvPr/>
        </p:nvSpPr>
        <p:spPr>
          <a:xfrm>
            <a:off x="4361688" y="4663440"/>
            <a:ext cx="3401568" cy="138988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61688" y="4663440"/>
            <a:ext cx="64008" cy="1389888"/>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1144" y="4864607"/>
            <a:ext cx="2980944" cy="329184"/>
          </a:xfrm>
          <a:prstGeom prst="rect">
            <a:avLst/>
          </a:prstGeom>
          <a:noFill/>
        </p:spPr>
        <p:txBody>
          <a:bodyPr wrap="square" lIns="45720" rIns="45720" anchor="t">
            <a:spAutoFit/>
          </a:bodyPr>
          <a:lstStyle/>
          <a:p>
            <a:pPr algn="l">
              <a:lnSpc>
                <a:spcPct val="100000"/>
              </a:lnSpc>
              <a:spcBef>
                <a:spcPts val="0"/>
              </a:spcBef>
              <a:spcAft>
                <a:spcPts val="0"/>
              </a:spcAft>
            </a:pPr>
            <a:r>
              <a:rPr sz="1600" b="1" i="0">
                <a:solidFill>
                  <a:srgbClr val="111111"/>
                </a:solidFill>
                <a:latin typeface="Arial"/>
              </a:rPr>
              <a:t>At 0 dB, quarter rate</a:t>
            </a:r>
          </a:p>
        </p:txBody>
      </p:sp>
      <p:sp>
        <p:nvSpPr>
          <p:cNvPr id="15" name="TextBox 14"/>
          <p:cNvSpPr txBox="1"/>
          <p:nvPr/>
        </p:nvSpPr>
        <p:spPr>
          <a:xfrm>
            <a:off x="4581144" y="5266944"/>
            <a:ext cx="2980944" cy="65836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Learned 78.7%, digital 69.4%. Learned is still ahead.</a:t>
            </a:r>
          </a:p>
        </p:txBody>
      </p:sp>
      <p:sp>
        <p:nvSpPr>
          <p:cNvPr id="16" name="Rounded Rectangle 15"/>
          <p:cNvSpPr/>
          <p:nvPr/>
        </p:nvSpPr>
        <p:spPr>
          <a:xfrm>
            <a:off x="7900416" y="4663440"/>
            <a:ext cx="3401568" cy="138988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00416" y="4663440"/>
            <a:ext cx="64008" cy="1389888"/>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19872" y="4864607"/>
            <a:ext cx="2980944" cy="329184"/>
          </a:xfrm>
          <a:prstGeom prst="rect">
            <a:avLst/>
          </a:prstGeom>
          <a:noFill/>
        </p:spPr>
        <p:txBody>
          <a:bodyPr wrap="square" lIns="45720" rIns="45720" anchor="t">
            <a:spAutoFit/>
          </a:bodyPr>
          <a:lstStyle/>
          <a:p>
            <a:pPr algn="l">
              <a:lnSpc>
                <a:spcPct val="100000"/>
              </a:lnSpc>
              <a:spcBef>
                <a:spcPts val="0"/>
              </a:spcBef>
              <a:spcAft>
                <a:spcPts val="0"/>
              </a:spcAft>
            </a:pPr>
            <a:r>
              <a:rPr sz="1600" b="1" i="0">
                <a:solidFill>
                  <a:srgbClr val="111111"/>
                </a:solidFill>
                <a:latin typeface="Arial"/>
              </a:rPr>
              <a:t>Catches up, then slips</a:t>
            </a:r>
          </a:p>
        </p:txBody>
      </p:sp>
      <p:sp>
        <p:nvSpPr>
          <p:cNvPr id="19" name="TextBox 18"/>
          <p:cNvSpPr txBox="1"/>
          <p:nvPr/>
        </p:nvSpPr>
        <p:spPr>
          <a:xfrm>
            <a:off x="8119872" y="5266944"/>
            <a:ext cx="2980944" cy="65836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Digital passes learned at +4 dB, loses the lead at +9 dB, then goes ahead again.</a:t>
            </a:r>
          </a:p>
        </p:txBody>
      </p:sp>
      <p:sp>
        <p:nvSpPr>
          <p:cNvPr id="20" name="TextBox 19"/>
          <p:cNvSpPr txBox="1"/>
          <p:nvPr/>
        </p:nvSpPr>
        <p:spPr>
          <a:xfrm>
            <a:off x="749808" y="6181344"/>
            <a:ext cx="10680192" cy="201168"/>
          </a:xfrm>
          <a:prstGeom prst="rect">
            <a:avLst/>
          </a:prstGeom>
          <a:noFill/>
        </p:spPr>
        <p:txBody>
          <a:bodyPr wrap="square" lIns="45720" rIns="45720" anchor="t">
            <a:spAutoFit/>
          </a:bodyPr>
          <a:lstStyle/>
          <a:p>
            <a:pPr algn="ctr">
              <a:lnSpc>
                <a:spcPct val="100000"/>
              </a:lnSpc>
              <a:spcBef>
                <a:spcPts val="0"/>
              </a:spcBef>
              <a:spcAft>
                <a:spcPts val="0"/>
              </a:spcAft>
            </a:pPr>
            <a:r>
              <a:rPr sz="1000" b="0" i="1">
                <a:solidFill>
                  <a:srgbClr val="555555"/>
                </a:solidFill>
                <a:latin typeface="Arial"/>
              </a:rPr>
              <a:t>Because it crosses and then uncrosses, we should not claim one clean crossover at this rate.</a:t>
            </a:r>
          </a:p>
        </p:txBody>
      </p:sp>
      <p:cxnSp>
        <p:nvCxnSpPr>
          <p:cNvPr id="21" name="Connector 20"/>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035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3"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24" name="Rounded Rectangle 23"/>
          <p:cNvSpPr/>
          <p:nvPr/>
        </p:nvSpPr>
        <p:spPr>
          <a:xfrm>
            <a:off x="1376172" y="6519672"/>
            <a:ext cx="14401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49324" y="6547104"/>
            <a:ext cx="129387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ANALYTICAL SKILLS</a:t>
            </a:r>
          </a:p>
        </p:txBody>
      </p:sp>
      <p:sp>
        <p:nvSpPr>
          <p:cNvPr id="26" name="TextBox 25"/>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Quarter rate against half rate · compare within each panel</a:t>
            </a:r>
          </a:p>
        </p:txBody>
      </p:sp>
      <p:sp>
        <p:nvSpPr>
          <p:cNvPr id="27" name="TextBox 26"/>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09</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Training across signal strengths instead of one</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25296"/>
            <a:ext cx="10680192" cy="292608"/>
          </a:xfrm>
          <a:prstGeom prst="rect">
            <a:avLst/>
          </a:prstGeom>
          <a:noFill/>
        </p:spPr>
        <p:txBody>
          <a:bodyPr wrap="square" lIns="45720" rIns="45720" anchor="t">
            <a:spAutoFit/>
          </a:bodyPr>
          <a:lstStyle/>
          <a:p>
            <a:pPr algn="ctr">
              <a:lnSpc>
                <a:spcPct val="100000"/>
              </a:lnSpc>
              <a:spcBef>
                <a:spcPts val="0"/>
              </a:spcBef>
              <a:spcAft>
                <a:spcPts val="0"/>
              </a:spcAft>
            </a:pPr>
            <a:r>
              <a:rPr sz="1350" b="1" i="0">
                <a:solidFill>
                  <a:srgbClr val="111111"/>
                </a:solidFill>
                <a:latin typeface="Arial"/>
              </a:rPr>
              <a:t>Picking the training signal strength at random each time lifts the whole weak end of the line.</a:t>
            </a:r>
          </a:p>
        </p:txBody>
      </p:sp>
      <p:pic>
        <p:nvPicPr>
          <p:cNvPr id="7" name="Picture 6" descr="04_training_robustness.png"/>
          <p:cNvPicPr>
            <a:picLocks noChangeAspect="1"/>
          </p:cNvPicPr>
          <p:nvPr/>
        </p:nvPicPr>
        <p:blipFill>
          <a:blip r:embed="rId2"/>
          <a:stretch>
            <a:fillRect/>
          </a:stretch>
        </p:blipFill>
        <p:spPr>
          <a:xfrm>
            <a:off x="2875300" y="1572768"/>
            <a:ext cx="6441093" cy="3255264"/>
          </a:xfrm>
          <a:prstGeom prst="rect">
            <a:avLst/>
          </a:prstGeom>
        </p:spPr>
      </p:pic>
      <p:sp>
        <p:nvSpPr>
          <p:cNvPr id="8" name="Rounded Rectangle 7"/>
          <p:cNvSpPr/>
          <p:nvPr/>
        </p:nvSpPr>
        <p:spPr>
          <a:xfrm>
            <a:off x="1737360" y="4974336"/>
            <a:ext cx="8723376" cy="34747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5020056"/>
            <a:ext cx="1773936" cy="237744"/>
          </a:xfrm>
          <a:prstGeom prst="rect">
            <a:avLst/>
          </a:prstGeom>
          <a:noFill/>
        </p:spPr>
        <p:txBody>
          <a:bodyPr wrap="square" lIns="45720" rIns="45720" anchor="t">
            <a:spAutoFit/>
          </a:bodyPr>
          <a:lstStyle/>
          <a:p>
            <a:pPr algn="l">
              <a:lnSpc>
                <a:spcPct val="100000"/>
              </a:lnSpc>
              <a:spcBef>
                <a:spcPts val="0"/>
              </a:spcBef>
              <a:spcAft>
                <a:spcPts val="0"/>
              </a:spcAft>
            </a:pPr>
            <a:r>
              <a:rPr sz="840" b="1" i="0">
                <a:solidFill>
                  <a:srgbClr val="111111"/>
                </a:solidFill>
                <a:latin typeface="Arial"/>
              </a:rPr>
              <a:t>SYSTEM</a:t>
            </a:r>
          </a:p>
        </p:txBody>
      </p:sp>
      <p:sp>
        <p:nvSpPr>
          <p:cNvPr id="10" name="TextBox 9"/>
          <p:cNvSpPr txBox="1"/>
          <p:nvPr/>
        </p:nvSpPr>
        <p:spPr>
          <a:xfrm>
            <a:off x="3657600" y="5020056"/>
            <a:ext cx="1360627"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−8 dB</a:t>
            </a:r>
          </a:p>
        </p:txBody>
      </p:sp>
      <p:sp>
        <p:nvSpPr>
          <p:cNvPr id="11" name="TextBox 10"/>
          <p:cNvSpPr txBox="1"/>
          <p:nvPr/>
        </p:nvSpPr>
        <p:spPr>
          <a:xfrm>
            <a:off x="5018227" y="5020056"/>
            <a:ext cx="1360627"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−4 dB</a:t>
            </a:r>
          </a:p>
        </p:txBody>
      </p:sp>
      <p:sp>
        <p:nvSpPr>
          <p:cNvPr id="12" name="TextBox 11"/>
          <p:cNvSpPr txBox="1"/>
          <p:nvPr/>
        </p:nvSpPr>
        <p:spPr>
          <a:xfrm>
            <a:off x="6378854" y="5020056"/>
            <a:ext cx="1360627"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0 dB</a:t>
            </a:r>
          </a:p>
        </p:txBody>
      </p:sp>
      <p:sp>
        <p:nvSpPr>
          <p:cNvPr id="13" name="TextBox 12"/>
          <p:cNvSpPr txBox="1"/>
          <p:nvPr/>
        </p:nvSpPr>
        <p:spPr>
          <a:xfrm>
            <a:off x="7739481" y="5020056"/>
            <a:ext cx="1360627"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+9 dB</a:t>
            </a:r>
          </a:p>
        </p:txBody>
      </p:sp>
      <p:sp>
        <p:nvSpPr>
          <p:cNvPr id="14" name="TextBox 13"/>
          <p:cNvSpPr txBox="1"/>
          <p:nvPr/>
        </p:nvSpPr>
        <p:spPr>
          <a:xfrm>
            <a:off x="9100108" y="5020056"/>
            <a:ext cx="1360627"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+18 dB</a:t>
            </a:r>
          </a:p>
        </p:txBody>
      </p:sp>
      <p:sp>
        <p:nvSpPr>
          <p:cNvPr id="15" name="Rounded Rectangle 14"/>
          <p:cNvSpPr/>
          <p:nvPr/>
        </p:nvSpPr>
        <p:spPr>
          <a:xfrm>
            <a:off x="1737360" y="5321808"/>
            <a:ext cx="8723376" cy="365760"/>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1737360" y="5687568"/>
            <a:ext cx="8723376"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828800" y="5404104"/>
            <a:ext cx="1773936" cy="25603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Random each time</a:t>
            </a:r>
          </a:p>
        </p:txBody>
      </p:sp>
      <p:sp>
        <p:nvSpPr>
          <p:cNvPr id="18" name="TextBox 17"/>
          <p:cNvSpPr txBox="1"/>
          <p:nvPr/>
        </p:nvSpPr>
        <p:spPr>
          <a:xfrm>
            <a:off x="3657600" y="5404104"/>
            <a:ext cx="1360627"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77.0</a:t>
            </a:r>
          </a:p>
        </p:txBody>
      </p:sp>
      <p:sp>
        <p:nvSpPr>
          <p:cNvPr id="19" name="TextBox 18"/>
          <p:cNvSpPr txBox="1"/>
          <p:nvPr/>
        </p:nvSpPr>
        <p:spPr>
          <a:xfrm>
            <a:off x="5018227" y="5404104"/>
            <a:ext cx="1360627"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82.4</a:t>
            </a:r>
          </a:p>
        </p:txBody>
      </p:sp>
      <p:sp>
        <p:nvSpPr>
          <p:cNvPr id="20" name="TextBox 19"/>
          <p:cNvSpPr txBox="1"/>
          <p:nvPr/>
        </p:nvSpPr>
        <p:spPr>
          <a:xfrm>
            <a:off x="6378854" y="5404104"/>
            <a:ext cx="1360627"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83.0</a:t>
            </a:r>
          </a:p>
        </p:txBody>
      </p:sp>
      <p:sp>
        <p:nvSpPr>
          <p:cNvPr id="21" name="TextBox 20"/>
          <p:cNvSpPr txBox="1"/>
          <p:nvPr/>
        </p:nvSpPr>
        <p:spPr>
          <a:xfrm>
            <a:off x="7739481" y="5404104"/>
            <a:ext cx="1360627"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84.1</a:t>
            </a:r>
          </a:p>
        </p:txBody>
      </p:sp>
      <p:sp>
        <p:nvSpPr>
          <p:cNvPr id="22" name="TextBox 21"/>
          <p:cNvSpPr txBox="1"/>
          <p:nvPr/>
        </p:nvSpPr>
        <p:spPr>
          <a:xfrm>
            <a:off x="9100108" y="5404104"/>
            <a:ext cx="1360627"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83.9</a:t>
            </a:r>
          </a:p>
        </p:txBody>
      </p:sp>
      <p:cxnSp>
        <p:nvCxnSpPr>
          <p:cNvPr id="23" name="Connector 22"/>
          <p:cNvCxnSpPr/>
          <p:nvPr/>
        </p:nvCxnSpPr>
        <p:spPr>
          <a:xfrm>
            <a:off x="1737360" y="6053328"/>
            <a:ext cx="8723376"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28800" y="5769864"/>
            <a:ext cx="1773936" cy="25603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One fixed strength</a:t>
            </a:r>
          </a:p>
        </p:txBody>
      </p:sp>
      <p:sp>
        <p:nvSpPr>
          <p:cNvPr id="25" name="TextBox 24"/>
          <p:cNvSpPr txBox="1"/>
          <p:nvPr/>
        </p:nvSpPr>
        <p:spPr>
          <a:xfrm>
            <a:off x="3657600" y="5769864"/>
            <a:ext cx="1360627"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72.8</a:t>
            </a:r>
          </a:p>
        </p:txBody>
      </p:sp>
      <p:sp>
        <p:nvSpPr>
          <p:cNvPr id="26" name="TextBox 25"/>
          <p:cNvSpPr txBox="1"/>
          <p:nvPr/>
        </p:nvSpPr>
        <p:spPr>
          <a:xfrm>
            <a:off x="5018227" y="5769864"/>
            <a:ext cx="1360627"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79.4</a:t>
            </a:r>
          </a:p>
        </p:txBody>
      </p:sp>
      <p:sp>
        <p:nvSpPr>
          <p:cNvPr id="27" name="TextBox 26"/>
          <p:cNvSpPr txBox="1"/>
          <p:nvPr/>
        </p:nvSpPr>
        <p:spPr>
          <a:xfrm>
            <a:off x="6378854" y="5769864"/>
            <a:ext cx="1360627"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81.2</a:t>
            </a:r>
          </a:p>
        </p:txBody>
      </p:sp>
      <p:sp>
        <p:nvSpPr>
          <p:cNvPr id="28" name="TextBox 27"/>
          <p:cNvSpPr txBox="1"/>
          <p:nvPr/>
        </p:nvSpPr>
        <p:spPr>
          <a:xfrm>
            <a:off x="7739481" y="5769864"/>
            <a:ext cx="1360627"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83.8</a:t>
            </a:r>
          </a:p>
        </p:txBody>
      </p:sp>
      <p:sp>
        <p:nvSpPr>
          <p:cNvPr id="29" name="TextBox 28"/>
          <p:cNvSpPr txBox="1"/>
          <p:nvPr/>
        </p:nvSpPr>
        <p:spPr>
          <a:xfrm>
            <a:off x="9100108" y="5769864"/>
            <a:ext cx="1360627"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83.4</a:t>
            </a:r>
          </a:p>
        </p:txBody>
      </p:sp>
      <p:sp>
        <p:nvSpPr>
          <p:cNvPr id="30" name="TextBox 29"/>
          <p:cNvSpPr txBox="1"/>
          <p:nvPr/>
        </p:nvSpPr>
        <p:spPr>
          <a:xfrm>
            <a:off x="749808" y="6126480"/>
            <a:ext cx="10680192" cy="201168"/>
          </a:xfrm>
          <a:prstGeom prst="rect">
            <a:avLst/>
          </a:prstGeom>
          <a:noFill/>
        </p:spPr>
        <p:txBody>
          <a:bodyPr wrap="square" lIns="45720" rIns="45720" anchor="t">
            <a:spAutoFit/>
          </a:bodyPr>
          <a:lstStyle/>
          <a:p>
            <a:pPr algn="ctr">
              <a:lnSpc>
                <a:spcPct val="100000"/>
              </a:lnSpc>
              <a:spcBef>
                <a:spcPts val="0"/>
              </a:spcBef>
              <a:spcAft>
                <a:spcPts val="0"/>
              </a:spcAft>
            </a:pPr>
            <a:r>
              <a:rPr sz="1000" b="0" i="1">
                <a:solidFill>
                  <a:srgbClr val="555555"/>
                </a:solidFill>
                <a:latin typeface="Arial"/>
              </a:rPr>
              <a:t>Two separately trained models from one run. This is not a measure of how much results vary between runs.</a:t>
            </a:r>
          </a:p>
        </p:txBody>
      </p:sp>
      <p:cxnSp>
        <p:nvCxnSpPr>
          <p:cNvPr id="31" name="Connector 30"/>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3035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503"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34" name="Rounded Rectangle 33"/>
          <p:cNvSpPr/>
          <p:nvPr/>
        </p:nvSpPr>
        <p:spPr>
          <a:xfrm>
            <a:off x="1376172" y="6519672"/>
            <a:ext cx="14401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449324" y="6547104"/>
            <a:ext cx="129387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ANALYTICAL SKILLS</a:t>
            </a:r>
          </a:p>
        </p:txBody>
      </p:sp>
      <p:sp>
        <p:nvSpPr>
          <p:cNvPr id="36" name="TextBox 35"/>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Two separately trained versions of the learned system</a:t>
            </a:r>
          </a:p>
        </p:txBody>
      </p:sp>
      <p:sp>
        <p:nvSpPr>
          <p:cNvPr id="37" name="TextBox 36"/>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10</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The control that keeps the comparison honest</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25296"/>
            <a:ext cx="10680192" cy="292608"/>
          </a:xfrm>
          <a:prstGeom prst="rect">
            <a:avLst/>
          </a:prstGeom>
          <a:noFill/>
        </p:spPr>
        <p:txBody>
          <a:bodyPr wrap="square" lIns="45720" rIns="45720" anchor="t">
            <a:spAutoFit/>
          </a:bodyPr>
          <a:lstStyle/>
          <a:p>
            <a:pPr algn="ctr">
              <a:lnSpc>
                <a:spcPct val="100000"/>
              </a:lnSpc>
              <a:spcBef>
                <a:spcPts val="0"/>
              </a:spcBef>
              <a:spcAft>
                <a:spcPts val="0"/>
              </a:spcAft>
            </a:pPr>
            <a:r>
              <a:rPr sz="1350" b="1" i="0">
                <a:solidFill>
                  <a:srgbClr val="111111"/>
                </a:solidFill>
                <a:latin typeface="Arial"/>
              </a:rPr>
              <a:t>If we had only compared against a normal compressed image, the weak-signal story would be too easy to believe.</a:t>
            </a:r>
          </a:p>
        </p:txBody>
      </p:sp>
      <p:pic>
        <p:nvPicPr>
          <p:cNvPr id="7" name="Picture 6" descr="05_task_aware_digital.png"/>
          <p:cNvPicPr>
            <a:picLocks noChangeAspect="1"/>
          </p:cNvPicPr>
          <p:nvPr/>
        </p:nvPicPr>
        <p:blipFill>
          <a:blip r:embed="rId2"/>
          <a:stretch>
            <a:fillRect/>
          </a:stretch>
        </p:blipFill>
        <p:spPr>
          <a:xfrm>
            <a:off x="2766743" y="1572768"/>
            <a:ext cx="6658208" cy="3364991"/>
          </a:xfrm>
          <a:prstGeom prst="rect">
            <a:avLst/>
          </a:prstGeom>
        </p:spPr>
      </p:pic>
      <p:sp>
        <p:nvSpPr>
          <p:cNvPr id="8" name="Rounded Rectangle 7"/>
          <p:cNvSpPr/>
          <p:nvPr/>
        </p:nvSpPr>
        <p:spPr>
          <a:xfrm>
            <a:off x="749808" y="5175504"/>
            <a:ext cx="5285232" cy="109728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5175504"/>
            <a:ext cx="64008" cy="109728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285232"/>
            <a:ext cx="4882896" cy="237744"/>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What this arm does</a:t>
            </a:r>
          </a:p>
        </p:txBody>
      </p:sp>
      <p:sp>
        <p:nvSpPr>
          <p:cNvPr id="11" name="TextBox 10"/>
          <p:cNvSpPr txBox="1"/>
          <p:nvPr/>
        </p:nvSpPr>
        <p:spPr>
          <a:xfrm>
            <a:off x="950976" y="5577840"/>
            <a:ext cx="4882896" cy="621792"/>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Instead of a JPEG image it sends the learned features themselves, through the same error-correction code and radio settings, using the same 12,800 uses. It separates “knows the task” from “codes both at once”.</a:t>
            </a:r>
          </a:p>
        </p:txBody>
      </p:sp>
      <p:sp>
        <p:nvSpPr>
          <p:cNvPr id="12" name="Rounded Rectangle 11"/>
          <p:cNvSpPr/>
          <p:nvPr/>
        </p:nvSpPr>
        <p:spPr>
          <a:xfrm>
            <a:off x="6254496" y="5175504"/>
            <a:ext cx="5193792" cy="1097280"/>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5285232"/>
            <a:ext cx="4791456" cy="237744"/>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What it settles</a:t>
            </a:r>
          </a:p>
        </p:txBody>
      </p:sp>
      <p:sp>
        <p:nvSpPr>
          <p:cNvPr id="14" name="TextBox 13"/>
          <p:cNvSpPr txBox="1"/>
          <p:nvPr/>
        </p:nvSpPr>
        <p:spPr>
          <a:xfrm>
            <a:off x="6455664" y="5577840"/>
            <a:ext cx="4791456" cy="621792"/>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It holds 82.0% at every strength from −4 dB up. Sending learned features digitally is strong once pictures get through, so the gap is about failed deliveries as much as representation. It does not isolate the code.</a:t>
            </a:r>
          </a:p>
        </p:txBody>
      </p:sp>
      <p:cxnSp>
        <p:nvCxnSpPr>
          <p:cNvPr id="15" name="Connector 14"/>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3035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3"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18" name="Rounded Rectangle 17"/>
          <p:cNvSpPr/>
          <p:nvPr/>
        </p:nvSpPr>
        <p:spPr>
          <a:xfrm>
            <a:off x="1376172" y="6519672"/>
            <a:ext cx="14401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9324" y="6547104"/>
            <a:ext cx="129387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ANALYTICAL SKILLS</a:t>
            </a:r>
          </a:p>
        </p:txBody>
      </p:sp>
      <p:sp>
        <p:nvSpPr>
          <p:cNvPr id="20" name="TextBox 19"/>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Same radio time, same error-correction code, same modulation</a:t>
            </a:r>
          </a:p>
        </p:txBody>
      </p:sp>
      <p:sp>
        <p:nvSpPr>
          <p:cNvPr id="21" name="TextBox 20"/>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11</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Keeping the signal peaks from getting too tall</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25296"/>
            <a:ext cx="10680192" cy="292608"/>
          </a:xfrm>
          <a:prstGeom prst="rect">
            <a:avLst/>
          </a:prstGeom>
          <a:noFill/>
        </p:spPr>
        <p:txBody>
          <a:bodyPr wrap="square" lIns="45720" rIns="45720" anchor="t">
            <a:spAutoFit/>
          </a:bodyPr>
          <a:lstStyle/>
          <a:p>
            <a:pPr algn="ctr">
              <a:lnSpc>
                <a:spcPct val="100000"/>
              </a:lnSpc>
              <a:spcBef>
                <a:spcPts val="0"/>
              </a:spcBef>
              <a:spcAft>
                <a:spcPts val="0"/>
              </a:spcAft>
            </a:pPr>
            <a:r>
              <a:rPr sz="1350" b="1" i="0">
                <a:solidFill>
                  <a:srgbClr val="111111"/>
                </a:solidFill>
                <a:latin typeface="Arial"/>
              </a:rPr>
              <a:t>A real transmitter cannot send a signal with tall spikes, so we trained a second model under that limit.</a:t>
            </a:r>
          </a:p>
        </p:txBody>
      </p:sp>
      <p:pic>
        <p:nvPicPr>
          <p:cNvPr id="7" name="Picture 6" descr="06_papr_tradeoff.png"/>
          <p:cNvPicPr>
            <a:picLocks noChangeAspect="1"/>
          </p:cNvPicPr>
          <p:nvPr/>
        </p:nvPicPr>
        <p:blipFill>
          <a:blip r:embed="rId2"/>
          <a:stretch>
            <a:fillRect/>
          </a:stretch>
        </p:blipFill>
        <p:spPr>
          <a:xfrm>
            <a:off x="2735004" y="1572768"/>
            <a:ext cx="6721686" cy="2724912"/>
          </a:xfrm>
          <a:prstGeom prst="rect">
            <a:avLst/>
          </a:prstGeom>
        </p:spPr>
      </p:pic>
      <p:sp>
        <p:nvSpPr>
          <p:cNvPr id="8" name="Rounded Rectangle 7"/>
          <p:cNvSpPr/>
          <p:nvPr/>
        </p:nvSpPr>
        <p:spPr>
          <a:xfrm>
            <a:off x="749808" y="4425696"/>
            <a:ext cx="6035040" cy="274320"/>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4475988"/>
            <a:ext cx="5852159" cy="182880"/>
          </a:xfrm>
          <a:prstGeom prst="rect">
            <a:avLst/>
          </a:prstGeom>
          <a:noFill/>
        </p:spPr>
        <p:txBody>
          <a:bodyPr wrap="square" lIns="45720" rIns="45720" anchor="ctr">
            <a:spAutoFit/>
          </a:bodyPr>
          <a:lstStyle/>
          <a:p>
            <a:pPr algn="l">
              <a:lnSpc>
                <a:spcPct val="100000"/>
              </a:lnSpc>
              <a:spcBef>
                <a:spcPts val="0"/>
              </a:spcBef>
              <a:spcAft>
                <a:spcPts val="0"/>
              </a:spcAft>
            </a:pPr>
            <a:r>
              <a:rPr sz="860" b="0" i="0">
                <a:solidFill>
                  <a:srgbClr val="111111"/>
                </a:solidFill>
                <a:latin typeface="Arial"/>
              </a:rPr>
              <a:t>peak-to-average ratio = how much taller the tallest spike is than the average</a:t>
            </a:r>
          </a:p>
        </p:txBody>
      </p:sp>
      <p:sp>
        <p:nvSpPr>
          <p:cNvPr id="10" name="Rounded Rectangle 9"/>
          <p:cNvSpPr/>
          <p:nvPr/>
        </p:nvSpPr>
        <p:spPr>
          <a:xfrm>
            <a:off x="749808" y="4809744"/>
            <a:ext cx="2523744" cy="120700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808" y="4809744"/>
            <a:ext cx="2523744"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065776"/>
            <a:ext cx="2304287" cy="548640"/>
          </a:xfrm>
          <a:prstGeom prst="rect">
            <a:avLst/>
          </a:prstGeom>
          <a:noFill/>
        </p:spPr>
        <p:txBody>
          <a:bodyPr wrap="square" lIns="45720" rIns="45720" anchor="t">
            <a:spAutoFit/>
          </a:bodyPr>
          <a:lstStyle/>
          <a:p>
            <a:pPr algn="ctr">
              <a:lnSpc>
                <a:spcPct val="100000"/>
              </a:lnSpc>
              <a:spcBef>
                <a:spcPts val="0"/>
              </a:spcBef>
              <a:spcAft>
                <a:spcPts val="0"/>
              </a:spcAft>
            </a:pPr>
            <a:r>
              <a:rPr sz="2100" b="1" i="0">
                <a:solidFill>
                  <a:srgbClr val="111111"/>
                </a:solidFill>
                <a:latin typeface="Arial"/>
              </a:rPr>
              <a:t>3.000002 dB</a:t>
            </a:r>
          </a:p>
        </p:txBody>
      </p:sp>
      <p:sp>
        <p:nvSpPr>
          <p:cNvPr id="13" name="TextBox 12"/>
          <p:cNvSpPr txBox="1"/>
          <p:nvPr/>
        </p:nvSpPr>
        <p:spPr>
          <a:xfrm>
            <a:off x="859536" y="5705856"/>
            <a:ext cx="2304287" cy="219456"/>
          </a:xfrm>
          <a:prstGeom prst="rect">
            <a:avLst/>
          </a:prstGeom>
          <a:noFill/>
        </p:spPr>
        <p:txBody>
          <a:bodyPr wrap="square" lIns="45720" rIns="45720" anchor="t">
            <a:spAutoFit/>
          </a:bodyPr>
          <a:lstStyle/>
          <a:p>
            <a:pPr algn="ctr">
              <a:lnSpc>
                <a:spcPct val="100000"/>
              </a:lnSpc>
              <a:spcBef>
                <a:spcPts val="0"/>
              </a:spcBef>
              <a:spcAft>
                <a:spcPts val="0"/>
              </a:spcAft>
            </a:pPr>
            <a:r>
              <a:rPr sz="1050" b="0" i="0">
                <a:solidFill>
                  <a:srgbClr val="555555"/>
                </a:solidFill>
                <a:latin typeface="Arial"/>
              </a:rPr>
              <a:t>tallest spike, limited model</a:t>
            </a:r>
          </a:p>
        </p:txBody>
      </p:sp>
      <p:sp>
        <p:nvSpPr>
          <p:cNvPr id="14" name="Rounded Rectangle 13"/>
          <p:cNvSpPr/>
          <p:nvPr/>
        </p:nvSpPr>
        <p:spPr>
          <a:xfrm>
            <a:off x="3438144" y="4809744"/>
            <a:ext cx="2523744" cy="120700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38144" y="4809744"/>
            <a:ext cx="2523744"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5065776"/>
            <a:ext cx="2304287" cy="548640"/>
          </a:xfrm>
          <a:prstGeom prst="rect">
            <a:avLst/>
          </a:prstGeom>
          <a:noFill/>
        </p:spPr>
        <p:txBody>
          <a:bodyPr wrap="square" lIns="45720" rIns="45720" anchor="t">
            <a:spAutoFit/>
          </a:bodyPr>
          <a:lstStyle/>
          <a:p>
            <a:pPr algn="ctr">
              <a:lnSpc>
                <a:spcPct val="100000"/>
              </a:lnSpc>
              <a:spcBef>
                <a:spcPts val="0"/>
              </a:spcBef>
              <a:spcAft>
                <a:spcPts val="0"/>
              </a:spcAft>
            </a:pPr>
            <a:r>
              <a:rPr sz="2100" b="1" i="0">
                <a:solidFill>
                  <a:srgbClr val="111111"/>
                </a:solidFill>
                <a:latin typeface="Arial"/>
              </a:rPr>
              <a:t>20.059284 dB</a:t>
            </a:r>
          </a:p>
        </p:txBody>
      </p:sp>
      <p:sp>
        <p:nvSpPr>
          <p:cNvPr id="17" name="TextBox 16"/>
          <p:cNvSpPr txBox="1"/>
          <p:nvPr/>
        </p:nvSpPr>
        <p:spPr>
          <a:xfrm>
            <a:off x="3547872" y="5705856"/>
            <a:ext cx="2304287" cy="219456"/>
          </a:xfrm>
          <a:prstGeom prst="rect">
            <a:avLst/>
          </a:prstGeom>
          <a:noFill/>
        </p:spPr>
        <p:txBody>
          <a:bodyPr wrap="square" lIns="45720" rIns="45720" anchor="t">
            <a:spAutoFit/>
          </a:bodyPr>
          <a:lstStyle/>
          <a:p>
            <a:pPr algn="ctr">
              <a:lnSpc>
                <a:spcPct val="100000"/>
              </a:lnSpc>
              <a:spcBef>
                <a:spcPts val="0"/>
              </a:spcBef>
              <a:spcAft>
                <a:spcPts val="0"/>
              </a:spcAft>
            </a:pPr>
            <a:r>
              <a:rPr sz="1050" b="0" i="0">
                <a:solidFill>
                  <a:srgbClr val="555555"/>
                </a:solidFill>
                <a:latin typeface="Arial"/>
              </a:rPr>
              <a:t>tallest spike, ordinary model</a:t>
            </a:r>
          </a:p>
        </p:txBody>
      </p:sp>
      <p:sp>
        <p:nvSpPr>
          <p:cNvPr id="18" name="Rounded Rectangle 17"/>
          <p:cNvSpPr/>
          <p:nvPr/>
        </p:nvSpPr>
        <p:spPr>
          <a:xfrm>
            <a:off x="6126480" y="4809744"/>
            <a:ext cx="2523744" cy="120700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4809744"/>
            <a:ext cx="2523744" cy="54864"/>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6208" y="5065776"/>
            <a:ext cx="2304287" cy="548640"/>
          </a:xfrm>
          <a:prstGeom prst="rect">
            <a:avLst/>
          </a:prstGeom>
          <a:noFill/>
        </p:spPr>
        <p:txBody>
          <a:bodyPr wrap="square" lIns="45720" rIns="45720" anchor="t">
            <a:spAutoFit/>
          </a:bodyPr>
          <a:lstStyle/>
          <a:p>
            <a:pPr algn="ctr">
              <a:lnSpc>
                <a:spcPct val="100000"/>
              </a:lnSpc>
              <a:spcBef>
                <a:spcPts val="0"/>
              </a:spcBef>
              <a:spcAft>
                <a:spcPts val="0"/>
              </a:spcAft>
            </a:pPr>
            <a:r>
              <a:rPr sz="2100" b="1" i="0">
                <a:solidFill>
                  <a:srgbClr val="111111"/>
                </a:solidFill>
                <a:latin typeface="Arial"/>
              </a:rPr>
              <a:t>+3.1 pp</a:t>
            </a:r>
          </a:p>
        </p:txBody>
      </p:sp>
      <p:sp>
        <p:nvSpPr>
          <p:cNvPr id="21" name="TextBox 20"/>
          <p:cNvSpPr txBox="1"/>
          <p:nvPr/>
        </p:nvSpPr>
        <p:spPr>
          <a:xfrm>
            <a:off x="6236208" y="5705856"/>
            <a:ext cx="2304287" cy="219456"/>
          </a:xfrm>
          <a:prstGeom prst="rect">
            <a:avLst/>
          </a:prstGeom>
          <a:noFill/>
        </p:spPr>
        <p:txBody>
          <a:bodyPr wrap="square" lIns="45720" rIns="45720" anchor="t">
            <a:spAutoFit/>
          </a:bodyPr>
          <a:lstStyle/>
          <a:p>
            <a:pPr algn="ctr">
              <a:lnSpc>
                <a:spcPct val="100000"/>
              </a:lnSpc>
              <a:spcBef>
                <a:spcPts val="0"/>
              </a:spcBef>
              <a:spcAft>
                <a:spcPts val="0"/>
              </a:spcAft>
            </a:pPr>
            <a:r>
              <a:rPr sz="1050" b="0" i="0">
                <a:solidFill>
                  <a:srgbClr val="555555"/>
                </a:solidFill>
                <a:latin typeface="Arial"/>
              </a:rPr>
              <a:t>better at −8 dB</a:t>
            </a:r>
          </a:p>
        </p:txBody>
      </p:sp>
      <p:sp>
        <p:nvSpPr>
          <p:cNvPr id="22" name="Rounded Rectangle 21"/>
          <p:cNvSpPr/>
          <p:nvPr/>
        </p:nvSpPr>
        <p:spPr>
          <a:xfrm>
            <a:off x="8814816" y="4809744"/>
            <a:ext cx="2523744" cy="1207008"/>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14816" y="4809744"/>
            <a:ext cx="2523744" cy="54864"/>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24544" y="5065776"/>
            <a:ext cx="2304287" cy="548640"/>
          </a:xfrm>
          <a:prstGeom prst="rect">
            <a:avLst/>
          </a:prstGeom>
          <a:noFill/>
        </p:spPr>
        <p:txBody>
          <a:bodyPr wrap="square" lIns="45720" rIns="45720" anchor="t">
            <a:spAutoFit/>
          </a:bodyPr>
          <a:lstStyle/>
          <a:p>
            <a:pPr algn="ctr">
              <a:lnSpc>
                <a:spcPct val="100000"/>
              </a:lnSpc>
              <a:spcBef>
                <a:spcPts val="0"/>
              </a:spcBef>
              <a:spcAft>
                <a:spcPts val="0"/>
              </a:spcAft>
            </a:pPr>
            <a:r>
              <a:rPr sz="2100" b="1" i="0">
                <a:solidFill>
                  <a:srgbClr val="111111"/>
                </a:solidFill>
                <a:latin typeface="Arial"/>
              </a:rPr>
              <a:t>−0.2 pp</a:t>
            </a:r>
          </a:p>
        </p:txBody>
      </p:sp>
      <p:sp>
        <p:nvSpPr>
          <p:cNvPr id="25" name="TextBox 24"/>
          <p:cNvSpPr txBox="1"/>
          <p:nvPr/>
        </p:nvSpPr>
        <p:spPr>
          <a:xfrm>
            <a:off x="8924544" y="5705856"/>
            <a:ext cx="2304287" cy="219456"/>
          </a:xfrm>
          <a:prstGeom prst="rect">
            <a:avLst/>
          </a:prstGeom>
          <a:noFill/>
        </p:spPr>
        <p:txBody>
          <a:bodyPr wrap="square" lIns="45720" rIns="45720" anchor="t">
            <a:spAutoFit/>
          </a:bodyPr>
          <a:lstStyle/>
          <a:p>
            <a:pPr algn="ctr">
              <a:lnSpc>
                <a:spcPct val="100000"/>
              </a:lnSpc>
              <a:spcBef>
                <a:spcPts val="0"/>
              </a:spcBef>
              <a:spcAft>
                <a:spcPts val="0"/>
              </a:spcAft>
            </a:pPr>
            <a:r>
              <a:rPr sz="1050" b="0" i="0">
                <a:solidFill>
                  <a:srgbClr val="555555"/>
                </a:solidFill>
                <a:latin typeface="Arial"/>
              </a:rPr>
              <a:t>worse at +18 dB</a:t>
            </a:r>
          </a:p>
        </p:txBody>
      </p:sp>
      <p:sp>
        <p:nvSpPr>
          <p:cNvPr id="26" name="TextBox 25"/>
          <p:cNvSpPr txBox="1"/>
          <p:nvPr/>
        </p:nvSpPr>
        <p:spPr>
          <a:xfrm>
            <a:off x="749808" y="6144768"/>
            <a:ext cx="10680192" cy="237744"/>
          </a:xfrm>
          <a:prstGeom prst="rect">
            <a:avLst/>
          </a:prstGeom>
          <a:noFill/>
        </p:spPr>
        <p:txBody>
          <a:bodyPr wrap="square" lIns="45720" rIns="45720" anchor="t">
            <a:spAutoFit/>
          </a:bodyPr>
          <a:lstStyle/>
          <a:p>
            <a:pPr algn="ctr">
              <a:lnSpc>
                <a:spcPct val="100000"/>
              </a:lnSpc>
              <a:spcBef>
                <a:spcPts val="0"/>
              </a:spcBef>
              <a:spcAft>
                <a:spcPts val="0"/>
              </a:spcAft>
            </a:pPr>
            <a:r>
              <a:rPr sz="1000" b="0" i="1">
                <a:solidFill>
                  <a:srgbClr val="555555"/>
                </a:solidFill>
                <a:latin typeface="Arial"/>
              </a:rPr>
              <a:t>This measures the numbers we put on the radio, not a real amplifier. The limited model is a separate training run, so the gap is not a clean penalty.</a:t>
            </a:r>
          </a:p>
        </p:txBody>
      </p:sp>
      <p:cxnSp>
        <p:nvCxnSpPr>
          <p:cNvPr id="27" name="Connector 26"/>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3035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3"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30" name="Rounded Rectangle 29"/>
          <p:cNvSpPr/>
          <p:nvPr/>
        </p:nvSpPr>
        <p:spPr>
          <a:xfrm>
            <a:off x="1376172" y="6519672"/>
            <a:ext cx="14401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49324" y="6547104"/>
            <a:ext cx="129387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ANALYTICAL SKILLS</a:t>
            </a:r>
          </a:p>
        </p:txBody>
      </p:sp>
      <p:sp>
        <p:nvSpPr>
          <p:cNvPr id="32" name="TextBox 31"/>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Peak-to-average power ratio, measured on the numbers we send</a:t>
            </a:r>
          </a:p>
        </p:txBody>
      </p:sp>
      <p:sp>
        <p:nvSpPr>
          <p:cNvPr id="33" name="TextBox 32"/>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12</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Four controls, including one that went against us</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188720"/>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00" b="1" i="0">
                <a:solidFill>
                  <a:srgbClr val="111111"/>
                </a:solidFill>
                <a:latin typeface="Arial"/>
              </a:rPr>
              <a:t>Each panel takes one design choice away from the digital system and shows what it was worth.</a:t>
            </a:r>
          </a:p>
        </p:txBody>
      </p:sp>
      <p:pic>
        <p:nvPicPr>
          <p:cNvPr id="7" name="Picture 6" descr="07_secondary_controls.png"/>
          <p:cNvPicPr>
            <a:picLocks noChangeAspect="1"/>
          </p:cNvPicPr>
          <p:nvPr/>
        </p:nvPicPr>
        <p:blipFill>
          <a:blip r:embed="rId2"/>
          <a:stretch>
            <a:fillRect/>
          </a:stretch>
        </p:blipFill>
        <p:spPr>
          <a:xfrm>
            <a:off x="4149754" y="1517904"/>
            <a:ext cx="3892186" cy="2834640"/>
          </a:xfrm>
          <a:prstGeom prst="rect">
            <a:avLst/>
          </a:prstGeom>
        </p:spPr>
      </p:pic>
      <p:sp>
        <p:nvSpPr>
          <p:cNvPr id="8" name="Rounded Rectangle 7"/>
          <p:cNvSpPr/>
          <p:nvPr/>
        </p:nvSpPr>
        <p:spPr>
          <a:xfrm>
            <a:off x="749808" y="4517136"/>
            <a:ext cx="5212080" cy="804672"/>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4517136"/>
            <a:ext cx="64008" cy="80467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608576"/>
            <a:ext cx="4809744" cy="237744"/>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Fixed settings</a:t>
            </a:r>
          </a:p>
        </p:txBody>
      </p:sp>
      <p:sp>
        <p:nvSpPr>
          <p:cNvPr id="11" name="TextBox 10"/>
          <p:cNvSpPr txBox="1"/>
          <p:nvPr/>
        </p:nvSpPr>
        <p:spPr>
          <a:xfrm>
            <a:off x="950976" y="4901184"/>
            <a:ext cx="4809744" cy="347472"/>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No delivery until +6 dB, then 89.0%. Choosing per strength buys real reach.</a:t>
            </a:r>
          </a:p>
        </p:txBody>
      </p:sp>
      <p:sp>
        <p:nvSpPr>
          <p:cNvPr id="12" name="Rounded Rectangle 11"/>
          <p:cNvSpPr/>
          <p:nvPr/>
        </p:nvSpPr>
        <p:spPr>
          <a:xfrm>
            <a:off x="6236208" y="4517136"/>
            <a:ext cx="5212080" cy="804672"/>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6208" y="4517136"/>
            <a:ext cx="64008" cy="80467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4608576"/>
            <a:ext cx="4809744" cy="237744"/>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Fixed modulation</a:t>
            </a:r>
          </a:p>
        </p:txBody>
      </p:sp>
      <p:sp>
        <p:nvSpPr>
          <p:cNvPr id="15" name="TextBox 14"/>
          <p:cNvSpPr txBox="1"/>
          <p:nvPr/>
        </p:nvSpPr>
        <p:spPr>
          <a:xfrm>
            <a:off x="6437376" y="4901184"/>
            <a:ext cx="4809744" cy="347472"/>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Starts working later, and settles near 88.7%.</a:t>
            </a:r>
          </a:p>
        </p:txBody>
      </p:sp>
      <p:sp>
        <p:nvSpPr>
          <p:cNvPr id="16" name="Rounded Rectangle 15"/>
          <p:cNvSpPr/>
          <p:nvPr/>
        </p:nvSpPr>
        <p:spPr>
          <a:xfrm>
            <a:off x="749808" y="5431536"/>
            <a:ext cx="5212080" cy="804672"/>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8" y="5431536"/>
            <a:ext cx="64008" cy="804672"/>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 y="5522976"/>
            <a:ext cx="4809744" cy="237744"/>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JPEG instead of JPEG 2000</a:t>
            </a:r>
          </a:p>
        </p:txBody>
      </p:sp>
      <p:sp>
        <p:nvSpPr>
          <p:cNvPr id="19" name="TextBox 18"/>
          <p:cNvSpPr txBox="1"/>
          <p:nvPr/>
        </p:nvSpPr>
        <p:spPr>
          <a:xfrm>
            <a:off x="950976" y="5815584"/>
            <a:ext cx="4809744" cy="347472"/>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88.6% at +18 dB, and a real point at +9 dB where nothing arrived. Kept in.</a:t>
            </a:r>
          </a:p>
        </p:txBody>
      </p:sp>
      <p:sp>
        <p:nvSpPr>
          <p:cNvPr id="20" name="Rounded Rectangle 19"/>
          <p:cNvSpPr/>
          <p:nvPr/>
        </p:nvSpPr>
        <p:spPr>
          <a:xfrm>
            <a:off x="6236208" y="5431536"/>
            <a:ext cx="5212080" cy="804672"/>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6208" y="5431536"/>
            <a:ext cx="64008" cy="80467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5522976"/>
            <a:ext cx="4809744" cy="237744"/>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Sending the answer itself</a:t>
            </a:r>
          </a:p>
        </p:txBody>
      </p:sp>
      <p:sp>
        <p:nvSpPr>
          <p:cNvPr id="23" name="TextBox 22"/>
          <p:cNvSpPr txBox="1"/>
          <p:nvPr/>
        </p:nvSpPr>
        <p:spPr>
          <a:xfrm>
            <a:off x="6437376" y="5815584"/>
            <a:ext cx="4809744" cy="347472"/>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82.0% once it arrives. A label the sender guessed, not the true answer.</a:t>
            </a:r>
          </a:p>
        </p:txBody>
      </p:sp>
      <p:cxnSp>
        <p:nvCxnSpPr>
          <p:cNvPr id="24" name="Connector 23"/>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3035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3503"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27" name="Rounded Rectangle 26"/>
          <p:cNvSpPr/>
          <p:nvPr/>
        </p:nvSpPr>
        <p:spPr>
          <a:xfrm>
            <a:off x="1376172" y="6519672"/>
            <a:ext cx="14401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49324" y="6547104"/>
            <a:ext cx="129387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ANALYTICAL SKILLS</a:t>
            </a:r>
          </a:p>
        </p:txBody>
      </p:sp>
      <p:sp>
        <p:nvSpPr>
          <p:cNvPr id="29" name="TextBox 28"/>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Settings, image format, sending the answer, rebuilding the picture</a:t>
            </a:r>
          </a:p>
        </p:txBody>
      </p:sp>
      <p:sp>
        <p:nvSpPr>
          <p:cNvPr id="30" name="TextBox 29"/>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13</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Why the digital line breaks where it does</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07008"/>
            <a:ext cx="6400800" cy="292608"/>
          </a:xfrm>
          <a:prstGeom prst="rect">
            <a:avLst/>
          </a:prstGeom>
          <a:noFill/>
        </p:spPr>
        <p:txBody>
          <a:bodyPr wrap="square" lIns="45720" rIns="45720" anchor="t">
            <a:spAutoFit/>
          </a:bodyPr>
          <a:lstStyle/>
          <a:p>
            <a:pPr algn="l">
              <a:lnSpc>
                <a:spcPct val="100000"/>
              </a:lnSpc>
              <a:spcBef>
                <a:spcPts val="0"/>
              </a:spcBef>
              <a:spcAft>
                <a:spcPts val="0"/>
              </a:spcAft>
            </a:pPr>
            <a:r>
              <a:rPr sz="1350" b="1" i="0">
                <a:solidFill>
                  <a:srgbClr val="111111"/>
                </a:solidFill>
                <a:latin typeface="Arial"/>
              </a:rPr>
              <a:t>The score only moves when the pictures start or stop arriving.</a:t>
            </a:r>
          </a:p>
        </p:txBody>
      </p:sp>
      <p:pic>
        <p:nvPicPr>
          <p:cNvPr id="7" name="Picture 6" descr="08_delivery_coverage.png"/>
          <p:cNvPicPr>
            <a:picLocks noChangeAspect="1"/>
          </p:cNvPicPr>
          <p:nvPr/>
        </p:nvPicPr>
        <p:blipFill>
          <a:blip r:embed="rId2"/>
          <a:stretch>
            <a:fillRect/>
          </a:stretch>
        </p:blipFill>
        <p:spPr>
          <a:xfrm>
            <a:off x="786384" y="1572768"/>
            <a:ext cx="4858041" cy="3749039"/>
          </a:xfrm>
          <a:prstGeom prst="rect">
            <a:avLst/>
          </a:prstGeom>
        </p:spPr>
      </p:pic>
      <p:sp>
        <p:nvSpPr>
          <p:cNvPr id="8" name="Rounded Rectangle 7"/>
          <p:cNvSpPr/>
          <p:nvPr/>
        </p:nvSpPr>
        <p:spPr>
          <a:xfrm>
            <a:off x="6035040" y="1572768"/>
            <a:ext cx="5413248" cy="3749039"/>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72784" y="1792224"/>
            <a:ext cx="1280160" cy="25603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833372"/>
            <a:ext cx="1115568" cy="173736"/>
          </a:xfrm>
          <a:prstGeom prst="rect">
            <a:avLst/>
          </a:prstGeom>
          <a:noFill/>
        </p:spPr>
        <p:txBody>
          <a:bodyPr wrap="square" lIns="45720" rIns="45720" anchor="ctr">
            <a:spAutoFit/>
          </a:bodyPr>
          <a:lstStyle/>
          <a:p>
            <a:pPr algn="l">
              <a:lnSpc>
                <a:spcPct val="100000"/>
              </a:lnSpc>
              <a:spcBef>
                <a:spcPts val="0"/>
              </a:spcBef>
              <a:spcAft>
                <a:spcPts val="0"/>
              </a:spcAft>
            </a:pPr>
            <a:r>
              <a:rPr sz="819" b="1" i="0">
                <a:solidFill>
                  <a:srgbClr val="111111"/>
                </a:solidFill>
                <a:latin typeface="Arial"/>
              </a:rPr>
              <a:t>READING IT</a:t>
            </a:r>
          </a:p>
        </p:txBody>
      </p:sp>
      <p:sp>
        <p:nvSpPr>
          <p:cNvPr id="11" name="Rectangle 10"/>
          <p:cNvSpPr/>
          <p:nvPr/>
        </p:nvSpPr>
        <p:spPr>
          <a:xfrm>
            <a:off x="6272784" y="2194560"/>
            <a:ext cx="64008" cy="27432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55664" y="2176272"/>
            <a:ext cx="4791456" cy="256032"/>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The flat 10% is a rule, not a delivery</a:t>
            </a:r>
          </a:p>
        </p:txBody>
      </p:sp>
      <p:sp>
        <p:nvSpPr>
          <p:cNvPr id="13" name="TextBox 12"/>
          <p:cNvSpPr txBox="1"/>
          <p:nvPr/>
        </p:nvSpPr>
        <p:spPr>
          <a:xfrm>
            <a:off x="6455664" y="2487168"/>
            <a:ext cx="4791456" cy="658368"/>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When nothing gets through, every picture takes the same fallback answer. On an evenly split set that is right 100 times in 1,000.</a:t>
            </a:r>
          </a:p>
        </p:txBody>
      </p:sp>
      <p:sp>
        <p:nvSpPr>
          <p:cNvPr id="14" name="Rectangle 13"/>
          <p:cNvSpPr/>
          <p:nvPr/>
        </p:nvSpPr>
        <p:spPr>
          <a:xfrm>
            <a:off x="6272784" y="3236975"/>
            <a:ext cx="64008" cy="27432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3218687"/>
            <a:ext cx="4791456" cy="256032"/>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Failed deliveries are part of the result</a:t>
            </a:r>
          </a:p>
        </p:txBody>
      </p:sp>
      <p:sp>
        <p:nvSpPr>
          <p:cNvPr id="16" name="TextBox 15"/>
          <p:cNvSpPr txBox="1"/>
          <p:nvPr/>
        </p:nvSpPr>
        <p:spPr>
          <a:xfrm>
            <a:off x="6455664" y="3529583"/>
            <a:ext cx="4791456" cy="658368"/>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We report how many pictures arrived next to how many we got right, so you can tell a broken link from a wrong guess.</a:t>
            </a:r>
          </a:p>
        </p:txBody>
      </p:sp>
      <p:sp>
        <p:nvSpPr>
          <p:cNvPr id="17" name="Rectangle 16"/>
          <p:cNvSpPr/>
          <p:nvPr/>
        </p:nvSpPr>
        <p:spPr>
          <a:xfrm>
            <a:off x="6272784" y="4279392"/>
            <a:ext cx="64008" cy="27432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5664" y="4261104"/>
            <a:ext cx="4791456" cy="256032"/>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The learned system always answers</a:t>
            </a:r>
          </a:p>
        </p:txBody>
      </p:sp>
      <p:sp>
        <p:nvSpPr>
          <p:cNvPr id="19" name="TextBox 18"/>
          <p:cNvSpPr txBox="1"/>
          <p:nvPr/>
        </p:nvSpPr>
        <p:spPr>
          <a:xfrm>
            <a:off x="6455664" y="4572000"/>
            <a:ext cx="4791456" cy="658368"/>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Its rules promise a label at every strength, which is why its line has no floor to sit on.</a:t>
            </a:r>
          </a:p>
        </p:txBody>
      </p:sp>
      <p:sp>
        <p:nvSpPr>
          <p:cNvPr id="20" name="TextBox 19"/>
          <p:cNvSpPr txBox="1"/>
          <p:nvPr/>
        </p:nvSpPr>
        <p:spPr>
          <a:xfrm>
            <a:off x="749808" y="5779008"/>
            <a:ext cx="5120640" cy="566928"/>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We did not add points between the ones we measured, and we did not smooth any curve to hide a step.</a:t>
            </a:r>
          </a:p>
        </p:txBody>
      </p:sp>
      <p:cxnSp>
        <p:nvCxnSpPr>
          <p:cNvPr id="21" name="Connector 20"/>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0352" y="6519672"/>
            <a:ext cx="14401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3" y="6547104"/>
            <a:ext cx="129387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ANALYTICAL SKILLS</a:t>
            </a:r>
          </a:p>
        </p:txBody>
      </p:sp>
      <p:sp>
        <p:nvSpPr>
          <p:cNvPr id="24" name="Rounded Rectangle 23"/>
          <p:cNvSpPr/>
          <p:nvPr/>
        </p:nvSpPr>
        <p:spPr>
          <a:xfrm>
            <a:off x="206197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35124"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26" name="TextBox 25"/>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When pictures stop arriving, the score drops to match</a:t>
            </a:r>
          </a:p>
        </p:txBody>
      </p:sp>
      <p:sp>
        <p:nvSpPr>
          <p:cNvPr id="27" name="TextBox 26"/>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14</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The numbers behind the curves</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07008"/>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250" b="0" i="0">
                <a:solidFill>
                  <a:srgbClr val="555555"/>
                </a:solidFill>
                <a:latin typeface="Arial"/>
              </a:rPr>
              <a:t>How many of the 1,000 held-back pictures we labelled correctly, one picture at a time.</a:t>
            </a:r>
          </a:p>
        </p:txBody>
      </p:sp>
      <p:sp>
        <p:nvSpPr>
          <p:cNvPr id="7" name="TextBox 6"/>
          <p:cNvSpPr txBox="1"/>
          <p:nvPr/>
        </p:nvSpPr>
        <p:spPr>
          <a:xfrm>
            <a:off x="749808" y="1609344"/>
            <a:ext cx="5285232" cy="237744"/>
          </a:xfrm>
          <a:prstGeom prst="rect">
            <a:avLst/>
          </a:prstGeom>
          <a:noFill/>
        </p:spPr>
        <p:txBody>
          <a:bodyPr wrap="square" lIns="45720" rIns="45720" anchor="t">
            <a:spAutoFit/>
          </a:bodyPr>
          <a:lstStyle/>
          <a:p>
            <a:pPr algn="l">
              <a:lnSpc>
                <a:spcPct val="100000"/>
              </a:lnSpc>
              <a:spcBef>
                <a:spcPts val="0"/>
              </a:spcBef>
              <a:spcAft>
                <a:spcPts val="0"/>
              </a:spcAft>
            </a:pPr>
            <a:r>
              <a:rPr sz="960" b="1" i="0">
                <a:solidFill>
                  <a:srgbClr val="111111"/>
                </a:solidFill>
                <a:latin typeface="Arial"/>
              </a:rPr>
              <a:t>HALF RATE · 12,800 USES</a:t>
            </a:r>
          </a:p>
        </p:txBody>
      </p:sp>
      <p:sp>
        <p:nvSpPr>
          <p:cNvPr id="8" name="Rounded Rectangle 7"/>
          <p:cNvSpPr/>
          <p:nvPr/>
        </p:nvSpPr>
        <p:spPr>
          <a:xfrm>
            <a:off x="749808" y="1883664"/>
            <a:ext cx="5285232" cy="34747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929384"/>
            <a:ext cx="1737360" cy="237744"/>
          </a:xfrm>
          <a:prstGeom prst="rect">
            <a:avLst/>
          </a:prstGeom>
          <a:noFill/>
        </p:spPr>
        <p:txBody>
          <a:bodyPr wrap="square" lIns="45720" rIns="45720" anchor="t">
            <a:spAutoFit/>
          </a:bodyPr>
          <a:lstStyle/>
          <a:p>
            <a:pPr algn="l">
              <a:lnSpc>
                <a:spcPct val="100000"/>
              </a:lnSpc>
              <a:spcBef>
                <a:spcPts val="0"/>
              </a:spcBef>
              <a:spcAft>
                <a:spcPts val="0"/>
              </a:spcAft>
            </a:pPr>
            <a:r>
              <a:rPr sz="840" b="1" i="0">
                <a:solidFill>
                  <a:srgbClr val="111111"/>
                </a:solidFill>
                <a:latin typeface="Arial"/>
              </a:rPr>
              <a:t>SYSTEM</a:t>
            </a:r>
          </a:p>
        </p:txBody>
      </p:sp>
      <p:sp>
        <p:nvSpPr>
          <p:cNvPr id="10" name="TextBox 9"/>
          <p:cNvSpPr txBox="1"/>
          <p:nvPr/>
        </p:nvSpPr>
        <p:spPr>
          <a:xfrm>
            <a:off x="2633472" y="1929384"/>
            <a:ext cx="566928"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−8</a:t>
            </a:r>
          </a:p>
        </p:txBody>
      </p:sp>
      <p:sp>
        <p:nvSpPr>
          <p:cNvPr id="11" name="TextBox 10"/>
          <p:cNvSpPr txBox="1"/>
          <p:nvPr/>
        </p:nvSpPr>
        <p:spPr>
          <a:xfrm>
            <a:off x="3200400" y="1929384"/>
            <a:ext cx="566928"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−5</a:t>
            </a:r>
          </a:p>
        </p:txBody>
      </p:sp>
      <p:sp>
        <p:nvSpPr>
          <p:cNvPr id="12" name="TextBox 11"/>
          <p:cNvSpPr txBox="1"/>
          <p:nvPr/>
        </p:nvSpPr>
        <p:spPr>
          <a:xfrm>
            <a:off x="3767328" y="1929384"/>
            <a:ext cx="566928"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−4</a:t>
            </a:r>
          </a:p>
        </p:txBody>
      </p:sp>
      <p:sp>
        <p:nvSpPr>
          <p:cNvPr id="13" name="TextBox 12"/>
          <p:cNvSpPr txBox="1"/>
          <p:nvPr/>
        </p:nvSpPr>
        <p:spPr>
          <a:xfrm>
            <a:off x="4334256" y="1929384"/>
            <a:ext cx="566928"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0</a:t>
            </a:r>
          </a:p>
        </p:txBody>
      </p:sp>
      <p:sp>
        <p:nvSpPr>
          <p:cNvPr id="14" name="TextBox 13"/>
          <p:cNvSpPr txBox="1"/>
          <p:nvPr/>
        </p:nvSpPr>
        <p:spPr>
          <a:xfrm>
            <a:off x="4901183" y="1929384"/>
            <a:ext cx="566928"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+9</a:t>
            </a:r>
          </a:p>
        </p:txBody>
      </p:sp>
      <p:sp>
        <p:nvSpPr>
          <p:cNvPr id="15" name="TextBox 14"/>
          <p:cNvSpPr txBox="1"/>
          <p:nvPr/>
        </p:nvSpPr>
        <p:spPr>
          <a:xfrm>
            <a:off x="5468112" y="1929384"/>
            <a:ext cx="566928"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+18</a:t>
            </a:r>
          </a:p>
        </p:txBody>
      </p:sp>
      <p:sp>
        <p:nvSpPr>
          <p:cNvPr id="16" name="Rounded Rectangle 15"/>
          <p:cNvSpPr/>
          <p:nvPr/>
        </p:nvSpPr>
        <p:spPr>
          <a:xfrm>
            <a:off x="749808" y="2231136"/>
            <a:ext cx="5285232" cy="384048"/>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749808" y="2615184"/>
            <a:ext cx="5285232"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41247" y="2313432"/>
            <a:ext cx="1737360" cy="25603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Learned, one strength</a:t>
            </a:r>
          </a:p>
        </p:txBody>
      </p:sp>
      <p:sp>
        <p:nvSpPr>
          <p:cNvPr id="19" name="TextBox 18"/>
          <p:cNvSpPr txBox="1"/>
          <p:nvPr/>
        </p:nvSpPr>
        <p:spPr>
          <a:xfrm>
            <a:off x="2633472" y="2313432"/>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72.8</a:t>
            </a:r>
          </a:p>
        </p:txBody>
      </p:sp>
      <p:sp>
        <p:nvSpPr>
          <p:cNvPr id="20" name="TextBox 19"/>
          <p:cNvSpPr txBox="1"/>
          <p:nvPr/>
        </p:nvSpPr>
        <p:spPr>
          <a:xfrm>
            <a:off x="3200400" y="2313432"/>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77.5</a:t>
            </a:r>
          </a:p>
        </p:txBody>
      </p:sp>
      <p:sp>
        <p:nvSpPr>
          <p:cNvPr id="21" name="TextBox 20"/>
          <p:cNvSpPr txBox="1"/>
          <p:nvPr/>
        </p:nvSpPr>
        <p:spPr>
          <a:xfrm>
            <a:off x="3767328" y="2313432"/>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79.4</a:t>
            </a:r>
          </a:p>
        </p:txBody>
      </p:sp>
      <p:sp>
        <p:nvSpPr>
          <p:cNvPr id="22" name="TextBox 21"/>
          <p:cNvSpPr txBox="1"/>
          <p:nvPr/>
        </p:nvSpPr>
        <p:spPr>
          <a:xfrm>
            <a:off x="4334256" y="2313432"/>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81.2</a:t>
            </a:r>
          </a:p>
        </p:txBody>
      </p:sp>
      <p:sp>
        <p:nvSpPr>
          <p:cNvPr id="23" name="TextBox 22"/>
          <p:cNvSpPr txBox="1"/>
          <p:nvPr/>
        </p:nvSpPr>
        <p:spPr>
          <a:xfrm>
            <a:off x="4901183" y="2313432"/>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83.8</a:t>
            </a:r>
          </a:p>
        </p:txBody>
      </p:sp>
      <p:sp>
        <p:nvSpPr>
          <p:cNvPr id="24" name="TextBox 23"/>
          <p:cNvSpPr txBox="1"/>
          <p:nvPr/>
        </p:nvSpPr>
        <p:spPr>
          <a:xfrm>
            <a:off x="5468112" y="2313432"/>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83.4</a:t>
            </a:r>
          </a:p>
        </p:txBody>
      </p:sp>
      <p:sp>
        <p:nvSpPr>
          <p:cNvPr id="25" name="Rounded Rectangle 24"/>
          <p:cNvSpPr/>
          <p:nvPr/>
        </p:nvSpPr>
        <p:spPr>
          <a:xfrm>
            <a:off x="749808" y="2615184"/>
            <a:ext cx="5285232" cy="384048"/>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749808" y="2999232"/>
            <a:ext cx="5285232"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7" y="2697479"/>
            <a:ext cx="1737360" cy="25603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Digital, picks settings</a:t>
            </a:r>
          </a:p>
        </p:txBody>
      </p:sp>
      <p:sp>
        <p:nvSpPr>
          <p:cNvPr id="28" name="TextBox 27"/>
          <p:cNvSpPr txBox="1"/>
          <p:nvPr/>
        </p:nvSpPr>
        <p:spPr>
          <a:xfrm>
            <a:off x="2633472" y="2697479"/>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10.0</a:t>
            </a:r>
          </a:p>
        </p:txBody>
      </p:sp>
      <p:sp>
        <p:nvSpPr>
          <p:cNvPr id="29" name="TextBox 28"/>
          <p:cNvSpPr txBox="1"/>
          <p:nvPr/>
        </p:nvSpPr>
        <p:spPr>
          <a:xfrm>
            <a:off x="3200400" y="2697479"/>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10.0</a:t>
            </a:r>
          </a:p>
        </p:txBody>
      </p:sp>
      <p:sp>
        <p:nvSpPr>
          <p:cNvPr id="30" name="TextBox 29"/>
          <p:cNvSpPr txBox="1"/>
          <p:nvPr/>
        </p:nvSpPr>
        <p:spPr>
          <a:xfrm>
            <a:off x="3767328" y="2697479"/>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83.4</a:t>
            </a:r>
          </a:p>
        </p:txBody>
      </p:sp>
      <p:sp>
        <p:nvSpPr>
          <p:cNvPr id="31" name="TextBox 30"/>
          <p:cNvSpPr txBox="1"/>
          <p:nvPr/>
        </p:nvSpPr>
        <p:spPr>
          <a:xfrm>
            <a:off x="4334256" y="2697479"/>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87.3</a:t>
            </a:r>
          </a:p>
        </p:txBody>
      </p:sp>
      <p:sp>
        <p:nvSpPr>
          <p:cNvPr id="32" name="TextBox 31"/>
          <p:cNvSpPr txBox="1"/>
          <p:nvPr/>
        </p:nvSpPr>
        <p:spPr>
          <a:xfrm>
            <a:off x="4901183" y="2697479"/>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86.5</a:t>
            </a:r>
          </a:p>
        </p:txBody>
      </p:sp>
      <p:sp>
        <p:nvSpPr>
          <p:cNvPr id="33" name="TextBox 32"/>
          <p:cNvSpPr txBox="1"/>
          <p:nvPr/>
        </p:nvSpPr>
        <p:spPr>
          <a:xfrm>
            <a:off x="5468112" y="2697479"/>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89.3</a:t>
            </a:r>
          </a:p>
        </p:txBody>
      </p:sp>
      <p:cxnSp>
        <p:nvCxnSpPr>
          <p:cNvPr id="34" name="Connector 33"/>
          <p:cNvCxnSpPr/>
          <p:nvPr/>
        </p:nvCxnSpPr>
        <p:spPr>
          <a:xfrm>
            <a:off x="749808" y="3383279"/>
            <a:ext cx="5285232"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41247" y="3081527"/>
            <a:ext cx="1737360" cy="25603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Learned, random</a:t>
            </a:r>
          </a:p>
        </p:txBody>
      </p:sp>
      <p:sp>
        <p:nvSpPr>
          <p:cNvPr id="36" name="TextBox 35"/>
          <p:cNvSpPr txBox="1"/>
          <p:nvPr/>
        </p:nvSpPr>
        <p:spPr>
          <a:xfrm>
            <a:off x="2633472" y="3081527"/>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77.0</a:t>
            </a:r>
          </a:p>
        </p:txBody>
      </p:sp>
      <p:sp>
        <p:nvSpPr>
          <p:cNvPr id="37" name="TextBox 36"/>
          <p:cNvSpPr txBox="1"/>
          <p:nvPr/>
        </p:nvSpPr>
        <p:spPr>
          <a:xfrm>
            <a:off x="3200400" y="3081527"/>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82.4</a:t>
            </a:r>
          </a:p>
        </p:txBody>
      </p:sp>
      <p:sp>
        <p:nvSpPr>
          <p:cNvPr id="38" name="TextBox 37"/>
          <p:cNvSpPr txBox="1"/>
          <p:nvPr/>
        </p:nvSpPr>
        <p:spPr>
          <a:xfrm>
            <a:off x="3767328" y="3081527"/>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82.4</a:t>
            </a:r>
          </a:p>
        </p:txBody>
      </p:sp>
      <p:sp>
        <p:nvSpPr>
          <p:cNvPr id="39" name="TextBox 38"/>
          <p:cNvSpPr txBox="1"/>
          <p:nvPr/>
        </p:nvSpPr>
        <p:spPr>
          <a:xfrm>
            <a:off x="4334256" y="3081527"/>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83.0</a:t>
            </a:r>
          </a:p>
        </p:txBody>
      </p:sp>
      <p:sp>
        <p:nvSpPr>
          <p:cNvPr id="40" name="TextBox 39"/>
          <p:cNvSpPr txBox="1"/>
          <p:nvPr/>
        </p:nvSpPr>
        <p:spPr>
          <a:xfrm>
            <a:off x="4901183" y="3081527"/>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84.1</a:t>
            </a:r>
          </a:p>
        </p:txBody>
      </p:sp>
      <p:sp>
        <p:nvSpPr>
          <p:cNvPr id="41" name="TextBox 40"/>
          <p:cNvSpPr txBox="1"/>
          <p:nvPr/>
        </p:nvSpPr>
        <p:spPr>
          <a:xfrm>
            <a:off x="5468112" y="3081527"/>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83.9</a:t>
            </a:r>
          </a:p>
        </p:txBody>
      </p:sp>
      <p:cxnSp>
        <p:nvCxnSpPr>
          <p:cNvPr id="42" name="Connector 41"/>
          <p:cNvCxnSpPr/>
          <p:nvPr/>
        </p:nvCxnSpPr>
        <p:spPr>
          <a:xfrm>
            <a:off x="749808" y="3767328"/>
            <a:ext cx="5285232"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841247" y="3465576"/>
            <a:ext cx="1737360" cy="25603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Digital, learned feats</a:t>
            </a:r>
          </a:p>
        </p:txBody>
      </p:sp>
      <p:sp>
        <p:nvSpPr>
          <p:cNvPr id="44" name="TextBox 43"/>
          <p:cNvSpPr txBox="1"/>
          <p:nvPr/>
        </p:nvSpPr>
        <p:spPr>
          <a:xfrm>
            <a:off x="2633472" y="3465576"/>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10.0</a:t>
            </a:r>
          </a:p>
        </p:txBody>
      </p:sp>
      <p:sp>
        <p:nvSpPr>
          <p:cNvPr id="45" name="TextBox 44"/>
          <p:cNvSpPr txBox="1"/>
          <p:nvPr/>
        </p:nvSpPr>
        <p:spPr>
          <a:xfrm>
            <a:off x="3200400" y="3465576"/>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10.0</a:t>
            </a:r>
          </a:p>
        </p:txBody>
      </p:sp>
      <p:sp>
        <p:nvSpPr>
          <p:cNvPr id="46" name="TextBox 45"/>
          <p:cNvSpPr txBox="1"/>
          <p:nvPr/>
        </p:nvSpPr>
        <p:spPr>
          <a:xfrm>
            <a:off x="3767328" y="3465576"/>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82.0</a:t>
            </a:r>
          </a:p>
        </p:txBody>
      </p:sp>
      <p:sp>
        <p:nvSpPr>
          <p:cNvPr id="47" name="TextBox 46"/>
          <p:cNvSpPr txBox="1"/>
          <p:nvPr/>
        </p:nvSpPr>
        <p:spPr>
          <a:xfrm>
            <a:off x="4334256" y="3465576"/>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82.0</a:t>
            </a:r>
          </a:p>
        </p:txBody>
      </p:sp>
      <p:sp>
        <p:nvSpPr>
          <p:cNvPr id="48" name="TextBox 47"/>
          <p:cNvSpPr txBox="1"/>
          <p:nvPr/>
        </p:nvSpPr>
        <p:spPr>
          <a:xfrm>
            <a:off x="4901183" y="3465576"/>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82.0</a:t>
            </a:r>
          </a:p>
        </p:txBody>
      </p:sp>
      <p:sp>
        <p:nvSpPr>
          <p:cNvPr id="49" name="TextBox 48"/>
          <p:cNvSpPr txBox="1"/>
          <p:nvPr/>
        </p:nvSpPr>
        <p:spPr>
          <a:xfrm>
            <a:off x="5468112" y="3465576"/>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82.0</a:t>
            </a:r>
          </a:p>
        </p:txBody>
      </p:sp>
      <p:cxnSp>
        <p:nvCxnSpPr>
          <p:cNvPr id="50" name="Connector 49"/>
          <p:cNvCxnSpPr/>
          <p:nvPr/>
        </p:nvCxnSpPr>
        <p:spPr>
          <a:xfrm>
            <a:off x="749808" y="4151376"/>
            <a:ext cx="5285232"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41247" y="3849624"/>
            <a:ext cx="1737360" cy="25603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Learned, power-limited</a:t>
            </a:r>
          </a:p>
        </p:txBody>
      </p:sp>
      <p:sp>
        <p:nvSpPr>
          <p:cNvPr id="52" name="TextBox 51"/>
          <p:cNvSpPr txBox="1"/>
          <p:nvPr/>
        </p:nvSpPr>
        <p:spPr>
          <a:xfrm>
            <a:off x="2633472" y="3849624"/>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75.9</a:t>
            </a:r>
          </a:p>
        </p:txBody>
      </p:sp>
      <p:sp>
        <p:nvSpPr>
          <p:cNvPr id="53" name="TextBox 52"/>
          <p:cNvSpPr txBox="1"/>
          <p:nvPr/>
        </p:nvSpPr>
        <p:spPr>
          <a:xfrm>
            <a:off x="3200400" y="3849624"/>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80.1</a:t>
            </a:r>
          </a:p>
        </p:txBody>
      </p:sp>
      <p:sp>
        <p:nvSpPr>
          <p:cNvPr id="54" name="TextBox 53"/>
          <p:cNvSpPr txBox="1"/>
          <p:nvPr/>
        </p:nvSpPr>
        <p:spPr>
          <a:xfrm>
            <a:off x="3767328" y="3849624"/>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80.5</a:t>
            </a:r>
          </a:p>
        </p:txBody>
      </p:sp>
      <p:sp>
        <p:nvSpPr>
          <p:cNvPr id="55" name="TextBox 54"/>
          <p:cNvSpPr txBox="1"/>
          <p:nvPr/>
        </p:nvSpPr>
        <p:spPr>
          <a:xfrm>
            <a:off x="4334256" y="3849624"/>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82.3</a:t>
            </a:r>
          </a:p>
        </p:txBody>
      </p:sp>
      <p:sp>
        <p:nvSpPr>
          <p:cNvPr id="56" name="TextBox 55"/>
          <p:cNvSpPr txBox="1"/>
          <p:nvPr/>
        </p:nvSpPr>
        <p:spPr>
          <a:xfrm>
            <a:off x="4901183" y="3849624"/>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83.0</a:t>
            </a:r>
          </a:p>
        </p:txBody>
      </p:sp>
      <p:sp>
        <p:nvSpPr>
          <p:cNvPr id="57" name="TextBox 56"/>
          <p:cNvSpPr txBox="1"/>
          <p:nvPr/>
        </p:nvSpPr>
        <p:spPr>
          <a:xfrm>
            <a:off x="5468112" y="3849624"/>
            <a:ext cx="566928" cy="256032"/>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83.2</a:t>
            </a:r>
          </a:p>
        </p:txBody>
      </p:sp>
      <p:sp>
        <p:nvSpPr>
          <p:cNvPr id="58" name="TextBox 57"/>
          <p:cNvSpPr txBox="1"/>
          <p:nvPr/>
        </p:nvSpPr>
        <p:spPr>
          <a:xfrm>
            <a:off x="6254496" y="1609344"/>
            <a:ext cx="5193792" cy="237744"/>
          </a:xfrm>
          <a:prstGeom prst="rect">
            <a:avLst/>
          </a:prstGeom>
          <a:noFill/>
        </p:spPr>
        <p:txBody>
          <a:bodyPr wrap="square" lIns="45720" rIns="45720" anchor="t">
            <a:spAutoFit/>
          </a:bodyPr>
          <a:lstStyle/>
          <a:p>
            <a:pPr algn="l">
              <a:lnSpc>
                <a:spcPct val="100000"/>
              </a:lnSpc>
              <a:spcBef>
                <a:spcPts val="0"/>
              </a:spcBef>
              <a:spcAft>
                <a:spcPts val="0"/>
              </a:spcAft>
            </a:pPr>
            <a:r>
              <a:rPr sz="960" b="1" i="0">
                <a:solidFill>
                  <a:srgbClr val="111111"/>
                </a:solidFill>
                <a:latin typeface="Arial"/>
              </a:rPr>
              <a:t>QUARTER RATE · 3,200 USES</a:t>
            </a:r>
          </a:p>
        </p:txBody>
      </p:sp>
      <p:sp>
        <p:nvSpPr>
          <p:cNvPr id="59" name="Rounded Rectangle 58"/>
          <p:cNvSpPr/>
          <p:nvPr/>
        </p:nvSpPr>
        <p:spPr>
          <a:xfrm>
            <a:off x="6254496" y="1883664"/>
            <a:ext cx="5193792" cy="34747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45936" y="1929384"/>
            <a:ext cx="1737360" cy="237744"/>
          </a:xfrm>
          <a:prstGeom prst="rect">
            <a:avLst/>
          </a:prstGeom>
          <a:noFill/>
        </p:spPr>
        <p:txBody>
          <a:bodyPr wrap="square" lIns="45720" rIns="45720" anchor="t">
            <a:spAutoFit/>
          </a:bodyPr>
          <a:lstStyle/>
          <a:p>
            <a:pPr algn="l">
              <a:lnSpc>
                <a:spcPct val="100000"/>
              </a:lnSpc>
              <a:spcBef>
                <a:spcPts val="0"/>
              </a:spcBef>
              <a:spcAft>
                <a:spcPts val="0"/>
              </a:spcAft>
            </a:pPr>
            <a:r>
              <a:rPr sz="840" b="1" i="0">
                <a:solidFill>
                  <a:srgbClr val="111111"/>
                </a:solidFill>
                <a:latin typeface="Arial"/>
              </a:rPr>
              <a:t>SYSTEM</a:t>
            </a:r>
          </a:p>
        </p:txBody>
      </p:sp>
      <p:sp>
        <p:nvSpPr>
          <p:cNvPr id="61" name="TextBox 60"/>
          <p:cNvSpPr txBox="1"/>
          <p:nvPr/>
        </p:nvSpPr>
        <p:spPr>
          <a:xfrm>
            <a:off x="8138160" y="1929384"/>
            <a:ext cx="551688"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−8</a:t>
            </a:r>
          </a:p>
        </p:txBody>
      </p:sp>
      <p:sp>
        <p:nvSpPr>
          <p:cNvPr id="62" name="TextBox 61"/>
          <p:cNvSpPr txBox="1"/>
          <p:nvPr/>
        </p:nvSpPr>
        <p:spPr>
          <a:xfrm>
            <a:off x="8689848" y="1929384"/>
            <a:ext cx="551688"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−4</a:t>
            </a:r>
          </a:p>
        </p:txBody>
      </p:sp>
      <p:sp>
        <p:nvSpPr>
          <p:cNvPr id="63" name="TextBox 62"/>
          <p:cNvSpPr txBox="1"/>
          <p:nvPr/>
        </p:nvSpPr>
        <p:spPr>
          <a:xfrm>
            <a:off x="9241536" y="1929384"/>
            <a:ext cx="551688"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−2</a:t>
            </a:r>
          </a:p>
        </p:txBody>
      </p:sp>
      <p:sp>
        <p:nvSpPr>
          <p:cNvPr id="64" name="TextBox 63"/>
          <p:cNvSpPr txBox="1"/>
          <p:nvPr/>
        </p:nvSpPr>
        <p:spPr>
          <a:xfrm>
            <a:off x="9793224" y="1929384"/>
            <a:ext cx="551688"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0</a:t>
            </a:r>
          </a:p>
        </p:txBody>
      </p:sp>
      <p:sp>
        <p:nvSpPr>
          <p:cNvPr id="65" name="TextBox 64"/>
          <p:cNvSpPr txBox="1"/>
          <p:nvPr/>
        </p:nvSpPr>
        <p:spPr>
          <a:xfrm>
            <a:off x="10344912" y="1929384"/>
            <a:ext cx="551688"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+4</a:t>
            </a:r>
          </a:p>
        </p:txBody>
      </p:sp>
      <p:sp>
        <p:nvSpPr>
          <p:cNvPr id="66" name="TextBox 65"/>
          <p:cNvSpPr txBox="1"/>
          <p:nvPr/>
        </p:nvSpPr>
        <p:spPr>
          <a:xfrm>
            <a:off x="10896600" y="1929384"/>
            <a:ext cx="551688" cy="237744"/>
          </a:xfrm>
          <a:prstGeom prst="rect">
            <a:avLst/>
          </a:prstGeom>
          <a:noFill/>
        </p:spPr>
        <p:txBody>
          <a:bodyPr wrap="square" lIns="45720" rIns="45720" anchor="t">
            <a:spAutoFit/>
          </a:bodyPr>
          <a:lstStyle/>
          <a:p>
            <a:pPr algn="ctr">
              <a:lnSpc>
                <a:spcPct val="100000"/>
              </a:lnSpc>
              <a:spcBef>
                <a:spcPts val="0"/>
              </a:spcBef>
              <a:spcAft>
                <a:spcPts val="0"/>
              </a:spcAft>
            </a:pPr>
            <a:r>
              <a:rPr sz="1000" b="1" i="0">
                <a:solidFill>
                  <a:srgbClr val="111111"/>
                </a:solidFill>
                <a:latin typeface="Arial"/>
              </a:rPr>
              <a:t>+18</a:t>
            </a:r>
          </a:p>
        </p:txBody>
      </p:sp>
      <p:sp>
        <p:nvSpPr>
          <p:cNvPr id="67" name="Rounded Rectangle 66"/>
          <p:cNvSpPr/>
          <p:nvPr/>
        </p:nvSpPr>
        <p:spPr>
          <a:xfrm>
            <a:off x="6254496" y="2231136"/>
            <a:ext cx="5193792" cy="384048"/>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6254496" y="2615184"/>
            <a:ext cx="5193792"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6345936" y="2313432"/>
            <a:ext cx="1737360" cy="25603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Learned, one strength</a:t>
            </a:r>
          </a:p>
        </p:txBody>
      </p:sp>
      <p:sp>
        <p:nvSpPr>
          <p:cNvPr id="70" name="TextBox 69"/>
          <p:cNvSpPr txBox="1"/>
          <p:nvPr/>
        </p:nvSpPr>
        <p:spPr>
          <a:xfrm>
            <a:off x="8138160" y="2313432"/>
            <a:ext cx="55168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49.4</a:t>
            </a:r>
          </a:p>
        </p:txBody>
      </p:sp>
      <p:sp>
        <p:nvSpPr>
          <p:cNvPr id="71" name="TextBox 70"/>
          <p:cNvSpPr txBox="1"/>
          <p:nvPr/>
        </p:nvSpPr>
        <p:spPr>
          <a:xfrm>
            <a:off x="8689848" y="2313432"/>
            <a:ext cx="55168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69.3</a:t>
            </a:r>
          </a:p>
        </p:txBody>
      </p:sp>
      <p:sp>
        <p:nvSpPr>
          <p:cNvPr id="72" name="TextBox 71"/>
          <p:cNvSpPr txBox="1"/>
          <p:nvPr/>
        </p:nvSpPr>
        <p:spPr>
          <a:xfrm>
            <a:off x="9241536" y="2313432"/>
            <a:ext cx="55168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76.2</a:t>
            </a:r>
          </a:p>
        </p:txBody>
      </p:sp>
      <p:sp>
        <p:nvSpPr>
          <p:cNvPr id="73" name="TextBox 72"/>
          <p:cNvSpPr txBox="1"/>
          <p:nvPr/>
        </p:nvSpPr>
        <p:spPr>
          <a:xfrm>
            <a:off x="9793224" y="2313432"/>
            <a:ext cx="55168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78.7</a:t>
            </a:r>
          </a:p>
        </p:txBody>
      </p:sp>
      <p:sp>
        <p:nvSpPr>
          <p:cNvPr id="74" name="TextBox 73"/>
          <p:cNvSpPr txBox="1"/>
          <p:nvPr/>
        </p:nvSpPr>
        <p:spPr>
          <a:xfrm>
            <a:off x="10344912" y="2313432"/>
            <a:ext cx="55168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82.0</a:t>
            </a:r>
          </a:p>
        </p:txBody>
      </p:sp>
      <p:sp>
        <p:nvSpPr>
          <p:cNvPr id="75" name="TextBox 74"/>
          <p:cNvSpPr txBox="1"/>
          <p:nvPr/>
        </p:nvSpPr>
        <p:spPr>
          <a:xfrm>
            <a:off x="10896600" y="2313432"/>
            <a:ext cx="55168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82.8</a:t>
            </a:r>
          </a:p>
        </p:txBody>
      </p:sp>
      <p:sp>
        <p:nvSpPr>
          <p:cNvPr id="76" name="Rounded Rectangle 75"/>
          <p:cNvSpPr/>
          <p:nvPr/>
        </p:nvSpPr>
        <p:spPr>
          <a:xfrm>
            <a:off x="6254496" y="2615184"/>
            <a:ext cx="5193792" cy="384048"/>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7" name="Connector 76"/>
          <p:cNvCxnSpPr/>
          <p:nvPr/>
        </p:nvCxnSpPr>
        <p:spPr>
          <a:xfrm>
            <a:off x="6254496" y="2999232"/>
            <a:ext cx="5193792"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6345936" y="2697479"/>
            <a:ext cx="1737360" cy="25603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Digital, picks settings</a:t>
            </a:r>
          </a:p>
        </p:txBody>
      </p:sp>
      <p:sp>
        <p:nvSpPr>
          <p:cNvPr id="79" name="TextBox 78"/>
          <p:cNvSpPr txBox="1"/>
          <p:nvPr/>
        </p:nvSpPr>
        <p:spPr>
          <a:xfrm>
            <a:off x="8138160" y="2697479"/>
            <a:ext cx="55168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10.0</a:t>
            </a:r>
          </a:p>
        </p:txBody>
      </p:sp>
      <p:sp>
        <p:nvSpPr>
          <p:cNvPr id="80" name="TextBox 79"/>
          <p:cNvSpPr txBox="1"/>
          <p:nvPr/>
        </p:nvSpPr>
        <p:spPr>
          <a:xfrm>
            <a:off x="8689848" y="2697479"/>
            <a:ext cx="55168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10.0</a:t>
            </a:r>
          </a:p>
        </p:txBody>
      </p:sp>
      <p:sp>
        <p:nvSpPr>
          <p:cNvPr id="81" name="TextBox 80"/>
          <p:cNvSpPr txBox="1"/>
          <p:nvPr/>
        </p:nvSpPr>
        <p:spPr>
          <a:xfrm>
            <a:off x="9241536" y="2697479"/>
            <a:ext cx="55168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31.0</a:t>
            </a:r>
          </a:p>
        </p:txBody>
      </p:sp>
      <p:sp>
        <p:nvSpPr>
          <p:cNvPr id="82" name="TextBox 81"/>
          <p:cNvSpPr txBox="1"/>
          <p:nvPr/>
        </p:nvSpPr>
        <p:spPr>
          <a:xfrm>
            <a:off x="9793224" y="2697479"/>
            <a:ext cx="55168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69.4</a:t>
            </a:r>
          </a:p>
        </p:txBody>
      </p:sp>
      <p:sp>
        <p:nvSpPr>
          <p:cNvPr id="83" name="TextBox 82"/>
          <p:cNvSpPr txBox="1"/>
          <p:nvPr/>
        </p:nvSpPr>
        <p:spPr>
          <a:xfrm>
            <a:off x="10344912" y="2697479"/>
            <a:ext cx="55168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83.4</a:t>
            </a:r>
          </a:p>
        </p:txBody>
      </p:sp>
      <p:sp>
        <p:nvSpPr>
          <p:cNvPr id="84" name="TextBox 83"/>
          <p:cNvSpPr txBox="1"/>
          <p:nvPr/>
        </p:nvSpPr>
        <p:spPr>
          <a:xfrm>
            <a:off x="10896600" y="2697479"/>
            <a:ext cx="551688" cy="256032"/>
          </a:xfrm>
          <a:prstGeom prst="rect">
            <a:avLst/>
          </a:prstGeom>
          <a:noFill/>
        </p:spPr>
        <p:txBody>
          <a:bodyPr wrap="square" lIns="45720" rIns="45720" anchor="t">
            <a:spAutoFit/>
          </a:bodyPr>
          <a:lstStyle/>
          <a:p>
            <a:pPr algn="ctr">
              <a:lnSpc>
                <a:spcPct val="100000"/>
              </a:lnSpc>
              <a:spcBef>
                <a:spcPts val="0"/>
              </a:spcBef>
              <a:spcAft>
                <a:spcPts val="0"/>
              </a:spcAft>
            </a:pPr>
            <a:r>
              <a:rPr sz="1150" b="1" i="0">
                <a:solidFill>
                  <a:srgbClr val="111111"/>
                </a:solidFill>
                <a:latin typeface="Arial"/>
              </a:rPr>
              <a:t>87.7</a:t>
            </a:r>
          </a:p>
        </p:txBody>
      </p:sp>
      <p:sp>
        <p:nvSpPr>
          <p:cNvPr id="85" name="Rounded Rectangle 84"/>
          <p:cNvSpPr/>
          <p:nvPr/>
        </p:nvSpPr>
        <p:spPr>
          <a:xfrm>
            <a:off x="6254496" y="3017520"/>
            <a:ext cx="5193792" cy="1042415"/>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55664" y="3127248"/>
            <a:ext cx="4791456" cy="256032"/>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Where the two lines cross</a:t>
            </a:r>
          </a:p>
        </p:txBody>
      </p:sp>
      <p:sp>
        <p:nvSpPr>
          <p:cNvPr id="87" name="TextBox 86"/>
          <p:cNvSpPr txBox="1"/>
          <p:nvPr/>
        </p:nvSpPr>
        <p:spPr>
          <a:xfrm>
            <a:off x="6455664" y="3438144"/>
            <a:ext cx="4791456" cy="530352"/>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At half rate, which system is ahead flips between −5 dB and −4 dB. We decided the crossing question on exactly that, before seeing the answer.</a:t>
            </a:r>
          </a:p>
        </p:txBody>
      </p:sp>
      <p:sp>
        <p:nvSpPr>
          <p:cNvPr id="88" name="Rounded Rectangle 87"/>
          <p:cNvSpPr/>
          <p:nvPr/>
        </p:nvSpPr>
        <p:spPr>
          <a:xfrm>
            <a:off x="749808" y="4224528"/>
            <a:ext cx="10698480" cy="173736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ed Rectangle 88"/>
          <p:cNvSpPr/>
          <p:nvPr/>
        </p:nvSpPr>
        <p:spPr>
          <a:xfrm>
            <a:off x="987552" y="4443984"/>
            <a:ext cx="1645920" cy="25603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069848" y="4485132"/>
            <a:ext cx="1481328" cy="173736"/>
          </a:xfrm>
          <a:prstGeom prst="rect">
            <a:avLst/>
          </a:prstGeom>
          <a:noFill/>
        </p:spPr>
        <p:txBody>
          <a:bodyPr wrap="square" lIns="45720" rIns="45720" anchor="ctr">
            <a:spAutoFit/>
          </a:bodyPr>
          <a:lstStyle/>
          <a:p>
            <a:pPr algn="l">
              <a:lnSpc>
                <a:spcPct val="100000"/>
              </a:lnSpc>
              <a:spcBef>
                <a:spcPts val="0"/>
              </a:spcBef>
              <a:spcAft>
                <a:spcPts val="0"/>
              </a:spcAft>
            </a:pPr>
            <a:r>
              <a:rPr sz="819" b="1" i="0">
                <a:solidFill>
                  <a:srgbClr val="111111"/>
                </a:solidFill>
                <a:latin typeface="Arial"/>
              </a:rPr>
              <a:t>WHAT THIS TABLE IS NOT</a:t>
            </a:r>
          </a:p>
        </p:txBody>
      </p:sp>
      <p:sp>
        <p:nvSpPr>
          <p:cNvPr id="91" name="TextBox 90"/>
          <p:cNvSpPr txBox="1"/>
          <p:nvPr/>
        </p:nvSpPr>
        <p:spPr>
          <a:xfrm>
            <a:off x="987552" y="4864608"/>
            <a:ext cx="10222992" cy="93268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Twenty-one signal strengths is not twenty-one independent experiments. Every cell comes from the same 1,000 held-back pictures and the same single training run, so a smooth-looking line tells you nothing statistically. A one or two point gap between rows is an observed difference and nothing more. The full per-picture records that would let us compute proper uncertainty ranges are not in this checkout, so we have not computed any.</a:t>
            </a:r>
          </a:p>
        </p:txBody>
      </p:sp>
      <p:cxnSp>
        <p:nvCxnSpPr>
          <p:cNvPr id="92" name="Connector 91"/>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93" name="Rounded Rectangle 92"/>
          <p:cNvSpPr/>
          <p:nvPr/>
        </p:nvSpPr>
        <p:spPr>
          <a:xfrm>
            <a:off x="53035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03503"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95" name="Rounded Rectangle 94"/>
          <p:cNvSpPr/>
          <p:nvPr/>
        </p:nvSpPr>
        <p:spPr>
          <a:xfrm>
            <a:off x="1376172" y="6519672"/>
            <a:ext cx="14401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449324" y="6547104"/>
            <a:ext cx="129387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ANALYTICAL SKILLS</a:t>
            </a:r>
          </a:p>
        </p:txBody>
      </p:sp>
      <p:sp>
        <p:nvSpPr>
          <p:cNvPr id="97" name="TextBox 96"/>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Pictures labelled correctly out of 1,000 · held-back set</a:t>
            </a:r>
          </a:p>
        </p:txBody>
      </p:sp>
      <p:sp>
        <p:nvSpPr>
          <p:cNvPr id="98" name="TextBox 97"/>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15</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What this evidence cannot tell you</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49808" y="1335024"/>
            <a:ext cx="10698480" cy="82296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335024"/>
            <a:ext cx="64008" cy="82296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435608"/>
            <a:ext cx="3383280" cy="274320"/>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One training run, held-back pictures only</a:t>
            </a:r>
          </a:p>
        </p:txBody>
      </p:sp>
      <p:sp>
        <p:nvSpPr>
          <p:cNvPr id="9" name="TextBox 8"/>
          <p:cNvSpPr txBox="1"/>
          <p:nvPr/>
        </p:nvSpPr>
        <p:spPr>
          <a:xfrm>
            <a:off x="4480560" y="1417320"/>
            <a:ext cx="6729984" cy="65836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Everything here is a description. No ranges, no significance, no repeated trials.</a:t>
            </a:r>
          </a:p>
        </p:txBody>
      </p:sp>
      <p:sp>
        <p:nvSpPr>
          <p:cNvPr id="10" name="Rounded Rectangle 9"/>
          <p:cNvSpPr/>
          <p:nvPr/>
        </p:nvSpPr>
        <p:spPr>
          <a:xfrm>
            <a:off x="749808" y="2267712"/>
            <a:ext cx="10698480" cy="82296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808" y="2267712"/>
            <a:ext cx="64008" cy="82296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368296"/>
            <a:ext cx="3383280" cy="274320"/>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A different grader on each side</a:t>
            </a:r>
          </a:p>
        </p:txBody>
      </p:sp>
      <p:sp>
        <p:nvSpPr>
          <p:cNvPr id="13" name="TextBox 12"/>
          <p:cNvSpPr txBox="1"/>
          <p:nvPr/>
        </p:nvSpPr>
        <p:spPr>
          <a:xfrm>
            <a:off x="4480560" y="2350008"/>
            <a:ext cx="6729984" cy="65836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The learned systems are marked by their own classifier, the digital systems by one trained on compressed images. So this measures whole systems.</a:t>
            </a:r>
          </a:p>
        </p:txBody>
      </p:sp>
      <p:sp>
        <p:nvSpPr>
          <p:cNvPr id="14" name="Rounded Rectangle 13"/>
          <p:cNvSpPr/>
          <p:nvPr/>
        </p:nvSpPr>
        <p:spPr>
          <a:xfrm>
            <a:off x="749808" y="3200400"/>
            <a:ext cx="10698480" cy="82296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 y="3200400"/>
            <a:ext cx="64008" cy="82296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300984"/>
            <a:ext cx="3383280" cy="274320"/>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Not the same amount of effort</a:t>
            </a:r>
          </a:p>
        </p:txBody>
      </p:sp>
      <p:sp>
        <p:nvSpPr>
          <p:cNvPr id="17" name="TextBox 16"/>
          <p:cNvSpPr txBox="1"/>
          <p:nvPr/>
        </p:nvSpPr>
        <p:spPr>
          <a:xfrm>
            <a:off x="4480560" y="3282696"/>
            <a:ext cx="6729984" cy="65836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The digital system's settings and grader were frozen from earlier work; the learned versions are separate training runs.</a:t>
            </a:r>
          </a:p>
        </p:txBody>
      </p:sp>
      <p:sp>
        <p:nvSpPr>
          <p:cNvPr id="18" name="Rounded Rectangle 17"/>
          <p:cNvSpPr/>
          <p:nvPr/>
        </p:nvSpPr>
        <p:spPr>
          <a:xfrm>
            <a:off x="749808" y="4133087"/>
            <a:ext cx="10698480" cy="82296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8" y="4133087"/>
            <a:ext cx="64008" cy="82296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233672"/>
            <a:ext cx="3383280" cy="274320"/>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No real amplifier involved</a:t>
            </a:r>
          </a:p>
        </p:txBody>
      </p:sp>
      <p:sp>
        <p:nvSpPr>
          <p:cNvPr id="21" name="TextBox 20"/>
          <p:cNvSpPr txBox="1"/>
          <p:nvPr/>
        </p:nvSpPr>
        <p:spPr>
          <a:xfrm>
            <a:off x="4480560" y="4215383"/>
            <a:ext cx="6729984" cy="65836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We measured how tall the spikes are in the numbers we send. Nothing here shows what a real transmitter would do.</a:t>
            </a:r>
          </a:p>
        </p:txBody>
      </p:sp>
      <p:sp>
        <p:nvSpPr>
          <p:cNvPr id="22" name="Rounded Rectangle 21"/>
          <p:cNvSpPr/>
          <p:nvPr/>
        </p:nvSpPr>
        <p:spPr>
          <a:xfrm>
            <a:off x="749808" y="5065776"/>
            <a:ext cx="10698480" cy="822960"/>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8" y="5065776"/>
            <a:ext cx="64008" cy="82296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166360"/>
            <a:ext cx="3383280" cy="274320"/>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Frozen choices make sharp steps</a:t>
            </a:r>
          </a:p>
        </p:txBody>
      </p:sp>
      <p:sp>
        <p:nvSpPr>
          <p:cNvPr id="25" name="TextBox 24"/>
          <p:cNvSpPr txBox="1"/>
          <p:nvPr/>
        </p:nvSpPr>
        <p:spPr>
          <a:xfrm>
            <a:off x="4480560" y="5148072"/>
            <a:ext cx="6729984" cy="65836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The fallback rule, 1,000 pictures and fixed settings produce jumps and a few bumpy points. We did not smooth them.</a:t>
            </a:r>
          </a:p>
        </p:txBody>
      </p:sp>
      <p:sp>
        <p:nvSpPr>
          <p:cNvPr id="26" name="TextBox 25"/>
          <p:cNvSpPr txBox="1"/>
          <p:nvPr/>
        </p:nvSpPr>
        <p:spPr>
          <a:xfrm>
            <a:off x="749808" y="6144768"/>
            <a:ext cx="10698480" cy="219456"/>
          </a:xfrm>
          <a:prstGeom prst="rect">
            <a:avLst/>
          </a:prstGeom>
          <a:noFill/>
        </p:spPr>
        <p:txBody>
          <a:bodyPr wrap="square" lIns="45720" rIns="45720" anchor="t">
            <a:spAutoFit/>
          </a:bodyPr>
          <a:lstStyle/>
          <a:p>
            <a:pPr algn="ctr">
              <a:lnSpc>
                <a:spcPct val="100000"/>
              </a:lnSpc>
              <a:spcBef>
                <a:spcPts val="0"/>
              </a:spcBef>
              <a:spcAft>
                <a:spcPts val="0"/>
              </a:spcAft>
            </a:pPr>
            <a:r>
              <a:rPr sz="1050" b="0" i="1">
                <a:solidFill>
                  <a:srgbClr val="555555"/>
                </a:solidFill>
                <a:latin typeface="Arial"/>
              </a:rPr>
              <a:t>Our specification treats both a crossing and the learned system winning everywhere as complete, successful outcomes. Neither result undoes the other.</a:t>
            </a:r>
          </a:p>
        </p:txBody>
      </p:sp>
      <p:cxnSp>
        <p:nvCxnSpPr>
          <p:cNvPr id="27" name="Connector 26"/>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30352" y="6519672"/>
            <a:ext cx="14401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3" y="6547104"/>
            <a:ext cx="129387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ANALYTICAL SKILLS</a:t>
            </a:r>
          </a:p>
        </p:txBody>
      </p:sp>
      <p:sp>
        <p:nvSpPr>
          <p:cNvPr id="30" name="Rounded Rectangle 29"/>
          <p:cNvSpPr/>
          <p:nvPr/>
        </p:nvSpPr>
        <p:spPr>
          <a:xfrm>
            <a:off x="2061972" y="6519672"/>
            <a:ext cx="102870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35124" y="6547104"/>
            <a:ext cx="88239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METHODOLOGY</a:t>
            </a:r>
          </a:p>
        </p:txBody>
      </p:sp>
      <p:sp>
        <p:nvSpPr>
          <p:cNvPr id="32" name="TextBox 31"/>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Stated plainly now, so the final review is not a surprise</a:t>
            </a:r>
          </a:p>
        </p:txBody>
      </p:sp>
      <p:sp>
        <p:nvSpPr>
          <p:cNvPr id="33" name="TextBox 32"/>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16</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Four times we changed the approach because of what we found</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07008"/>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250" b="0" i="0">
                <a:solidFill>
                  <a:srgbClr val="555555"/>
                </a:solidFill>
                <a:latin typeface="Arial"/>
              </a:rPr>
              <a:t>The rubric asks what we decided based on the results obtained. These are the four that count.</a:t>
            </a:r>
          </a:p>
        </p:txBody>
      </p:sp>
      <p:sp>
        <p:nvSpPr>
          <p:cNvPr id="7" name="Rounded Rectangle 6"/>
          <p:cNvSpPr/>
          <p:nvPr/>
        </p:nvSpPr>
        <p:spPr>
          <a:xfrm>
            <a:off x="749808" y="1591056"/>
            <a:ext cx="5212080" cy="2139696"/>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591056"/>
            <a:ext cx="5212080"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1792224"/>
            <a:ext cx="4773168" cy="237744"/>
          </a:xfrm>
          <a:prstGeom prst="rect">
            <a:avLst/>
          </a:prstGeom>
          <a:noFill/>
        </p:spPr>
        <p:txBody>
          <a:bodyPr wrap="square" lIns="45720" rIns="45720" anchor="t">
            <a:spAutoFit/>
          </a:bodyPr>
          <a:lstStyle/>
          <a:p>
            <a:pPr algn="l">
              <a:lnSpc>
                <a:spcPct val="100000"/>
              </a:lnSpc>
              <a:spcBef>
                <a:spcPts val="0"/>
              </a:spcBef>
              <a:spcAft>
                <a:spcPts val="0"/>
              </a:spcAft>
            </a:pPr>
            <a:r>
              <a:rPr sz="1050" b="1" i="0">
                <a:solidFill>
                  <a:srgbClr val="111111"/>
                </a:solidFill>
                <a:latin typeface="Arial"/>
              </a:rPr>
              <a:t>AM-34</a:t>
            </a:r>
          </a:p>
        </p:txBody>
      </p:sp>
      <p:sp>
        <p:nvSpPr>
          <p:cNvPr id="10" name="TextBox 9"/>
          <p:cNvSpPr txBox="1"/>
          <p:nvPr/>
        </p:nvSpPr>
        <p:spPr>
          <a:xfrm>
            <a:off x="969264" y="2121408"/>
            <a:ext cx="4773168" cy="877824"/>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We had pinned the digital system to the weakest radio setting, which made the lines crossing impossible by arithmetic. We let it pick a stronger setting as the signal improves.</a:t>
            </a:r>
          </a:p>
        </p:txBody>
      </p:sp>
      <p:cxnSp>
        <p:nvCxnSpPr>
          <p:cNvPr id="11" name="Connector 10"/>
          <p:cNvCxnSpPr/>
          <p:nvPr/>
        </p:nvCxnSpPr>
        <p:spPr>
          <a:xfrm>
            <a:off x="969264" y="3054096"/>
            <a:ext cx="4773167"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69264" y="3163824"/>
            <a:ext cx="4773168" cy="45720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The rule we adopted: every change strengthens the digital system or is decided in advance. We never weaken the learned system.</a:t>
            </a:r>
          </a:p>
        </p:txBody>
      </p:sp>
      <p:sp>
        <p:nvSpPr>
          <p:cNvPr id="13" name="Rounded Rectangle 12"/>
          <p:cNvSpPr/>
          <p:nvPr/>
        </p:nvSpPr>
        <p:spPr>
          <a:xfrm>
            <a:off x="6236208" y="1591056"/>
            <a:ext cx="5212080" cy="2139696"/>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6208" y="1591056"/>
            <a:ext cx="5212080"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1792224"/>
            <a:ext cx="4773168" cy="237744"/>
          </a:xfrm>
          <a:prstGeom prst="rect">
            <a:avLst/>
          </a:prstGeom>
          <a:noFill/>
        </p:spPr>
        <p:txBody>
          <a:bodyPr wrap="square" lIns="45720" rIns="45720" anchor="t">
            <a:spAutoFit/>
          </a:bodyPr>
          <a:lstStyle/>
          <a:p>
            <a:pPr algn="l">
              <a:lnSpc>
                <a:spcPct val="100000"/>
              </a:lnSpc>
              <a:spcBef>
                <a:spcPts val="0"/>
              </a:spcBef>
              <a:spcAft>
                <a:spcPts val="0"/>
              </a:spcAft>
            </a:pPr>
            <a:r>
              <a:rPr sz="1050" b="1" i="0">
                <a:solidFill>
                  <a:srgbClr val="111111"/>
                </a:solidFill>
                <a:latin typeface="Arial"/>
              </a:rPr>
              <a:t>AM-52</a:t>
            </a:r>
          </a:p>
        </p:txBody>
      </p:sp>
      <p:sp>
        <p:nvSpPr>
          <p:cNvPr id="16" name="TextBox 15"/>
          <p:cNvSpPr txBox="1"/>
          <p:nvPr/>
        </p:nvSpPr>
        <p:spPr>
          <a:xfrm>
            <a:off x="6455664" y="2121408"/>
            <a:ext cx="4773168" cy="877824"/>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Our signal strengths were spaced 2 dB apart exactly where the sharpest drop happens, so we could have missed it entirely. We added three more strengths before it mattered.</a:t>
            </a:r>
          </a:p>
        </p:txBody>
      </p:sp>
      <p:cxnSp>
        <p:nvCxnSpPr>
          <p:cNvPr id="17" name="Connector 16"/>
          <p:cNvCxnSpPr/>
          <p:nvPr/>
        </p:nvCxnSpPr>
        <p:spPr>
          <a:xfrm>
            <a:off x="6455664" y="3054096"/>
            <a:ext cx="4773168"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55664" y="3163824"/>
            <a:ext cx="4773168" cy="45720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Put the detail where the effect is, not where it is convenient to sample.</a:t>
            </a:r>
          </a:p>
        </p:txBody>
      </p:sp>
      <p:sp>
        <p:nvSpPr>
          <p:cNvPr id="19" name="Rounded Rectangle 18"/>
          <p:cNvSpPr/>
          <p:nvPr/>
        </p:nvSpPr>
        <p:spPr>
          <a:xfrm>
            <a:off x="749808" y="3913632"/>
            <a:ext cx="5212080" cy="2139696"/>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3913632"/>
            <a:ext cx="5212080"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14800"/>
            <a:ext cx="4773168" cy="237744"/>
          </a:xfrm>
          <a:prstGeom prst="rect">
            <a:avLst/>
          </a:prstGeom>
          <a:noFill/>
        </p:spPr>
        <p:txBody>
          <a:bodyPr wrap="square" lIns="45720" rIns="45720" anchor="t">
            <a:spAutoFit/>
          </a:bodyPr>
          <a:lstStyle/>
          <a:p>
            <a:pPr algn="l">
              <a:lnSpc>
                <a:spcPct val="100000"/>
              </a:lnSpc>
              <a:spcBef>
                <a:spcPts val="0"/>
              </a:spcBef>
              <a:spcAft>
                <a:spcPts val="0"/>
              </a:spcAft>
            </a:pPr>
            <a:r>
              <a:rPr sz="1050" b="1" i="0">
                <a:solidFill>
                  <a:srgbClr val="111111"/>
                </a:solidFill>
                <a:latin typeface="Arial"/>
              </a:rPr>
              <a:t>AM-58</a:t>
            </a:r>
          </a:p>
        </p:txBody>
      </p:sp>
      <p:sp>
        <p:nvSpPr>
          <p:cNvPr id="22" name="TextBox 21"/>
          <p:cNvSpPr txBox="1"/>
          <p:nvPr/>
        </p:nvSpPr>
        <p:spPr>
          <a:xfrm>
            <a:off x="969264" y="4443984"/>
            <a:ext cx="4773168" cy="877824"/>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The script that checks our packet sizes reported no problems while breaking four of its own rules. We fixed the script, not the results.</a:t>
            </a:r>
          </a:p>
        </p:txBody>
      </p:sp>
      <p:cxnSp>
        <p:nvCxnSpPr>
          <p:cNvPr id="23" name="Connector 22"/>
          <p:cNvCxnSpPr/>
          <p:nvPr/>
        </p:nvCxnSpPr>
        <p:spPr>
          <a:xfrm>
            <a:off x="969264" y="5376672"/>
            <a:ext cx="4773167"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69264" y="5486400"/>
            <a:ext cx="4773168" cy="45720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All 215 configurations stayed feasible and every scientific outcome came out the same.</a:t>
            </a:r>
          </a:p>
        </p:txBody>
      </p:sp>
      <p:sp>
        <p:nvSpPr>
          <p:cNvPr id="25" name="Rounded Rectangle 24"/>
          <p:cNvSpPr/>
          <p:nvPr/>
        </p:nvSpPr>
        <p:spPr>
          <a:xfrm>
            <a:off x="6236208" y="3913632"/>
            <a:ext cx="5212080" cy="2139696"/>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6208" y="3913632"/>
            <a:ext cx="5212080"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55664" y="4114800"/>
            <a:ext cx="4773168" cy="237744"/>
          </a:xfrm>
          <a:prstGeom prst="rect">
            <a:avLst/>
          </a:prstGeom>
          <a:noFill/>
        </p:spPr>
        <p:txBody>
          <a:bodyPr wrap="square" lIns="45720" rIns="45720" anchor="t">
            <a:spAutoFit/>
          </a:bodyPr>
          <a:lstStyle/>
          <a:p>
            <a:pPr algn="l">
              <a:lnSpc>
                <a:spcPct val="100000"/>
              </a:lnSpc>
              <a:spcBef>
                <a:spcPts val="0"/>
              </a:spcBef>
              <a:spcAft>
                <a:spcPts val="0"/>
              </a:spcAft>
            </a:pPr>
            <a:r>
              <a:rPr sz="1050" b="1" i="0">
                <a:solidFill>
                  <a:srgbClr val="111111"/>
                </a:solidFill>
                <a:latin typeface="Arial"/>
              </a:rPr>
              <a:t>AM-60</a:t>
            </a:r>
          </a:p>
        </p:txBody>
      </p:sp>
      <p:sp>
        <p:nvSpPr>
          <p:cNvPr id="28" name="TextBox 27"/>
          <p:cNvSpPr txBox="1"/>
          <p:nvPr/>
        </p:nvSpPr>
        <p:spPr>
          <a:xfrm>
            <a:off x="6455664" y="4443984"/>
            <a:ext cx="4773168" cy="877824"/>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The exam set was set to unlock in week 9, about three weeks before the manifest that locks it existed. We moved that to week 11.</a:t>
            </a:r>
          </a:p>
        </p:txBody>
      </p:sp>
      <p:cxnSp>
        <p:nvCxnSpPr>
          <p:cNvPr id="29" name="Connector 28"/>
          <p:cNvCxnSpPr/>
          <p:nvPr/>
        </p:nvCxnSpPr>
        <p:spPr>
          <a:xfrm>
            <a:off x="6455664" y="5376672"/>
            <a:ext cx="4773168"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455664" y="5486400"/>
            <a:ext cx="4773168" cy="45720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They have stayed locked ever since. Nothing has been read.</a:t>
            </a:r>
          </a:p>
        </p:txBody>
      </p:sp>
      <p:sp>
        <p:nvSpPr>
          <p:cNvPr id="31" name="Rounded Rectangle 30"/>
          <p:cNvSpPr/>
          <p:nvPr/>
        </p:nvSpPr>
        <p:spPr>
          <a:xfrm>
            <a:off x="749808" y="6035040"/>
            <a:ext cx="10698480" cy="329184"/>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6099048"/>
            <a:ext cx="10369296" cy="201168"/>
          </a:xfrm>
          <a:prstGeom prst="rect">
            <a:avLst/>
          </a:prstGeom>
          <a:noFill/>
        </p:spPr>
        <p:txBody>
          <a:bodyPr wrap="square" lIns="45720" rIns="45720" anchor="t">
            <a:spAutoFit/>
          </a:bodyPr>
          <a:lstStyle/>
          <a:p>
            <a:pPr algn="ctr">
              <a:lnSpc>
                <a:spcPct val="100000"/>
              </a:lnSpc>
              <a:spcBef>
                <a:spcPts val="0"/>
              </a:spcBef>
              <a:spcAft>
                <a:spcPts val="0"/>
              </a:spcAft>
            </a:pPr>
            <a:r>
              <a:rPr sz="1050" b="1" i="0">
                <a:solidFill>
                  <a:srgbClr val="111111"/>
                </a:solidFill>
                <a:latin typeface="Arial"/>
              </a:rPr>
              <a:t>Twenty-two further changes are written down in SPEC §17, including three checks that turned out to be wrong and had to be repaired.</a:t>
            </a:r>
          </a:p>
        </p:txBody>
      </p:sp>
      <p:cxnSp>
        <p:nvCxnSpPr>
          <p:cNvPr id="33" name="Connector 32"/>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30352" y="6519672"/>
            <a:ext cx="102870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3" y="6547104"/>
            <a:ext cx="88239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METHODOLOGY</a:t>
            </a:r>
          </a:p>
        </p:txBody>
      </p:sp>
      <p:sp>
        <p:nvSpPr>
          <p:cNvPr id="36" name="TextBox 35"/>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Required by PR-8(c): a one-slide distillation of SPEC §17</a:t>
            </a:r>
          </a:p>
        </p:txBody>
      </p:sp>
      <p:sp>
        <p:nvSpPr>
          <p:cNvPr id="37" name="TextBox 36"/>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17</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What we claim as new, and what we do not</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188720"/>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250" b="0" i="0">
                <a:solidFill>
                  <a:srgbClr val="555555"/>
                </a:solidFill>
                <a:latin typeface="Arial"/>
              </a:rPr>
              <a:t>Both claims are about how the experiment is built, not about the idea of sending meaning instead of pixels.</a:t>
            </a:r>
          </a:p>
        </p:txBody>
      </p:sp>
      <p:sp>
        <p:nvSpPr>
          <p:cNvPr id="7" name="Rounded Rectangle 6"/>
          <p:cNvSpPr/>
          <p:nvPr/>
        </p:nvSpPr>
        <p:spPr>
          <a:xfrm>
            <a:off x="749808" y="1591056"/>
            <a:ext cx="6839712" cy="1444752"/>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591056"/>
            <a:ext cx="64008" cy="144475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19072"/>
            <a:ext cx="6382512" cy="274320"/>
          </a:xfrm>
          <a:prstGeom prst="rect">
            <a:avLst/>
          </a:prstGeom>
          <a:noFill/>
        </p:spPr>
        <p:txBody>
          <a:bodyPr wrap="square" lIns="45720" rIns="45720" anchor="t">
            <a:spAutoFit/>
          </a:bodyPr>
          <a:lstStyle/>
          <a:p>
            <a:pPr algn="l">
              <a:lnSpc>
                <a:spcPct val="100000"/>
              </a:lnSpc>
              <a:spcBef>
                <a:spcPts val="0"/>
              </a:spcBef>
              <a:spcAft>
                <a:spcPts val="0"/>
              </a:spcAft>
            </a:pPr>
            <a:r>
              <a:rPr sz="1500" b="1" i="0">
                <a:solidFill>
                  <a:srgbClr val="111111"/>
                </a:solidFill>
                <a:latin typeface="Arial"/>
              </a:rPr>
              <a:t>The task-aware digital control</a:t>
            </a:r>
          </a:p>
        </p:txBody>
      </p:sp>
      <p:sp>
        <p:nvSpPr>
          <p:cNvPr id="10" name="TextBox 9"/>
          <p:cNvSpPr txBox="1"/>
          <p:nvPr/>
        </p:nvSpPr>
        <p:spPr>
          <a:xfrm>
            <a:off x="987552" y="2066543"/>
            <a:ext cx="6382512" cy="56692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A digital arm sends learned features through the same error-correction code and radio settings, using the same amount of radio time. It tells “knows the task” apart from “codes both at once” inside one experiment.</a:t>
            </a:r>
          </a:p>
        </p:txBody>
      </p:sp>
      <p:sp>
        <p:nvSpPr>
          <p:cNvPr id="11" name="TextBox 10"/>
          <p:cNvSpPr txBox="1"/>
          <p:nvPr/>
        </p:nvSpPr>
        <p:spPr>
          <a:xfrm>
            <a:off x="987552" y="2670048"/>
            <a:ext cx="6382512"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Different from: studies that report a learned-versus-digital gap without such a control.</a:t>
            </a:r>
          </a:p>
        </p:txBody>
      </p:sp>
      <p:sp>
        <p:nvSpPr>
          <p:cNvPr id="12" name="Rounded Rectangle 11"/>
          <p:cNvSpPr/>
          <p:nvPr/>
        </p:nvSpPr>
        <p:spPr>
          <a:xfrm>
            <a:off x="749808" y="3200400"/>
            <a:ext cx="6839712" cy="1444752"/>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8" y="3200400"/>
            <a:ext cx="64008" cy="144475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3328416"/>
            <a:ext cx="6382512" cy="274320"/>
          </a:xfrm>
          <a:prstGeom prst="rect">
            <a:avLst/>
          </a:prstGeom>
          <a:noFill/>
        </p:spPr>
        <p:txBody>
          <a:bodyPr wrap="square" lIns="45720" rIns="45720" anchor="t">
            <a:spAutoFit/>
          </a:bodyPr>
          <a:lstStyle/>
          <a:p>
            <a:pPr algn="l">
              <a:lnSpc>
                <a:spcPct val="100000"/>
              </a:lnSpc>
              <a:spcBef>
                <a:spcPts val="0"/>
              </a:spcBef>
              <a:spcAft>
                <a:spcPts val="0"/>
              </a:spcAft>
            </a:pPr>
            <a:r>
              <a:rPr sz="1500" b="1" i="0">
                <a:solidFill>
                  <a:srgbClr val="111111"/>
                </a:solidFill>
                <a:latin typeface="Arial"/>
              </a:rPr>
              <a:t>Charging the overhead to the digital system</a:t>
            </a:r>
          </a:p>
        </p:txBody>
      </p:sp>
      <p:sp>
        <p:nvSpPr>
          <p:cNvPr id="15" name="TextBox 14"/>
          <p:cNvSpPr txBox="1"/>
          <p:nvPr/>
        </p:nvSpPr>
        <p:spPr>
          <a:xfrm>
            <a:off x="987552" y="3675887"/>
            <a:ext cx="6382512" cy="566928"/>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The picture file, framing, checksums and rate-matching bytes are all measured and counted, so the digital system is tuned on the payload it can genuinely use.</a:t>
            </a:r>
          </a:p>
        </p:txBody>
      </p:sp>
      <p:sp>
        <p:nvSpPr>
          <p:cNvPr id="16" name="TextBox 15"/>
          <p:cNvSpPr txBox="1"/>
          <p:nvPr/>
        </p:nvSpPr>
        <p:spPr>
          <a:xfrm>
            <a:off x="987552" y="4279392"/>
            <a:ext cx="6382512"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Different from: pipelines that quote a nominal rate and leave the overhead uncounted.</a:t>
            </a:r>
          </a:p>
        </p:txBody>
      </p:sp>
      <p:sp>
        <p:nvSpPr>
          <p:cNvPr id="17" name="Rounded Rectangle 16"/>
          <p:cNvSpPr/>
          <p:nvPr/>
        </p:nvSpPr>
        <p:spPr>
          <a:xfrm>
            <a:off x="7900416" y="1591056"/>
            <a:ext cx="3547872" cy="3218688"/>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56448" y="1810512"/>
            <a:ext cx="1773936" cy="25603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1851660"/>
            <a:ext cx="1609344" cy="173736"/>
          </a:xfrm>
          <a:prstGeom prst="rect">
            <a:avLst/>
          </a:prstGeom>
          <a:noFill/>
        </p:spPr>
        <p:txBody>
          <a:bodyPr wrap="square" lIns="45720" rIns="45720" anchor="ctr">
            <a:spAutoFit/>
          </a:bodyPr>
          <a:lstStyle/>
          <a:p>
            <a:pPr algn="l">
              <a:lnSpc>
                <a:spcPct val="100000"/>
              </a:lnSpc>
              <a:spcBef>
                <a:spcPts val="0"/>
              </a:spcBef>
              <a:spcAft>
                <a:spcPts val="0"/>
              </a:spcAft>
            </a:pPr>
            <a:r>
              <a:rPr sz="819" b="1" i="0">
                <a:solidFill>
                  <a:srgbClr val="111111"/>
                </a:solidFill>
                <a:latin typeface="Arial"/>
              </a:rPr>
              <a:t>NOT CLAIMED AS NEW</a:t>
            </a:r>
          </a:p>
        </p:txBody>
      </p:sp>
      <p:sp>
        <p:nvSpPr>
          <p:cNvPr id="20" name="Rectangle 19"/>
          <p:cNvSpPr/>
          <p:nvPr/>
        </p:nvSpPr>
        <p:spPr>
          <a:xfrm>
            <a:off x="8156448" y="2414016"/>
            <a:ext cx="82296" cy="82296"/>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57616" y="2322576"/>
            <a:ext cx="2889504" cy="292608"/>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Getting steadily worse as the link worsens</a:t>
            </a:r>
          </a:p>
        </p:txBody>
      </p:sp>
      <p:sp>
        <p:nvSpPr>
          <p:cNvPr id="22" name="Rectangle 21"/>
          <p:cNvSpPr/>
          <p:nvPr/>
        </p:nvSpPr>
        <p:spPr>
          <a:xfrm>
            <a:off x="8156448" y="2889504"/>
            <a:ext cx="82296" cy="82296"/>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7616" y="2798064"/>
            <a:ext cx="2889504" cy="292608"/>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Avoiding the sudden drop-off</a:t>
            </a:r>
          </a:p>
        </p:txBody>
      </p:sp>
      <p:sp>
        <p:nvSpPr>
          <p:cNvPr id="24" name="Rectangle 23"/>
          <p:cNvSpPr/>
          <p:nvPr/>
        </p:nvSpPr>
        <p:spPr>
          <a:xfrm>
            <a:off x="8156448" y="3364992"/>
            <a:ext cx="82296" cy="82296"/>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57616" y="3273552"/>
            <a:ext cx="2889504" cy="292608"/>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Sending task-aware features digitally</a:t>
            </a:r>
          </a:p>
        </p:txBody>
      </p:sp>
      <p:sp>
        <p:nvSpPr>
          <p:cNvPr id="26" name="Rectangle 25"/>
          <p:cNvSpPr/>
          <p:nvPr/>
        </p:nvSpPr>
        <p:spPr>
          <a:xfrm>
            <a:off x="8156448" y="3840479"/>
            <a:ext cx="82296" cy="82296"/>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57616" y="3749039"/>
            <a:ext cx="2889504" cy="292608"/>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Training a neural encoder and decoder</a:t>
            </a:r>
          </a:p>
        </p:txBody>
      </p:sp>
      <p:sp>
        <p:nvSpPr>
          <p:cNvPr id="28" name="TextBox 27"/>
          <p:cNvSpPr txBox="1"/>
          <p:nvPr/>
        </p:nvSpPr>
        <p:spPr>
          <a:xfrm>
            <a:off x="8156448" y="4261104"/>
            <a:ext cx="3072384" cy="475488"/>
          </a:xfrm>
          <a:prstGeom prst="rect">
            <a:avLst/>
          </a:prstGeom>
          <a:noFill/>
        </p:spPr>
        <p:txBody>
          <a:bodyPr wrap="square" lIns="45720" rIns="45720" anchor="t">
            <a:spAutoFit/>
          </a:bodyPr>
          <a:lstStyle/>
          <a:p>
            <a:pPr algn="ctr">
              <a:lnSpc>
                <a:spcPct val="100000"/>
              </a:lnSpc>
              <a:spcBef>
                <a:spcPts val="0"/>
              </a:spcBef>
              <a:spcAft>
                <a:spcPts val="0"/>
              </a:spcAft>
            </a:pPr>
            <a:r>
              <a:rPr sz="1050" b="0" i="1">
                <a:solidFill>
                  <a:srgbClr val="555555"/>
                </a:solidFill>
                <a:latin typeface="Arial"/>
              </a:rPr>
              <a:t>People have already done all four of these. Claiming them would cost more than it earns.</a:t>
            </a:r>
          </a:p>
        </p:txBody>
      </p:sp>
      <p:sp>
        <p:nvSpPr>
          <p:cNvPr id="29" name="Rounded Rectangle 28"/>
          <p:cNvSpPr/>
          <p:nvPr/>
        </p:nvSpPr>
        <p:spPr>
          <a:xfrm>
            <a:off x="749808" y="4956048"/>
            <a:ext cx="10698480" cy="1261872"/>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87552" y="5157216"/>
            <a:ext cx="1444752" cy="25603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9848" y="5198364"/>
            <a:ext cx="1280160" cy="173736"/>
          </a:xfrm>
          <a:prstGeom prst="rect">
            <a:avLst/>
          </a:prstGeom>
          <a:noFill/>
        </p:spPr>
        <p:txBody>
          <a:bodyPr wrap="square" lIns="45720" rIns="45720" anchor="ctr">
            <a:spAutoFit/>
          </a:bodyPr>
          <a:lstStyle/>
          <a:p>
            <a:pPr algn="l">
              <a:lnSpc>
                <a:spcPct val="100000"/>
              </a:lnSpc>
              <a:spcBef>
                <a:spcPts val="0"/>
              </a:spcBef>
              <a:spcAft>
                <a:spcPts val="0"/>
              </a:spcAft>
            </a:pPr>
            <a:r>
              <a:rPr sz="819" b="1" i="0">
                <a:solidFill>
                  <a:srgbClr val="111111"/>
                </a:solidFill>
                <a:latin typeface="Arial"/>
              </a:rPr>
              <a:t>NEGATIVE CHECK</a:t>
            </a:r>
          </a:p>
        </p:txBody>
      </p:sp>
      <p:sp>
        <p:nvSpPr>
          <p:cNvPr id="32" name="TextBox 31"/>
          <p:cNvSpPr txBox="1"/>
          <p:nvPr/>
        </p:nvSpPr>
        <p:spPr>
          <a:xfrm>
            <a:off x="987552" y="5522976"/>
            <a:ext cx="10222992" cy="58521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Both claims above are checked against the 30 references in docs/literature-review.md, and any claim that something has never been reported has to trace back to that list rather than to our own specification. The full written statement ships with the final review package.</a:t>
            </a:r>
          </a:p>
        </p:txBody>
      </p:sp>
      <p:cxnSp>
        <p:nvCxnSpPr>
          <p:cNvPr id="33" name="Connector 32"/>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30352" y="6519672"/>
            <a:ext cx="102870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3" y="6547104"/>
            <a:ext cx="88239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ORIGINALITY</a:t>
            </a:r>
          </a:p>
        </p:txBody>
      </p:sp>
      <p:sp>
        <p:nvSpPr>
          <p:cNvPr id="36" name="Rounded Rectangle 35"/>
          <p:cNvSpPr/>
          <p:nvPr/>
        </p:nvSpPr>
        <p:spPr>
          <a:xfrm>
            <a:off x="165049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723644"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NOVELTY</a:t>
            </a:r>
          </a:p>
        </p:txBody>
      </p:sp>
      <p:sp>
        <p:nvSpPr>
          <p:cNvPr id="38" name="TextBox 37"/>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Two claims · both about how the experiment is built, not the idea itself</a:t>
            </a:r>
          </a:p>
        </p:txBody>
      </p:sp>
      <p:sp>
        <p:nvSpPr>
          <p:cNvPr id="39" name="TextBox 38"/>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18</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Where the remaining weeks went</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572768" y="1682496"/>
            <a:ext cx="0" cy="4261104"/>
          </a:xfrm>
          <a:prstGeom prst="line">
            <a:avLst/>
          </a:prstGeom>
          <a:ln w="15240">
            <a:solidFill>
              <a:srgbClr val="D9D9D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49808" y="1517904"/>
            <a:ext cx="566928" cy="219456"/>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111111"/>
                </a:solidFill>
                <a:latin typeface="Arial"/>
              </a:rPr>
              <a:t>W10</a:t>
            </a:r>
          </a:p>
        </p:txBody>
      </p:sp>
      <p:sp>
        <p:nvSpPr>
          <p:cNvPr id="8" name="Oval 7"/>
          <p:cNvSpPr/>
          <p:nvPr/>
        </p:nvSpPr>
        <p:spPr>
          <a:xfrm>
            <a:off x="1481328" y="1536192"/>
            <a:ext cx="182880" cy="182880"/>
          </a:xfrm>
          <a:prstGeom prst="ellipse">
            <a:avLst/>
          </a:prstGeom>
          <a:solidFill>
            <a:srgbClr val="111111"/>
          </a:solidFill>
          <a:ln w="17780">
            <a:solidFill>
              <a:srgbClr val="11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10512" y="1463040"/>
            <a:ext cx="1572768" cy="237744"/>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29 Sep – 3 Oct</a:t>
            </a:r>
          </a:p>
        </p:txBody>
      </p:sp>
      <p:sp>
        <p:nvSpPr>
          <p:cNvPr id="10" name="TextBox 9"/>
          <p:cNvSpPr txBox="1"/>
          <p:nvPr/>
        </p:nvSpPr>
        <p:spPr>
          <a:xfrm>
            <a:off x="3438144" y="1444752"/>
            <a:ext cx="2231136" cy="256032"/>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Second Review</a:t>
            </a:r>
          </a:p>
        </p:txBody>
      </p:sp>
      <p:sp>
        <p:nvSpPr>
          <p:cNvPr id="11" name="TextBox 10"/>
          <p:cNvSpPr txBox="1"/>
          <p:nvPr/>
        </p:nvSpPr>
        <p:spPr>
          <a:xfrm>
            <a:off x="5742432" y="1463040"/>
            <a:ext cx="4718304" cy="274320"/>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Held-back measurements complete; package and figures frozen</a:t>
            </a:r>
          </a:p>
        </p:txBody>
      </p:sp>
      <p:sp>
        <p:nvSpPr>
          <p:cNvPr id="12" name="TextBox 11"/>
          <p:cNvSpPr txBox="1"/>
          <p:nvPr/>
        </p:nvSpPr>
        <p:spPr>
          <a:xfrm>
            <a:off x="10625328" y="1463040"/>
            <a:ext cx="822960" cy="237744"/>
          </a:xfrm>
          <a:prstGeom prst="rect">
            <a:avLst/>
          </a:prstGeom>
          <a:noFill/>
        </p:spPr>
        <p:txBody>
          <a:bodyPr wrap="square" lIns="45720" rIns="45720" anchor="t">
            <a:spAutoFit/>
          </a:bodyPr>
          <a:lstStyle/>
          <a:p>
            <a:pPr algn="r">
              <a:lnSpc>
                <a:spcPct val="100000"/>
              </a:lnSpc>
              <a:spcBef>
                <a:spcPts val="0"/>
              </a:spcBef>
              <a:spcAft>
                <a:spcPts val="0"/>
              </a:spcAft>
            </a:pPr>
            <a:r>
              <a:rPr sz="950" b="1" i="0">
                <a:solidFill>
                  <a:srgbClr val="111111"/>
                </a:solidFill>
                <a:latin typeface="Arial"/>
              </a:rPr>
              <a:t>done</a:t>
            </a:r>
          </a:p>
        </p:txBody>
      </p:sp>
      <p:sp>
        <p:nvSpPr>
          <p:cNvPr id="13" name="TextBox 12"/>
          <p:cNvSpPr txBox="1"/>
          <p:nvPr/>
        </p:nvSpPr>
        <p:spPr>
          <a:xfrm>
            <a:off x="749808" y="2066544"/>
            <a:ext cx="566928" cy="219456"/>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555555"/>
                </a:solidFill>
                <a:latin typeface="Arial"/>
              </a:rPr>
              <a:t>W11</a:t>
            </a:r>
          </a:p>
        </p:txBody>
      </p:sp>
      <p:sp>
        <p:nvSpPr>
          <p:cNvPr id="14" name="Oval 13"/>
          <p:cNvSpPr/>
          <p:nvPr/>
        </p:nvSpPr>
        <p:spPr>
          <a:xfrm>
            <a:off x="1481328" y="2084832"/>
            <a:ext cx="182880" cy="182880"/>
          </a:xfrm>
          <a:prstGeom prst="ellipse">
            <a:avLst/>
          </a:prstGeom>
          <a:solidFill>
            <a:srgbClr val="FFFFFF"/>
          </a:solidFill>
          <a:ln w="17780">
            <a:solidFill>
              <a:srgbClr val="11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2011680"/>
            <a:ext cx="1572768" cy="237744"/>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5 – 11 Oct</a:t>
            </a:r>
          </a:p>
        </p:txBody>
      </p:sp>
      <p:sp>
        <p:nvSpPr>
          <p:cNvPr id="16" name="TextBox 15"/>
          <p:cNvSpPr txBox="1"/>
          <p:nvPr/>
        </p:nvSpPr>
        <p:spPr>
          <a:xfrm>
            <a:off x="3438144" y="1993392"/>
            <a:ext cx="2231136" cy="256032"/>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Open the exam set</a:t>
            </a:r>
          </a:p>
        </p:txBody>
      </p:sp>
      <p:sp>
        <p:nvSpPr>
          <p:cNvPr id="17" name="TextBox 16"/>
          <p:cNvSpPr txBox="1"/>
          <p:nvPr/>
        </p:nvSpPr>
        <p:spPr>
          <a:xfrm>
            <a:off x="5742432" y="2011680"/>
            <a:ext cx="4718304" cy="274320"/>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One guarded opening once the locking manifest is signed</a:t>
            </a:r>
          </a:p>
        </p:txBody>
      </p:sp>
      <p:sp>
        <p:nvSpPr>
          <p:cNvPr id="18" name="TextBox 17"/>
          <p:cNvSpPr txBox="1"/>
          <p:nvPr/>
        </p:nvSpPr>
        <p:spPr>
          <a:xfrm>
            <a:off x="10625328" y="2011680"/>
            <a:ext cx="822960" cy="237744"/>
          </a:xfrm>
          <a:prstGeom prst="rect">
            <a:avLst/>
          </a:prstGeom>
          <a:noFill/>
        </p:spPr>
        <p:txBody>
          <a:bodyPr wrap="square" lIns="45720" rIns="45720" anchor="t">
            <a:spAutoFit/>
          </a:bodyPr>
          <a:lstStyle/>
          <a:p>
            <a:pPr algn="r">
              <a:lnSpc>
                <a:spcPct val="100000"/>
              </a:lnSpc>
              <a:spcBef>
                <a:spcPts val="0"/>
              </a:spcBef>
              <a:spcAft>
                <a:spcPts val="0"/>
              </a:spcAft>
            </a:pPr>
            <a:r>
              <a:rPr sz="950" b="1" i="0">
                <a:solidFill>
                  <a:srgbClr val="999999"/>
                </a:solidFill>
                <a:latin typeface="Arial"/>
              </a:rPr>
              <a:t>planned</a:t>
            </a:r>
          </a:p>
        </p:txBody>
      </p:sp>
      <p:sp>
        <p:nvSpPr>
          <p:cNvPr id="19" name="TextBox 18"/>
          <p:cNvSpPr txBox="1"/>
          <p:nvPr/>
        </p:nvSpPr>
        <p:spPr>
          <a:xfrm>
            <a:off x="749808" y="2615184"/>
            <a:ext cx="566928" cy="219456"/>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555555"/>
                </a:solidFill>
                <a:latin typeface="Arial"/>
              </a:rPr>
              <a:t>W12</a:t>
            </a:r>
          </a:p>
        </p:txBody>
      </p:sp>
      <p:sp>
        <p:nvSpPr>
          <p:cNvPr id="20" name="Oval 19"/>
          <p:cNvSpPr/>
          <p:nvPr/>
        </p:nvSpPr>
        <p:spPr>
          <a:xfrm>
            <a:off x="1481328" y="2633472"/>
            <a:ext cx="182880" cy="182880"/>
          </a:xfrm>
          <a:prstGeom prst="ellipse">
            <a:avLst/>
          </a:prstGeom>
          <a:solidFill>
            <a:srgbClr val="FFFFFF"/>
          </a:solidFill>
          <a:ln w="17780">
            <a:solidFill>
              <a:srgbClr val="11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2560320"/>
            <a:ext cx="1572768" cy="237744"/>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12 – 18 Oct</a:t>
            </a:r>
          </a:p>
        </p:txBody>
      </p:sp>
      <p:sp>
        <p:nvSpPr>
          <p:cNvPr id="22" name="TextBox 21"/>
          <p:cNvSpPr txBox="1"/>
          <p:nvPr/>
        </p:nvSpPr>
        <p:spPr>
          <a:xfrm>
            <a:off x="3438144" y="2542032"/>
            <a:ext cx="2231136" cy="256032"/>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Decide everything</a:t>
            </a:r>
          </a:p>
        </p:txBody>
      </p:sp>
      <p:sp>
        <p:nvSpPr>
          <p:cNvPr id="23" name="TextBox 22"/>
          <p:cNvSpPr txBox="1"/>
          <p:nvPr/>
        </p:nvSpPr>
        <p:spPr>
          <a:xfrm>
            <a:off x="5742432" y="2560320"/>
            <a:ext cx="4718304" cy="274320"/>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Every hypothesis settled on the exam set; Tier 1 frozen</a:t>
            </a:r>
          </a:p>
        </p:txBody>
      </p:sp>
      <p:sp>
        <p:nvSpPr>
          <p:cNvPr id="24" name="TextBox 23"/>
          <p:cNvSpPr txBox="1"/>
          <p:nvPr/>
        </p:nvSpPr>
        <p:spPr>
          <a:xfrm>
            <a:off x="10625328" y="2560320"/>
            <a:ext cx="822960" cy="237744"/>
          </a:xfrm>
          <a:prstGeom prst="rect">
            <a:avLst/>
          </a:prstGeom>
          <a:noFill/>
        </p:spPr>
        <p:txBody>
          <a:bodyPr wrap="square" lIns="45720" rIns="45720" anchor="t">
            <a:spAutoFit/>
          </a:bodyPr>
          <a:lstStyle/>
          <a:p>
            <a:pPr algn="r">
              <a:lnSpc>
                <a:spcPct val="100000"/>
              </a:lnSpc>
              <a:spcBef>
                <a:spcPts val="0"/>
              </a:spcBef>
              <a:spcAft>
                <a:spcPts val="0"/>
              </a:spcAft>
            </a:pPr>
            <a:r>
              <a:rPr sz="950" b="1" i="0">
                <a:solidFill>
                  <a:srgbClr val="999999"/>
                </a:solidFill>
                <a:latin typeface="Arial"/>
              </a:rPr>
              <a:t>planned</a:t>
            </a:r>
          </a:p>
        </p:txBody>
      </p:sp>
      <p:sp>
        <p:nvSpPr>
          <p:cNvPr id="25" name="TextBox 24"/>
          <p:cNvSpPr txBox="1"/>
          <p:nvPr/>
        </p:nvSpPr>
        <p:spPr>
          <a:xfrm>
            <a:off x="749808" y="3163824"/>
            <a:ext cx="566928" cy="219456"/>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555555"/>
                </a:solidFill>
                <a:latin typeface="Arial"/>
              </a:rPr>
              <a:t>W13</a:t>
            </a:r>
          </a:p>
        </p:txBody>
      </p:sp>
      <p:sp>
        <p:nvSpPr>
          <p:cNvPr id="26" name="Oval 25"/>
          <p:cNvSpPr/>
          <p:nvPr/>
        </p:nvSpPr>
        <p:spPr>
          <a:xfrm>
            <a:off x="1481328" y="3182112"/>
            <a:ext cx="182880" cy="182880"/>
          </a:xfrm>
          <a:prstGeom prst="ellipse">
            <a:avLst/>
          </a:prstGeom>
          <a:solidFill>
            <a:srgbClr val="FFFFFF"/>
          </a:solidFill>
          <a:ln w="17780">
            <a:solidFill>
              <a:srgbClr val="11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3108960"/>
            <a:ext cx="1572768" cy="237744"/>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19 – 25 Oct</a:t>
            </a:r>
          </a:p>
        </p:txBody>
      </p:sp>
      <p:sp>
        <p:nvSpPr>
          <p:cNvPr id="28" name="TextBox 27"/>
          <p:cNvSpPr txBox="1"/>
          <p:nvPr/>
        </p:nvSpPr>
        <p:spPr>
          <a:xfrm>
            <a:off x="3438144" y="3090672"/>
            <a:ext cx="2231136" cy="256032"/>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Demo</a:t>
            </a:r>
          </a:p>
        </p:txBody>
      </p:sp>
      <p:sp>
        <p:nvSpPr>
          <p:cNvPr id="29" name="TextBox 28"/>
          <p:cNvSpPr txBox="1"/>
          <p:nvPr/>
        </p:nvSpPr>
        <p:spPr>
          <a:xfrm>
            <a:off x="5742432" y="3108960"/>
            <a:ext cx="4718304" cy="274320"/>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Signal-strength slider, both systems side by side, frozen plot</a:t>
            </a:r>
          </a:p>
        </p:txBody>
      </p:sp>
      <p:sp>
        <p:nvSpPr>
          <p:cNvPr id="30" name="TextBox 29"/>
          <p:cNvSpPr txBox="1"/>
          <p:nvPr/>
        </p:nvSpPr>
        <p:spPr>
          <a:xfrm>
            <a:off x="10625328" y="3108960"/>
            <a:ext cx="822960" cy="237744"/>
          </a:xfrm>
          <a:prstGeom prst="rect">
            <a:avLst/>
          </a:prstGeom>
          <a:noFill/>
        </p:spPr>
        <p:txBody>
          <a:bodyPr wrap="square" lIns="45720" rIns="45720" anchor="t">
            <a:spAutoFit/>
          </a:bodyPr>
          <a:lstStyle/>
          <a:p>
            <a:pPr algn="r">
              <a:lnSpc>
                <a:spcPct val="100000"/>
              </a:lnSpc>
              <a:spcBef>
                <a:spcPts val="0"/>
              </a:spcBef>
              <a:spcAft>
                <a:spcPts val="0"/>
              </a:spcAft>
            </a:pPr>
            <a:r>
              <a:rPr sz="950" b="1" i="0">
                <a:solidFill>
                  <a:srgbClr val="999999"/>
                </a:solidFill>
                <a:latin typeface="Arial"/>
              </a:rPr>
              <a:t>planned</a:t>
            </a:r>
          </a:p>
        </p:txBody>
      </p:sp>
      <p:sp>
        <p:nvSpPr>
          <p:cNvPr id="31" name="TextBox 30"/>
          <p:cNvSpPr txBox="1"/>
          <p:nvPr/>
        </p:nvSpPr>
        <p:spPr>
          <a:xfrm>
            <a:off x="749808" y="3712463"/>
            <a:ext cx="566928" cy="219456"/>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555555"/>
                </a:solidFill>
                <a:latin typeface="Arial"/>
              </a:rPr>
              <a:t>W14</a:t>
            </a:r>
          </a:p>
        </p:txBody>
      </p:sp>
      <p:sp>
        <p:nvSpPr>
          <p:cNvPr id="32" name="Oval 31"/>
          <p:cNvSpPr/>
          <p:nvPr/>
        </p:nvSpPr>
        <p:spPr>
          <a:xfrm>
            <a:off x="1481328" y="3730752"/>
            <a:ext cx="182880" cy="182880"/>
          </a:xfrm>
          <a:prstGeom prst="ellipse">
            <a:avLst/>
          </a:prstGeom>
          <a:solidFill>
            <a:srgbClr val="FFFFFF"/>
          </a:solidFill>
          <a:ln w="17780">
            <a:solidFill>
              <a:srgbClr val="11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10512" y="3657600"/>
            <a:ext cx="1572768" cy="237744"/>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26 Oct – 1 Nov</a:t>
            </a:r>
          </a:p>
        </p:txBody>
      </p:sp>
      <p:sp>
        <p:nvSpPr>
          <p:cNvPr id="34" name="TextBox 33"/>
          <p:cNvSpPr txBox="1"/>
          <p:nvPr/>
        </p:nvSpPr>
        <p:spPr>
          <a:xfrm>
            <a:off x="3438144" y="3639312"/>
            <a:ext cx="2231136" cy="256032"/>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Poster + hardware</a:t>
            </a:r>
          </a:p>
        </p:txBody>
      </p:sp>
      <p:sp>
        <p:nvSpPr>
          <p:cNvPr id="35" name="TextBox 34"/>
          <p:cNvSpPr txBox="1"/>
          <p:nvPr/>
        </p:nvSpPr>
        <p:spPr>
          <a:xfrm>
            <a:off x="5742432" y="3657600"/>
            <a:ext cx="4718304" cy="274320"/>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Poster draft; real radio only if Tier 1 leaves room</a:t>
            </a:r>
          </a:p>
        </p:txBody>
      </p:sp>
      <p:sp>
        <p:nvSpPr>
          <p:cNvPr id="36" name="TextBox 35"/>
          <p:cNvSpPr txBox="1"/>
          <p:nvPr/>
        </p:nvSpPr>
        <p:spPr>
          <a:xfrm>
            <a:off x="10625328" y="3657600"/>
            <a:ext cx="822960" cy="237744"/>
          </a:xfrm>
          <a:prstGeom prst="rect">
            <a:avLst/>
          </a:prstGeom>
          <a:noFill/>
        </p:spPr>
        <p:txBody>
          <a:bodyPr wrap="square" lIns="45720" rIns="45720" anchor="t">
            <a:spAutoFit/>
          </a:bodyPr>
          <a:lstStyle/>
          <a:p>
            <a:pPr algn="r">
              <a:lnSpc>
                <a:spcPct val="100000"/>
              </a:lnSpc>
              <a:spcBef>
                <a:spcPts val="0"/>
              </a:spcBef>
              <a:spcAft>
                <a:spcPts val="0"/>
              </a:spcAft>
            </a:pPr>
            <a:r>
              <a:rPr sz="950" b="1" i="0">
                <a:solidFill>
                  <a:srgbClr val="999999"/>
                </a:solidFill>
                <a:latin typeface="Arial"/>
              </a:rPr>
              <a:t>planned</a:t>
            </a:r>
          </a:p>
        </p:txBody>
      </p:sp>
      <p:sp>
        <p:nvSpPr>
          <p:cNvPr id="37" name="TextBox 36"/>
          <p:cNvSpPr txBox="1"/>
          <p:nvPr/>
        </p:nvSpPr>
        <p:spPr>
          <a:xfrm>
            <a:off x="749808" y="4261103"/>
            <a:ext cx="566928" cy="219456"/>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555555"/>
                </a:solidFill>
                <a:latin typeface="Arial"/>
              </a:rPr>
              <a:t>W15</a:t>
            </a:r>
          </a:p>
        </p:txBody>
      </p:sp>
      <p:sp>
        <p:nvSpPr>
          <p:cNvPr id="38" name="Oval 37"/>
          <p:cNvSpPr/>
          <p:nvPr/>
        </p:nvSpPr>
        <p:spPr>
          <a:xfrm>
            <a:off x="1481328" y="4279392"/>
            <a:ext cx="182880" cy="182880"/>
          </a:xfrm>
          <a:prstGeom prst="ellipse">
            <a:avLst/>
          </a:prstGeom>
          <a:solidFill>
            <a:srgbClr val="FFFFFF"/>
          </a:solidFill>
          <a:ln w="17780">
            <a:solidFill>
              <a:srgbClr val="11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810512" y="4206240"/>
            <a:ext cx="1572768" cy="237744"/>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2 – 8 Nov</a:t>
            </a:r>
          </a:p>
        </p:txBody>
      </p:sp>
      <p:sp>
        <p:nvSpPr>
          <p:cNvPr id="40" name="TextBox 39"/>
          <p:cNvSpPr txBox="1"/>
          <p:nvPr/>
        </p:nvSpPr>
        <p:spPr>
          <a:xfrm>
            <a:off x="3438144" y="4187952"/>
            <a:ext cx="2231136" cy="256032"/>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Internal freeze</a:t>
            </a:r>
          </a:p>
        </p:txBody>
      </p:sp>
      <p:sp>
        <p:nvSpPr>
          <p:cNvPr id="41" name="TextBox 40"/>
          <p:cNvSpPr txBox="1"/>
          <p:nvPr/>
        </p:nvSpPr>
        <p:spPr>
          <a:xfrm>
            <a:off x="5742432" y="4206240"/>
            <a:ext cx="4718304" cy="274320"/>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Report finished in the required format</a:t>
            </a:r>
          </a:p>
        </p:txBody>
      </p:sp>
      <p:sp>
        <p:nvSpPr>
          <p:cNvPr id="42" name="TextBox 41"/>
          <p:cNvSpPr txBox="1"/>
          <p:nvPr/>
        </p:nvSpPr>
        <p:spPr>
          <a:xfrm>
            <a:off x="10625328" y="4206240"/>
            <a:ext cx="822960" cy="237744"/>
          </a:xfrm>
          <a:prstGeom prst="rect">
            <a:avLst/>
          </a:prstGeom>
          <a:noFill/>
        </p:spPr>
        <p:txBody>
          <a:bodyPr wrap="square" lIns="45720" rIns="45720" anchor="t">
            <a:spAutoFit/>
          </a:bodyPr>
          <a:lstStyle/>
          <a:p>
            <a:pPr algn="r">
              <a:lnSpc>
                <a:spcPct val="100000"/>
              </a:lnSpc>
              <a:spcBef>
                <a:spcPts val="0"/>
              </a:spcBef>
              <a:spcAft>
                <a:spcPts val="0"/>
              </a:spcAft>
            </a:pPr>
            <a:r>
              <a:rPr sz="950" b="1" i="0">
                <a:solidFill>
                  <a:srgbClr val="999999"/>
                </a:solidFill>
                <a:latin typeface="Arial"/>
              </a:rPr>
              <a:t>planned</a:t>
            </a:r>
          </a:p>
        </p:txBody>
      </p:sp>
      <p:sp>
        <p:nvSpPr>
          <p:cNvPr id="43" name="TextBox 42"/>
          <p:cNvSpPr txBox="1"/>
          <p:nvPr/>
        </p:nvSpPr>
        <p:spPr>
          <a:xfrm>
            <a:off x="749808" y="4809743"/>
            <a:ext cx="566928" cy="219456"/>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555555"/>
                </a:solidFill>
                <a:latin typeface="Arial"/>
              </a:rPr>
              <a:t>W16</a:t>
            </a:r>
          </a:p>
        </p:txBody>
      </p:sp>
      <p:sp>
        <p:nvSpPr>
          <p:cNvPr id="44" name="Oval 43"/>
          <p:cNvSpPr/>
          <p:nvPr/>
        </p:nvSpPr>
        <p:spPr>
          <a:xfrm>
            <a:off x="1481328" y="4828031"/>
            <a:ext cx="182880" cy="182880"/>
          </a:xfrm>
          <a:prstGeom prst="ellipse">
            <a:avLst/>
          </a:prstGeom>
          <a:solidFill>
            <a:srgbClr val="FFFFFF"/>
          </a:solidFill>
          <a:ln w="17780">
            <a:solidFill>
              <a:srgbClr val="11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810512" y="4754879"/>
            <a:ext cx="1572768" cy="237744"/>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9 – 15 Nov</a:t>
            </a:r>
          </a:p>
        </p:txBody>
      </p:sp>
      <p:sp>
        <p:nvSpPr>
          <p:cNvPr id="46" name="TextBox 45"/>
          <p:cNvSpPr txBox="1"/>
          <p:nvPr/>
        </p:nvSpPr>
        <p:spPr>
          <a:xfrm>
            <a:off x="3438144" y="4736592"/>
            <a:ext cx="2231136" cy="256032"/>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Spare week</a:t>
            </a:r>
          </a:p>
        </p:txBody>
      </p:sp>
      <p:sp>
        <p:nvSpPr>
          <p:cNvPr id="47" name="TextBox 46"/>
          <p:cNvSpPr txBox="1"/>
          <p:nvPr/>
        </p:nvSpPr>
        <p:spPr>
          <a:xfrm>
            <a:off x="5742432" y="4754879"/>
            <a:ext cx="4718304" cy="274320"/>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Report completion and checking only. No new experiments</a:t>
            </a:r>
          </a:p>
        </p:txBody>
      </p:sp>
      <p:sp>
        <p:nvSpPr>
          <p:cNvPr id="48" name="TextBox 47"/>
          <p:cNvSpPr txBox="1"/>
          <p:nvPr/>
        </p:nvSpPr>
        <p:spPr>
          <a:xfrm>
            <a:off x="10625328" y="4754879"/>
            <a:ext cx="822960" cy="237744"/>
          </a:xfrm>
          <a:prstGeom prst="rect">
            <a:avLst/>
          </a:prstGeom>
          <a:noFill/>
        </p:spPr>
        <p:txBody>
          <a:bodyPr wrap="square" lIns="45720" rIns="45720" anchor="t">
            <a:spAutoFit/>
          </a:bodyPr>
          <a:lstStyle/>
          <a:p>
            <a:pPr algn="r">
              <a:lnSpc>
                <a:spcPct val="100000"/>
              </a:lnSpc>
              <a:spcBef>
                <a:spcPts val="0"/>
              </a:spcBef>
              <a:spcAft>
                <a:spcPts val="0"/>
              </a:spcAft>
            </a:pPr>
            <a:r>
              <a:rPr sz="950" b="1" i="0">
                <a:solidFill>
                  <a:srgbClr val="999999"/>
                </a:solidFill>
                <a:latin typeface="Arial"/>
              </a:rPr>
              <a:t>planned</a:t>
            </a:r>
          </a:p>
        </p:txBody>
      </p:sp>
      <p:sp>
        <p:nvSpPr>
          <p:cNvPr id="49" name="TextBox 48"/>
          <p:cNvSpPr txBox="1"/>
          <p:nvPr/>
        </p:nvSpPr>
        <p:spPr>
          <a:xfrm>
            <a:off x="749808" y="5358384"/>
            <a:ext cx="566928" cy="219456"/>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555555"/>
                </a:solidFill>
                <a:latin typeface="Arial"/>
              </a:rPr>
              <a:t>W17</a:t>
            </a:r>
          </a:p>
        </p:txBody>
      </p:sp>
      <p:sp>
        <p:nvSpPr>
          <p:cNvPr id="50" name="Oval 49"/>
          <p:cNvSpPr/>
          <p:nvPr/>
        </p:nvSpPr>
        <p:spPr>
          <a:xfrm>
            <a:off x="1481328" y="5376672"/>
            <a:ext cx="182880" cy="182880"/>
          </a:xfrm>
          <a:prstGeom prst="ellipse">
            <a:avLst/>
          </a:prstGeom>
          <a:solidFill>
            <a:srgbClr val="FFFFFF"/>
          </a:solidFill>
          <a:ln w="17780">
            <a:solidFill>
              <a:srgbClr val="11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810512" y="5303520"/>
            <a:ext cx="1572768" cy="237744"/>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16 – 22 Nov</a:t>
            </a:r>
          </a:p>
        </p:txBody>
      </p:sp>
      <p:sp>
        <p:nvSpPr>
          <p:cNvPr id="52" name="TextBox 51"/>
          <p:cNvSpPr txBox="1"/>
          <p:nvPr/>
        </p:nvSpPr>
        <p:spPr>
          <a:xfrm>
            <a:off x="3438144" y="5285232"/>
            <a:ext cx="2231136" cy="256032"/>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Final Review</a:t>
            </a:r>
          </a:p>
        </p:txBody>
      </p:sp>
      <p:sp>
        <p:nvSpPr>
          <p:cNvPr id="53" name="TextBox 52"/>
          <p:cNvSpPr txBox="1"/>
          <p:nvPr/>
        </p:nvSpPr>
        <p:spPr>
          <a:xfrm>
            <a:off x="5742432" y="5303520"/>
            <a:ext cx="4718304" cy="274320"/>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Final review 17–21 Nov; report and material due 20 Nov</a:t>
            </a:r>
          </a:p>
        </p:txBody>
      </p:sp>
      <p:sp>
        <p:nvSpPr>
          <p:cNvPr id="54" name="TextBox 53"/>
          <p:cNvSpPr txBox="1"/>
          <p:nvPr/>
        </p:nvSpPr>
        <p:spPr>
          <a:xfrm>
            <a:off x="10625328" y="5303520"/>
            <a:ext cx="822960" cy="237744"/>
          </a:xfrm>
          <a:prstGeom prst="rect">
            <a:avLst/>
          </a:prstGeom>
          <a:noFill/>
        </p:spPr>
        <p:txBody>
          <a:bodyPr wrap="square" lIns="45720" rIns="45720" anchor="t">
            <a:spAutoFit/>
          </a:bodyPr>
          <a:lstStyle/>
          <a:p>
            <a:pPr algn="r">
              <a:lnSpc>
                <a:spcPct val="100000"/>
              </a:lnSpc>
              <a:spcBef>
                <a:spcPts val="0"/>
              </a:spcBef>
              <a:spcAft>
                <a:spcPts val="0"/>
              </a:spcAft>
            </a:pPr>
            <a:r>
              <a:rPr sz="950" b="1" i="0">
                <a:solidFill>
                  <a:srgbClr val="999999"/>
                </a:solidFill>
                <a:latin typeface="Arial"/>
              </a:rPr>
              <a:t>planned</a:t>
            </a:r>
          </a:p>
        </p:txBody>
      </p:sp>
      <p:sp>
        <p:nvSpPr>
          <p:cNvPr id="55" name="Rounded Rectangle 54"/>
          <p:cNvSpPr/>
          <p:nvPr/>
        </p:nvSpPr>
        <p:spPr>
          <a:xfrm>
            <a:off x="749808" y="5943600"/>
            <a:ext cx="10698480" cy="402336"/>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6025896"/>
            <a:ext cx="10369296" cy="256032"/>
          </a:xfrm>
          <a:prstGeom prst="rect">
            <a:avLst/>
          </a:prstGeom>
          <a:noFill/>
        </p:spPr>
        <p:txBody>
          <a:bodyPr wrap="square" lIns="45720" rIns="45720" anchor="t">
            <a:spAutoFit/>
          </a:bodyPr>
          <a:lstStyle/>
          <a:p>
            <a:pPr algn="ctr">
              <a:lnSpc>
                <a:spcPct val="100000"/>
              </a:lnSpc>
              <a:spcBef>
                <a:spcPts val="0"/>
              </a:spcBef>
              <a:spcAft>
                <a:spcPts val="0"/>
              </a:spcAft>
            </a:pPr>
            <a:r>
              <a:rPr sz="1050" b="0" i="0">
                <a:solidFill>
                  <a:srgbClr val="111111"/>
                </a:solidFill>
                <a:latin typeface="Arial"/>
              </a:rPr>
              <a:t>The report is due inside Final Review week, which is why W15 is an internal freeze and W16 holds no experimental work.</a:t>
            </a:r>
          </a:p>
        </p:txBody>
      </p:sp>
      <p:cxnSp>
        <p:nvCxnSpPr>
          <p:cNvPr id="57" name="Connector 56"/>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530352" y="6519672"/>
            <a:ext cx="822959"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03503" y="6547104"/>
            <a:ext cx="67665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TIMELINE</a:t>
            </a:r>
          </a:p>
        </p:txBody>
      </p:sp>
      <p:sp>
        <p:nvSpPr>
          <p:cNvPr id="60" name="TextBox 59"/>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Second Review 29 Sep–3 Oct · Final Review 17–21 Nov · report due 20 Nov</a:t>
            </a:r>
          </a:p>
        </p:txBody>
      </p:sp>
      <p:sp>
        <p:nvSpPr>
          <p:cNvPr id="61" name="TextBox 60"/>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950" b="1" i="0">
                <a:solidFill>
                  <a:srgbClr val="555555"/>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100" b="1" i="0">
                <a:solidFill>
                  <a:srgbClr val="111111"/>
                </a:solidFill>
                <a:latin typeface="Arial"/>
              </a:rPr>
              <a:t>§ 19</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Where this leaves the project</a:t>
            </a:r>
          </a:p>
        </p:txBody>
      </p:sp>
      <p:cxnSp>
        <p:nvCxnSpPr>
          <p:cNvPr id="5" name="Connector 4"/>
          <p:cNvCxnSpPr/>
          <p:nvPr/>
        </p:nvCxnSpPr>
        <p:spPr>
          <a:xfrm>
            <a:off x="530352" y="1097280"/>
            <a:ext cx="11109960" cy="0"/>
          </a:xfrm>
          <a:prstGeom prst="line">
            <a:avLst/>
          </a:prstGeom>
          <a:ln w="16510">
            <a:solidFill>
              <a:srgbClr val="111111"/>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49808" y="1353312"/>
            <a:ext cx="10698480" cy="1298448"/>
          </a:xfrm>
          <a:prstGeom prst="roundRect">
            <a:avLst/>
          </a:prstGeom>
          <a:solidFill>
            <a:srgbClr val="FFFFFF"/>
          </a:solidFill>
          <a:ln w="15240">
            <a:solidFill>
              <a:srgbClr val="11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2415" y="1572768"/>
            <a:ext cx="10113264" cy="859536"/>
          </a:xfrm>
          <a:prstGeom prst="rect">
            <a:avLst/>
          </a:prstGeom>
          <a:noFill/>
        </p:spPr>
        <p:txBody>
          <a:bodyPr wrap="square" lIns="45720" rIns="45720" anchor="ctr">
            <a:spAutoFit/>
          </a:bodyPr>
          <a:lstStyle/>
          <a:p>
            <a:pPr algn="ctr">
              <a:lnSpc>
                <a:spcPct val="100000"/>
              </a:lnSpc>
              <a:spcBef>
                <a:spcPts val="0"/>
              </a:spcBef>
              <a:spcAft>
                <a:spcPts val="0"/>
              </a:spcAft>
            </a:pPr>
            <a:r>
              <a:rPr sz="1600" b="0" i="0">
                <a:solidFill>
                  <a:srgbClr val="111111"/>
                </a:solidFill>
                <a:latin typeface="Arial"/>
              </a:rPr>
              <a:t>The learned system keeps answering when the link is too weak for the digital one to get a single picture through. Once the digital system starts delivering, it is the more accurate of the two. They cross between −5 and −4 dB.</a:t>
            </a:r>
          </a:p>
        </p:txBody>
      </p:sp>
      <p:sp>
        <p:nvSpPr>
          <p:cNvPr id="8" name="Rounded Rectangle 7"/>
          <p:cNvSpPr/>
          <p:nvPr/>
        </p:nvSpPr>
        <p:spPr>
          <a:xfrm>
            <a:off x="749808" y="2907792"/>
            <a:ext cx="3401568" cy="1353312"/>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2907792"/>
            <a:ext cx="64008" cy="135331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3108960"/>
            <a:ext cx="2980944" cy="329184"/>
          </a:xfrm>
          <a:prstGeom prst="rect">
            <a:avLst/>
          </a:prstGeom>
          <a:noFill/>
        </p:spPr>
        <p:txBody>
          <a:bodyPr wrap="square" lIns="45720" rIns="45720" anchor="t">
            <a:spAutoFit/>
          </a:bodyPr>
          <a:lstStyle/>
          <a:p>
            <a:pPr algn="l">
              <a:lnSpc>
                <a:spcPct val="100000"/>
              </a:lnSpc>
              <a:spcBef>
                <a:spcPts val="0"/>
              </a:spcBef>
              <a:spcAft>
                <a:spcPts val="0"/>
              </a:spcAft>
            </a:pPr>
            <a:r>
              <a:rPr sz="1600" b="1" i="0">
                <a:solidFill>
                  <a:srgbClr val="111111"/>
                </a:solidFill>
                <a:latin typeface="Arial"/>
              </a:rPr>
              <a:t>Next</a:t>
            </a:r>
          </a:p>
        </p:txBody>
      </p:sp>
      <p:sp>
        <p:nvSpPr>
          <p:cNvPr id="11" name="TextBox 10"/>
          <p:cNvSpPr txBox="1"/>
          <p:nvPr/>
        </p:nvSpPr>
        <p:spPr>
          <a:xfrm>
            <a:off x="969264" y="3511296"/>
            <a:ext cx="2980944" cy="621791"/>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One guarded run on the exam set once the locking manifest is signed. So far, zero exam pictures opened.</a:t>
            </a:r>
          </a:p>
        </p:txBody>
      </p:sp>
      <p:sp>
        <p:nvSpPr>
          <p:cNvPr id="12" name="Rounded Rectangle 11"/>
          <p:cNvSpPr/>
          <p:nvPr/>
        </p:nvSpPr>
        <p:spPr>
          <a:xfrm>
            <a:off x="4352544" y="2907792"/>
            <a:ext cx="3401568" cy="1353312"/>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52544" y="2907792"/>
            <a:ext cx="64008" cy="135331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108960"/>
            <a:ext cx="2980944" cy="329184"/>
          </a:xfrm>
          <a:prstGeom prst="rect">
            <a:avLst/>
          </a:prstGeom>
          <a:noFill/>
        </p:spPr>
        <p:txBody>
          <a:bodyPr wrap="square" lIns="45720" rIns="45720" anchor="t">
            <a:spAutoFit/>
          </a:bodyPr>
          <a:lstStyle/>
          <a:p>
            <a:pPr algn="l">
              <a:lnSpc>
                <a:spcPct val="100000"/>
              </a:lnSpc>
              <a:spcBef>
                <a:spcPts val="0"/>
              </a:spcBef>
              <a:spcAft>
                <a:spcPts val="0"/>
              </a:spcAft>
            </a:pPr>
            <a:r>
              <a:rPr sz="1600" b="1" i="0">
                <a:solidFill>
                  <a:srgbClr val="111111"/>
                </a:solidFill>
                <a:latin typeface="Arial"/>
              </a:rPr>
              <a:t>Then</a:t>
            </a:r>
          </a:p>
        </p:txBody>
      </p:sp>
      <p:sp>
        <p:nvSpPr>
          <p:cNvPr id="15" name="TextBox 14"/>
          <p:cNvSpPr txBox="1"/>
          <p:nvPr/>
        </p:nvSpPr>
        <p:spPr>
          <a:xfrm>
            <a:off x="4572000" y="3511296"/>
            <a:ext cx="2980944" cy="621791"/>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Every hypothesis settled on the exam set, and the first tier frozen.</a:t>
            </a:r>
          </a:p>
        </p:txBody>
      </p:sp>
      <p:sp>
        <p:nvSpPr>
          <p:cNvPr id="16" name="Rounded Rectangle 15"/>
          <p:cNvSpPr/>
          <p:nvPr/>
        </p:nvSpPr>
        <p:spPr>
          <a:xfrm>
            <a:off x="7955279" y="2907792"/>
            <a:ext cx="3401568" cy="1353312"/>
          </a:xfrm>
          <a:prstGeom prst="round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79" y="2907792"/>
            <a:ext cx="64008" cy="135331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3108960"/>
            <a:ext cx="2980944" cy="329184"/>
          </a:xfrm>
          <a:prstGeom prst="rect">
            <a:avLst/>
          </a:prstGeom>
          <a:noFill/>
        </p:spPr>
        <p:txBody>
          <a:bodyPr wrap="square" lIns="45720" rIns="45720" anchor="t">
            <a:spAutoFit/>
          </a:bodyPr>
          <a:lstStyle/>
          <a:p>
            <a:pPr algn="l">
              <a:lnSpc>
                <a:spcPct val="100000"/>
              </a:lnSpc>
              <a:spcBef>
                <a:spcPts val="0"/>
              </a:spcBef>
              <a:spcAft>
                <a:spcPts val="0"/>
              </a:spcAft>
            </a:pPr>
            <a:r>
              <a:rPr sz="1600" b="1" i="0">
                <a:solidFill>
                  <a:srgbClr val="111111"/>
                </a:solidFill>
                <a:latin typeface="Arial"/>
              </a:rPr>
              <a:t>Later</a:t>
            </a:r>
          </a:p>
        </p:txBody>
      </p:sp>
      <p:sp>
        <p:nvSpPr>
          <p:cNvPr id="19" name="TextBox 18"/>
          <p:cNvSpPr txBox="1"/>
          <p:nvPr/>
        </p:nvSpPr>
        <p:spPr>
          <a:xfrm>
            <a:off x="8174736" y="3511296"/>
            <a:ext cx="2980944" cy="621791"/>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Real-radio replay and the live demo are stretch goals. The project does not depend on them.</a:t>
            </a:r>
          </a:p>
        </p:txBody>
      </p:sp>
      <p:sp>
        <p:nvSpPr>
          <p:cNvPr id="20" name="Rounded Rectangle 19"/>
          <p:cNvSpPr/>
          <p:nvPr/>
        </p:nvSpPr>
        <p:spPr>
          <a:xfrm>
            <a:off x="749808" y="4462272"/>
            <a:ext cx="10698480" cy="987552"/>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87552" y="4645152"/>
            <a:ext cx="1645920" cy="256032"/>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 y="4686300"/>
            <a:ext cx="1481328" cy="173736"/>
          </a:xfrm>
          <a:prstGeom prst="rect">
            <a:avLst/>
          </a:prstGeom>
          <a:noFill/>
        </p:spPr>
        <p:txBody>
          <a:bodyPr wrap="square" lIns="45720" rIns="45720" anchor="ctr">
            <a:spAutoFit/>
          </a:bodyPr>
          <a:lstStyle/>
          <a:p>
            <a:pPr algn="l">
              <a:lnSpc>
                <a:spcPct val="100000"/>
              </a:lnSpc>
              <a:spcBef>
                <a:spcPts val="0"/>
              </a:spcBef>
              <a:spcAft>
                <a:spcPts val="0"/>
              </a:spcAft>
            </a:pPr>
            <a:r>
              <a:rPr sz="819" b="1" i="0">
                <a:solidFill>
                  <a:srgbClr val="111111"/>
                </a:solidFill>
                <a:latin typeface="Arial"/>
              </a:rPr>
              <a:t>EVIDENCE TRAIL</a:t>
            </a:r>
          </a:p>
        </p:txBody>
      </p:sp>
      <p:sp>
        <p:nvSpPr>
          <p:cNvPr id="23" name="TextBox 22"/>
          <p:cNvSpPr txBox="1"/>
          <p:nvPr/>
        </p:nvSpPr>
        <p:spPr>
          <a:xfrm>
            <a:off x="987552" y="5010912"/>
            <a:ext cx="10222992" cy="329184"/>
          </a:xfrm>
          <a:prstGeom prst="rect">
            <a:avLst/>
          </a:prstGeom>
          <a:noFill/>
        </p:spPr>
        <p:txBody>
          <a:bodyPr wrap="square" lIns="45720" rIns="45720" anchor="t">
            <a:spAutoFit/>
          </a:bodyPr>
          <a:lstStyle/>
          <a:p>
            <a:pPr algn="ctr">
              <a:lnSpc>
                <a:spcPct val="100000"/>
              </a:lnSpc>
              <a:spcBef>
                <a:spcPts val="0"/>
              </a:spcBef>
              <a:spcAft>
                <a:spcPts val="0"/>
              </a:spcAft>
            </a:pPr>
            <a:r>
              <a:rPr sz="1050" b="0" i="0">
                <a:solidFill>
                  <a:srgbClr val="111111"/>
                </a:solidFill>
                <a:latin typeface="Arial"/>
              </a:rPr>
              <a:t>252-measurement record and per-picture manifest in results/learned/w10/ · figures and data in presentation-results/ · requirements and changes in spec/SPEC.md §17</a:t>
            </a:r>
          </a:p>
        </p:txBody>
      </p:sp>
      <p:sp>
        <p:nvSpPr>
          <p:cNvPr id="24" name="Rounded Rectangle 23"/>
          <p:cNvSpPr/>
          <p:nvPr/>
        </p:nvSpPr>
        <p:spPr>
          <a:xfrm>
            <a:off x="749808" y="5614416"/>
            <a:ext cx="10698480" cy="585216"/>
          </a:xfrm>
          <a:prstGeom prst="round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5724144"/>
            <a:ext cx="10259568" cy="384048"/>
          </a:xfrm>
          <a:prstGeom prst="rect">
            <a:avLst/>
          </a:prstGeom>
          <a:noFill/>
        </p:spPr>
        <p:txBody>
          <a:bodyPr wrap="square" lIns="45720" rIns="45720" anchor="t">
            <a:spAutoFit/>
          </a:bodyPr>
          <a:lstStyle/>
          <a:p>
            <a:pPr algn="ctr">
              <a:lnSpc>
                <a:spcPct val="100000"/>
              </a:lnSpc>
              <a:spcBef>
                <a:spcPts val="0"/>
              </a:spcBef>
              <a:spcAft>
                <a:spcPts val="0"/>
              </a:spcAft>
            </a:pPr>
            <a:r>
              <a:rPr sz="1200" b="1" i="0">
                <a:solidFill>
                  <a:srgbClr val="111111"/>
                </a:solidFill>
                <a:latin typeface="Arial"/>
              </a:rPr>
              <a:t>The exam set has never been opened. It stays that way through every gate, run and record in this project.</a:t>
            </a:r>
          </a:p>
        </p:txBody>
      </p:sp>
      <p:cxnSp>
        <p:nvCxnSpPr>
          <p:cNvPr id="26" name="Connector 25"/>
          <p:cNvCxnSpPr/>
          <p:nvPr/>
        </p:nvCxnSpPr>
        <p:spPr>
          <a:xfrm>
            <a:off x="530352" y="6446520"/>
            <a:ext cx="1110996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30352" y="6519672"/>
            <a:ext cx="75438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3503" y="6547104"/>
            <a:ext cx="608075"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RESULTS</a:t>
            </a:r>
          </a:p>
        </p:txBody>
      </p:sp>
      <p:sp>
        <p:nvSpPr>
          <p:cNvPr id="29" name="Rounded Rectangle 28"/>
          <p:cNvSpPr/>
          <p:nvPr/>
        </p:nvSpPr>
        <p:spPr>
          <a:xfrm>
            <a:off x="1376172" y="6519672"/>
            <a:ext cx="1028700" cy="219456"/>
          </a:xfrm>
          <a:prstGeom prst="roundRect">
            <a:avLst/>
          </a:prstGeom>
          <a:solidFill>
            <a:srgbClr val="F3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49324" y="6547104"/>
            <a:ext cx="882396" cy="146304"/>
          </a:xfrm>
          <a:prstGeom prst="rect">
            <a:avLst/>
          </a:prstGeom>
          <a:noFill/>
        </p:spPr>
        <p:txBody>
          <a:bodyPr wrap="square" lIns="45720" rIns="45720" anchor="ctr">
            <a:spAutoFit/>
          </a:bodyPr>
          <a:lstStyle/>
          <a:p>
            <a:pPr algn="l">
              <a:lnSpc>
                <a:spcPct val="100000"/>
              </a:lnSpc>
              <a:spcBef>
                <a:spcPts val="0"/>
              </a:spcBef>
              <a:spcAft>
                <a:spcPts val="0"/>
              </a:spcAft>
            </a:pPr>
            <a:r>
              <a:rPr sz="760" b="1" i="0">
                <a:solidFill>
                  <a:srgbClr val="111111"/>
                </a:solidFill>
                <a:latin typeface="Arial"/>
              </a:rPr>
              <a:t>METHODOLOGY</a:t>
            </a:r>
          </a:p>
        </p:txBody>
      </p:sp>
      <p:sp>
        <p:nvSpPr>
          <p:cNvPr id="31" name="TextBox 30"/>
          <p:cNvSpPr txBox="1"/>
          <p:nvPr/>
        </p:nvSpPr>
        <p:spPr>
          <a:xfrm>
            <a:off x="3886200" y="6528816"/>
            <a:ext cx="7086600" cy="201168"/>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55555"/>
                </a:solidFill>
                <a:latin typeface="Arial"/>
              </a:rPr>
              <a:t>Questions welcome — the detail is in the repository, not on this slide</a:t>
            </a:r>
          </a:p>
        </p:txBody>
      </p:sp>
      <p:sp>
        <p:nvSpPr>
          <p:cNvPr id="32" name="TextBox 31"/>
          <p:cNvSpPr txBox="1"/>
          <p:nvPr/>
        </p:nvSpPr>
        <p:spPr>
          <a:xfrm>
            <a:off x="10625328" y="6519672"/>
            <a:ext cx="1005840" cy="201168"/>
          </a:xfrm>
          <a:prstGeom prst="rect">
            <a:avLst/>
          </a:prstGeom>
          <a:noFill/>
        </p:spPr>
        <p:txBody>
          <a:bodyPr wrap="square" lIns="45720" rIns="45720" anchor="ctr">
            <a:spAutoFit/>
          </a:bodyPr>
          <a:lstStyle/>
          <a:p>
            <a:pPr algn="r">
              <a:lnSpc>
                <a:spcPct val="100000"/>
              </a:lnSpc>
              <a:spcBef>
                <a:spcPts val="0"/>
              </a:spcBef>
              <a:spcAft>
                <a:spcPts val="0"/>
              </a:spcAft>
            </a:pPr>
            <a:r>
              <a:rPr sz="860" b="0" i="0">
                <a:solidFill>
                  <a:srgbClr val="555555"/>
                </a:solidFill>
                <a:latin typeface="Arial"/>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Task-Oriented Deep Joint Source–Channel Coding — Second Review</dc:title>
  <dc:subject>Capstone Second Review, 29 September – 3 October 2026</dc:subject>
  <dc:creator>Capstone project team</dc:creator>
  <cp:keywords/>
  <dc:description>W10 validation evidence only; test split sealed. Editable native shapes and text.</dc:description>
  <cp:lastModifiedBy>Steve Canny</cp:lastModifiedBy>
  <cp:revision>1</cp:revision>
  <dcterms:created xsi:type="dcterms:W3CDTF">2013-01-27T09:14:16Z</dcterms:created>
  <dcterms:modified xsi:type="dcterms:W3CDTF">2013-01-27T09:15:58Z</dcterms:modified>
  <cp:category/>
</cp:coreProperties>
</file>