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Semantic Communication + AI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1353312"/>
            <a:ext cx="10844784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0" i="1">
                <a:solidFill>
                  <a:srgbClr val="203A57"/>
                </a:solidFill>
                <a:latin typeface="Georgia"/>
              </a:rPr>
              <a:t>Can a camera send only the information a receiver needs—without sending every pixel perfectly?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4128" y="2212848"/>
            <a:ext cx="2834640" cy="1243584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523744"/>
            <a:ext cx="243230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03A57"/>
                </a:solidFill>
                <a:latin typeface="Arial"/>
              </a:rPr>
              <a:t>EDGE CAMERA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2953512"/>
            <a:ext cx="243230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8212B"/>
                </a:solidFill>
                <a:latin typeface="Georgia"/>
              </a:rPr>
              <a:t>observes an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72584" y="2212848"/>
            <a:ext cx="2834640" cy="1243584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3752" y="2523744"/>
            <a:ext cx="243230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3346"/>
                </a:solidFill>
                <a:latin typeface="Arial"/>
              </a:rPr>
              <a:t>LIMITED + NOISY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953512"/>
            <a:ext cx="243230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8212B"/>
                </a:solidFill>
                <a:latin typeface="Georgia"/>
              </a:rPr>
              <a:t>cannot carry everything reliably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212848"/>
            <a:ext cx="2834640" cy="1243584"/>
          </a:xfrm>
          <a:prstGeom prst="roundRect">
            <a:avLst/>
          </a:prstGeom>
          <a:solidFill>
            <a:srgbClr val="E8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2523744"/>
            <a:ext cx="243230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96B5A"/>
                </a:solidFill>
                <a:latin typeface="Arial"/>
              </a:rPr>
              <a:t>RECEIVER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2953512"/>
            <a:ext cx="243230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8212B"/>
                </a:solidFill>
                <a:latin typeface="Georgia"/>
              </a:rPr>
              <a:t>only needs the correct class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50208" y="2834640"/>
            <a:ext cx="585216" cy="0"/>
          </a:xfrm>
          <a:prstGeom prst="line">
            <a:avLst/>
          </a:prstGeom>
          <a:ln w="15240">
            <a:solidFill>
              <a:srgbClr val="A8AF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4471416" y="2784348"/>
            <a:ext cx="128016" cy="100584"/>
          </a:xfrm>
          <a:prstGeom prst="triangle">
            <a:avLst/>
          </a:prstGeom>
          <a:solidFill>
            <a:srgbClr val="A8A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598664" y="2834640"/>
            <a:ext cx="585216" cy="0"/>
          </a:xfrm>
          <a:prstGeom prst="line">
            <a:avLst/>
          </a:prstGeom>
          <a:ln w="15240">
            <a:solidFill>
              <a:srgbClr val="A8AF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8119872" y="2784348"/>
            <a:ext cx="128016" cy="100584"/>
          </a:xfrm>
          <a:prstGeom prst="triangle">
            <a:avLst/>
          </a:prstGeom>
          <a:solidFill>
            <a:srgbClr val="A8A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3986784"/>
            <a:ext cx="10268712" cy="1243584"/>
          </a:xfrm>
          <a:prstGeom prst="roundRect">
            <a:avLst/>
          </a:prstGeom>
          <a:solidFill>
            <a:srgbClr val="FFFEFA"/>
          </a:solidFill>
          <a:ln w="13970">
            <a:solidFill>
              <a:srgbClr val="8A3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225296" y="4215384"/>
            <a:ext cx="804672" cy="246888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4251960"/>
            <a:ext cx="658368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8A3346"/>
                </a:solidFill>
                <a:latin typeface="Arial"/>
              </a:rPr>
              <a:t>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4599432"/>
            <a:ext cx="9747504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8212B"/>
                </a:solidFill>
                <a:latin typeface="Georgia"/>
              </a:rPr>
              <a:t>Train the sender and receiver together so the information needed for classification survives a limited, noisy link.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0552" y="5669280"/>
            <a:ext cx="792784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1">
                <a:solidFill>
                  <a:srgbClr val="5B6570"/>
                </a:solidFill>
                <a:latin typeface="Arial"/>
              </a:rPr>
              <a:t>A simulation-first capstone with an optional real-radio demonstration later.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30352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5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MOTIVATION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27048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Official scope: supervised neural DJSCC for edge AI · First Review baseline 12 Aug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What problem are we solving?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9808" y="1335024"/>
            <a:ext cx="10689336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03A57"/>
                </a:solidFill>
                <a:latin typeface="Georgia"/>
              </a:rPr>
              <a:t>Imagine a remote camera sending images to a server that decides what it sees.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938528"/>
            <a:ext cx="6684264" cy="34472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167128"/>
            <a:ext cx="1143000" cy="24688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203704"/>
            <a:ext cx="996696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Arial"/>
              </a:rPr>
              <a:t>REAL-WORLD TENSION</a:t>
            </a:r>
          </a:p>
        </p:txBody>
      </p:sp>
      <p:sp>
        <p:nvSpPr>
          <p:cNvPr id="10" name="Oval 9"/>
          <p:cNvSpPr/>
          <p:nvPr/>
        </p:nvSpPr>
        <p:spPr>
          <a:xfrm>
            <a:off x="1014984" y="2734056"/>
            <a:ext cx="274320" cy="274320"/>
          </a:xfrm>
          <a:prstGeom prst="ellips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2798064"/>
            <a:ext cx="274320" cy="109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2706624"/>
            <a:ext cx="20756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8212B"/>
                </a:solidFill>
                <a:latin typeface="Georgia"/>
              </a:rPr>
              <a:t>The sensor is constrained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688336"/>
            <a:ext cx="35295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5B6570"/>
                </a:solidFill>
                <a:latin typeface="Arial"/>
              </a:rPr>
              <a:t>Bandwidth, latency and energy are limited at the edge.</a:t>
            </a:r>
          </a:p>
        </p:txBody>
      </p:sp>
      <p:sp>
        <p:nvSpPr>
          <p:cNvPr id="14" name="Oval 13"/>
          <p:cNvSpPr/>
          <p:nvPr/>
        </p:nvSpPr>
        <p:spPr>
          <a:xfrm>
            <a:off x="1014984" y="3557015"/>
            <a:ext cx="274320" cy="274320"/>
          </a:xfrm>
          <a:prstGeom prst="ellips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3621024"/>
            <a:ext cx="274320" cy="109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3529584"/>
            <a:ext cx="20756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8212B"/>
                </a:solidFill>
                <a:latin typeface="Georgia"/>
              </a:rPr>
              <a:t>The wireless link is imperfect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3511296"/>
            <a:ext cx="35295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5B6570"/>
                </a:solidFill>
                <a:latin typeface="Arial"/>
              </a:rPr>
              <a:t>Noise can corrupt a short message or make decoding fail.</a:t>
            </a:r>
          </a:p>
        </p:txBody>
      </p:sp>
      <p:sp>
        <p:nvSpPr>
          <p:cNvPr id="18" name="Oval 17"/>
          <p:cNvSpPr/>
          <p:nvPr/>
        </p:nvSpPr>
        <p:spPr>
          <a:xfrm>
            <a:off x="1014984" y="4379976"/>
            <a:ext cx="274320" cy="274320"/>
          </a:xfrm>
          <a:prstGeom prst="ellips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" y="4443983"/>
            <a:ext cx="274320" cy="109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4352544"/>
            <a:ext cx="20756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8212B"/>
                </a:solidFill>
                <a:latin typeface="Georgia"/>
              </a:rPr>
              <a:t>The receiver has a narrow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4334256"/>
            <a:ext cx="35295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5B6570"/>
                </a:solidFill>
                <a:latin typeface="Arial"/>
              </a:rPr>
              <a:t>For classification, the final question is often simply: what is in the image?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54112" y="1938528"/>
            <a:ext cx="3694176" cy="3447288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19288" y="2167128"/>
            <a:ext cx="1078992" cy="2468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2440" y="2203704"/>
            <a:ext cx="932688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8A3346"/>
                </a:solidFill>
                <a:latin typeface="Arial"/>
              </a:rPr>
              <a:t>DESIGN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4152" y="2788920"/>
            <a:ext cx="3054096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 i="0">
                <a:solidFill>
                  <a:srgbClr val="18212B"/>
                </a:solidFill>
                <a:latin typeface="Georgia"/>
              </a:rPr>
              <a:t>Why spend the entire link budget reconstructing every pixel if the receiver ultimately needs a task decision?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4315968"/>
            <a:ext cx="290779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8A3346"/>
                </a:solidFill>
                <a:latin typeface="Arial"/>
              </a:rPr>
              <a:t>The project tests this question; it does not assume the learned method must win.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00200" y="5678424"/>
            <a:ext cx="8988552" cy="420624"/>
          </a:xfrm>
          <a:prstGeom prst="roundRect">
            <a:avLst/>
          </a:prstGeom>
          <a:solidFill>
            <a:srgbClr val="F4E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19656" y="5779008"/>
            <a:ext cx="8549640" cy="1737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A46A28"/>
                </a:solidFill>
                <a:latin typeface="Georgia"/>
              </a:rPr>
              <a:t>Goal: preserve the receiver's classification decision without requiring a perfect copy of every image.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30352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5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MOTIVATION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Original proposal: Semantic Communication + AI · edge/IoT application framing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How the proposed system changes the usual approach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49808" y="1417320"/>
            <a:ext cx="10680192" cy="1243584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417320"/>
            <a:ext cx="64008" cy="1243584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1627632"/>
            <a:ext cx="221284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03A57"/>
                </a:solidFill>
                <a:latin typeface="Arial"/>
              </a:rPr>
              <a:t>CONVENTIONAL COMMUNICATION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2112" y="1609344"/>
            <a:ext cx="782726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 i="0">
                <a:solidFill>
                  <a:srgbClr val="18212B"/>
                </a:solidFill>
                <a:latin typeface="Georgia"/>
              </a:rPr>
              <a:t>Compress the image → protect the bits → reconstruct the file → classify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0552"/>
            <a:ext cx="769924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1">
                <a:solidFill>
                  <a:srgbClr val="5B6570"/>
                </a:solidFill>
                <a:latin typeface="Arial"/>
              </a:rPr>
              <a:t>Primary objective: recover source bits and pixels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090672"/>
            <a:ext cx="10680192" cy="1243584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3090672"/>
            <a:ext cx="64008" cy="1243584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3300984"/>
            <a:ext cx="221284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3346"/>
                </a:solidFill>
                <a:latin typeface="Arial"/>
              </a:rPr>
              <a:t>PROPOSED LEARNED 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3282696"/>
            <a:ext cx="782726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 i="0">
                <a:solidFill>
                  <a:srgbClr val="18212B"/>
                </a:solidFill>
                <a:latin typeface="Georgia"/>
              </a:rPr>
              <a:t>Learned sender → noisy link → learned receiver → class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3803904"/>
            <a:ext cx="769924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1">
                <a:solidFill>
                  <a:srgbClr val="5B6570"/>
                </a:solidFill>
                <a:latin typeface="Arial"/>
              </a:rPr>
              <a:t>Primary objective: preserve information needed for the task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4754880"/>
            <a:ext cx="6839712" cy="1124712"/>
          </a:xfrm>
          <a:prstGeom prst="roundRect">
            <a:avLst/>
          </a:prstGeom>
          <a:solidFill>
            <a:srgbClr val="E8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4974336"/>
            <a:ext cx="1298448" cy="2468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5010912"/>
            <a:ext cx="1152144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496B5A"/>
                </a:solidFill>
                <a:latin typeface="Arial"/>
              </a:rPr>
              <a:t>EXPECTED SIGNATURE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5404104"/>
            <a:ext cx="6291072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8212B"/>
                </a:solidFill>
                <a:latin typeface="Georgia"/>
              </a:rPr>
              <a:t>As the link worsens, a separated chain may hit a decoding cliff; a learned joint system may degrade more gradually.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4754880"/>
            <a:ext cx="3529584" cy="1124712"/>
          </a:xfrm>
          <a:prstGeom prst="roundRect">
            <a:avLst/>
          </a:prstGeom>
          <a:solidFill>
            <a:srgbClr val="F4E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4983480"/>
            <a:ext cx="3054096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A46A28"/>
                </a:solidFill>
                <a:latin typeface="Arial"/>
              </a:rPr>
              <a:t>IMPORTANT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5340096"/>
            <a:ext cx="2980944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8212B"/>
                </a:solidFill>
                <a:latin typeface="Arial"/>
              </a:rPr>
              <a:t>A digital system can also send learned features—so the experiment includes that third arm.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0824" y="6108192"/>
            <a:ext cx="8147304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8A3346"/>
                </a:solidFill>
                <a:latin typeface="Georgia"/>
              </a:rPr>
              <a:t>Research question: does the task-oriented joint design help after bandwidth, noise and comparison strength are matched fairly?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30352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5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MOTIVATION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63040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27048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Conceptual behavior only—not measured project results · formal three-arm experiment begins on slide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Literature survey and research gap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89888"/>
            <a:ext cx="5285232" cy="166420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89888"/>
            <a:ext cx="64008" cy="1664208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91056"/>
            <a:ext cx="4279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8212B"/>
                </a:solidFill>
                <a:latin typeface="Georgia"/>
              </a:rPr>
              <a:t>Finite blocklength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504" y="1609344"/>
            <a:ext cx="512064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03A57"/>
                </a:solidFill>
                <a:latin typeface="Cascadia Mono"/>
              </a:rPr>
              <a:t>[1–4]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20824"/>
            <a:ext cx="48006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B6570"/>
                </a:solidFill>
                <a:latin typeface="Arial"/>
              </a:rPr>
              <a:t>Rate backs off from capacity; source and channel dispersions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551176"/>
            <a:ext cx="10972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203A57"/>
                </a:solidFill>
                <a:latin typeface="Arial"/>
              </a:rPr>
              <a:t>OPEN ISSUE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505456"/>
            <a:ext cx="3822191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1">
                <a:solidFill>
                  <a:srgbClr val="18212B"/>
                </a:solidFill>
                <a:latin typeface="Arial"/>
              </a:rPr>
              <a:t>Need measured practical short-packet loss.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389888"/>
            <a:ext cx="5285232" cy="166420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389888"/>
            <a:ext cx="64008" cy="1664208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91056"/>
            <a:ext cx="4279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8212B"/>
                </a:solidFill>
                <a:latin typeface="Georgia"/>
              </a:rPr>
              <a:t>Learned compression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2488" y="1609344"/>
            <a:ext cx="512064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3346"/>
                </a:solidFill>
                <a:latin typeface="Cascadia Mono"/>
              </a:rPr>
              <a:t>[11–17]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20824"/>
            <a:ext cx="48006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B6570"/>
                </a:solidFill>
                <a:latin typeface="Arial"/>
              </a:rPr>
              <a:t>End-to-end transforms and entropy priors improve rate–distortion.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51176"/>
            <a:ext cx="10972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3346"/>
                </a:solidFill>
                <a:latin typeface="Arial"/>
              </a:rPr>
              <a:t>OPEN ISSUE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2505456"/>
            <a:ext cx="3822191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1">
                <a:solidFill>
                  <a:srgbClr val="18212B"/>
                </a:solidFill>
                <a:latin typeface="Arial"/>
              </a:rPr>
              <a:t>Reconstruction optimization is not task optimization.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337560"/>
            <a:ext cx="5285232" cy="166420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337560"/>
            <a:ext cx="64008" cy="1664208"/>
          </a:xfrm>
          <a:prstGeom prst="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3538728"/>
            <a:ext cx="4279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8212B"/>
                </a:solidFill>
                <a:latin typeface="Georgia"/>
              </a:rPr>
              <a:t>DeepJSCC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75504" y="3557015"/>
            <a:ext cx="512064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6B5A"/>
                </a:solidFill>
                <a:latin typeface="Cascadia Mono"/>
              </a:rPr>
              <a:t>[5–10,24]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3968496"/>
            <a:ext cx="48006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B6570"/>
                </a:solidFill>
                <a:latin typeface="Arial"/>
              </a:rPr>
              <a:t>Continuous learned mappings exhibit graceful degradation under mismatch.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498848"/>
            <a:ext cx="10972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496B5A"/>
                </a:solidFill>
                <a:latin typeface="Arial"/>
              </a:rPr>
              <a:t>OPEN ISSUE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7088" y="4453128"/>
            <a:ext cx="3822191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1">
                <a:solidFill>
                  <a:srgbClr val="18212B"/>
                </a:solidFill>
                <a:latin typeface="Arial"/>
              </a:rPr>
              <a:t>Most image studies foreground reconstruction quality.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5352" y="3337560"/>
            <a:ext cx="5285232" cy="166420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45352" y="3337560"/>
            <a:ext cx="64008" cy="1664208"/>
          </a:xfrm>
          <a:prstGeom prst="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3538728"/>
            <a:ext cx="4279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8212B"/>
                </a:solidFill>
                <a:latin typeface="Georgia"/>
              </a:rPr>
              <a:t>Task-oriented communication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62488" y="3557015"/>
            <a:ext cx="512064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46A28"/>
                </a:solidFill>
                <a:latin typeface="Cascadia Mono"/>
              </a:rPr>
              <a:t>[18–23]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3968496"/>
            <a:ext cx="48006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B6570"/>
                </a:solidFill>
                <a:latin typeface="Arial"/>
              </a:rPr>
              <a:t>Learned representations can preserve remote inference under link constraints.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4498848"/>
            <a:ext cx="10972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A46A28"/>
                </a:solidFill>
                <a:latin typeface="Arial"/>
              </a:rPr>
              <a:t>OPEN ISSUE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2" y="4453128"/>
            <a:ext cx="3822191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1">
                <a:solidFill>
                  <a:srgbClr val="18212B"/>
                </a:solidFill>
                <a:latin typeface="Arial"/>
              </a:rPr>
              <a:t>Task awareness must be separated from joint coding.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3856" y="5394960"/>
            <a:ext cx="9912096" cy="603504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3312" y="5559552"/>
            <a:ext cx="94731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203A57"/>
                </a:solidFill>
                <a:latin typeface="Georgia"/>
              </a:rPr>
              <a:t>Gap carried forward: separate neural representation learning from joint channel coding in a controlled three-way comparison.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530352" y="6519672"/>
            <a:ext cx="1075334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59" y="6547104"/>
            <a:ext cx="947318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PROBLEM SURVEY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697126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1134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30-source synthesis in docs/literature-review.md · references [1]–[23]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Objectives and research hypotheses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353312"/>
            <a:ext cx="4114800" cy="477316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572768"/>
            <a:ext cx="941832" cy="24688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609344"/>
            <a:ext cx="795528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39112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Train a residual neural encoder and dual-head decoder through AWGN.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79192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60904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Implement a standards-derived, non-strawman JPEG 2000 + NR LDPC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300984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282696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Tune classical quality, code rate and modulation on validation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922776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904488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Add a shared-encoder digital AI feature control for attribution.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544568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526280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Evaluate paired image outcomes once on the sealed test split.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166360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5148072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Report positive, null or negative outcomes under one frozen protocol.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1353312"/>
            <a:ext cx="6473952" cy="2414016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40096" y="1591056"/>
            <a:ext cx="1078992" cy="2468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248" y="1627632"/>
            <a:ext cx="932688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8A3346"/>
                </a:solidFill>
                <a:latin typeface="Arial"/>
              </a:rPr>
              <a:t>H1 · PRIMARY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0096" y="2011680"/>
            <a:ext cx="592531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8212B"/>
                </a:solidFill>
                <a:latin typeface="Georgia"/>
              </a:rPr>
              <a:t>Low-SNR separation: learned − classical_adaptive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2551176"/>
            <a:ext cx="58064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B6570"/>
                </a:solidFill>
                <a:latin typeface="Arial"/>
              </a:rPr>
              <a:t>A point qualifies when √N·Δ̂(s)/σ̂(s) &gt; 1.96. H1 is supported only if the longest run R_obs contains at least three consecutive qualifying points at or below the training SNR and the calibrated run p-value ≤ 0.05.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096" y="3355848"/>
            <a:ext cx="5797296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1">
                <a:solidFill>
                  <a:srgbClr val="8A3346"/>
                </a:solidFill>
                <a:latin typeface="Arial"/>
              </a:rPr>
              <a:t>Effect size of record: mean paired accuracy difference over the full low-SNR region.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74920" y="3995928"/>
            <a:ext cx="6473952" cy="530352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4142232"/>
            <a:ext cx="4114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03A57"/>
                </a:solidFill>
                <a:latin typeface="Cascadia Mono"/>
              </a:rPr>
              <a:t>H2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105656"/>
            <a:ext cx="1426464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8212B"/>
                </a:solidFill>
                <a:latin typeface="Georgia"/>
              </a:rPr>
              <a:t>Graceful vs cliff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087368"/>
            <a:ext cx="409651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5B6570"/>
                </a:solidFill>
                <a:latin typeface="Arial"/>
              </a:rPr>
              <a:t>Fixed classical curve drops ≥30 pp while learned drops ≤15 pp over the frozen window.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4920" y="4654296"/>
            <a:ext cx="6473952" cy="530352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76088" y="4800600"/>
            <a:ext cx="4114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03A57"/>
                </a:solidFill>
                <a:latin typeface="Cascadia Mono"/>
              </a:rPr>
              <a:t>H3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764024"/>
            <a:ext cx="1426464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8212B"/>
                </a:solidFill>
                <a:latin typeface="Georgia"/>
              </a:rPr>
              <a:t>Convergence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59752" y="4745736"/>
            <a:ext cx="409651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5B6570"/>
                </a:solidFill>
                <a:latin typeface="Arial"/>
              </a:rPr>
              <a:t>Paired gap trends toward zero across SNR; crossover is reported, not required.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4920" y="5312664"/>
            <a:ext cx="6473952" cy="530352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76088" y="5458968"/>
            <a:ext cx="4114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03A57"/>
                </a:solidFill>
                <a:latin typeface="Cascadia Mono"/>
              </a:rPr>
              <a:t>H4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0" y="5422392"/>
            <a:ext cx="1426464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8212B"/>
                </a:solidFill>
                <a:latin typeface="Georgia"/>
              </a:rPr>
              <a:t>Attribution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9752" y="5404104"/>
            <a:ext cx="409651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5B6570"/>
                </a:solidFill>
                <a:latin typeface="Arial"/>
              </a:rPr>
              <a:t>Credit joint coding only if DJSCC also exceeds the task-aware digital control under the H1 rule.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30352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5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63040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7048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HYPOTHESIS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Exact decision protocol: SPEC §2 and ER-10 · H1 is the sole confirmatory primary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Proposed methodology: three-system comparison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53312"/>
            <a:ext cx="1298448" cy="4343400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27632"/>
            <a:ext cx="914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03A57"/>
                </a:solidFill>
                <a:latin typeface="Arial"/>
              </a:rPr>
              <a:t>IMAGENETTE-160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2066543"/>
            <a:ext cx="950976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8212B"/>
                </a:solidFill>
                <a:latin typeface="Arial"/>
              </a:rPr>
              <a:t>canonical</a:t>
            </a:r>
            <a:br/>
            <a:r>
              <a:rPr sz="1000" b="0" i="0">
                <a:solidFill>
                  <a:srgbClr val="18212B"/>
                </a:solidFill>
                <a:latin typeface="Arial"/>
              </a:rPr>
              <a:t>160 × 160 RGB</a:t>
            </a:r>
            <a:br/>
            <a:r>
              <a:rPr sz="1000" b="0" i="0">
                <a:solidFill>
                  <a:srgbClr val="18212B"/>
                </a:solidFill>
                <a:latin typeface="Arial"/>
              </a:rPr>
              <a:t>preprocessing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108960"/>
            <a:ext cx="950976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B6570"/>
                </a:solidFill>
                <a:latin typeface="Cascadia Mono"/>
              </a:rPr>
              <a:t>stable sample ID</a:t>
            </a:r>
            <a:br/>
            <a:r>
              <a:rPr sz="919" b="0" i="0">
                <a:solidFill>
                  <a:srgbClr val="5B6570"/>
                </a:solidFill>
                <a:latin typeface="Cascadia Mono"/>
              </a:rPr>
              <a:t>+ split manifest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93392" y="3474720"/>
            <a:ext cx="384048" cy="0"/>
          </a:xfrm>
          <a:prstGeom prst="line">
            <a:avLst/>
          </a:prstGeom>
          <a:ln w="15240">
            <a:solidFill>
              <a:srgbClr val="A8AF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2313432" y="3424427"/>
            <a:ext cx="128016" cy="100584"/>
          </a:xfrm>
          <a:prstGeom prst="triangle">
            <a:avLst/>
          </a:prstGeom>
          <a:solidFill>
            <a:srgbClr val="A8A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32304" y="199339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340864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03A57"/>
                </a:solidFill>
                <a:latin typeface="Arial"/>
              </a:rPr>
              <a:t>CLASSICAL +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377440"/>
            <a:ext cx="2340864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18212B"/>
                </a:solidFill>
                <a:latin typeface="Arial"/>
              </a:rPr>
              <a:t>JPEG 2000</a:t>
            </a:r>
            <a:br/>
            <a:r>
              <a:rPr sz="910" b="0" i="0">
                <a:solidFill>
                  <a:srgbClr val="18212B"/>
                </a:solidFill>
                <a:latin typeface="Arial"/>
              </a:rPr>
              <a:t>packetise + CRC</a:t>
            </a:r>
            <a:br/>
            <a:r>
              <a:rPr sz="910" b="0" i="0">
                <a:solidFill>
                  <a:srgbClr val="18212B"/>
                </a:solidFill>
                <a:latin typeface="Arial"/>
              </a:rPr>
              <a:t>NR LDPC + modulation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39512" y="2496312"/>
            <a:ext cx="384048" cy="0"/>
          </a:xfrm>
          <a:prstGeom prst="line">
            <a:avLst/>
          </a:prstGeom>
          <a:ln w="15240">
            <a:solidFill>
              <a:srgbClr val="203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5559552" y="2446020"/>
            <a:ext cx="128016" cy="100584"/>
          </a:xfrm>
          <a:prstGeom prst="triangle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05856" y="1993392"/>
            <a:ext cx="1700784" cy="1005840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88736" y="2322576"/>
            <a:ext cx="1335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03A57"/>
                </a:solidFill>
                <a:latin typeface="Cambria Math"/>
              </a:rPr>
              <a:t>AWGN</a:t>
            </a:r>
            <a:br/>
            <a:r>
              <a:rPr sz="1000" b="1" i="0">
                <a:solidFill>
                  <a:srgbClr val="203A57"/>
                </a:solidFill>
                <a:latin typeface="Cambria Math"/>
              </a:rPr>
              <a:t>keyed noise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79792" y="2496312"/>
            <a:ext cx="384048" cy="0"/>
          </a:xfrm>
          <a:prstGeom prst="line">
            <a:avLst/>
          </a:prstGeom>
          <a:ln w="15240">
            <a:solidFill>
              <a:srgbClr val="203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7799831" y="2446020"/>
            <a:ext cx="128016" cy="100584"/>
          </a:xfrm>
          <a:prstGeom prst="triangle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46136" y="199339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6448" y="2313432"/>
            <a:ext cx="2322576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8212B"/>
                </a:solidFill>
                <a:latin typeface="Arial"/>
              </a:rPr>
              <a:t>reconstruct image</a:t>
            </a:r>
            <a:br/>
            <a:r>
              <a:rPr sz="919" b="0" i="0">
                <a:solidFill>
                  <a:srgbClr val="18212B"/>
                </a:solidFill>
                <a:latin typeface="Arial"/>
              </a:rPr>
              <a:t>frozen ResNet-18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2304" y="327355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33472" y="3383280"/>
            <a:ext cx="2340864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3346"/>
                </a:solidFill>
                <a:latin typeface="Arial"/>
              </a:rPr>
              <a:t>AI FEATURE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3657600"/>
            <a:ext cx="2340864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18212B"/>
                </a:solidFill>
                <a:latin typeface="Arial"/>
              </a:rPr>
              <a:t>shared neural features</a:t>
            </a:r>
            <a:br/>
            <a:r>
              <a:rPr sz="910" b="0" i="0">
                <a:solidFill>
                  <a:srgbClr val="18212B"/>
                </a:solidFill>
                <a:latin typeface="Arial"/>
              </a:rPr>
              <a:t>quantize</a:t>
            </a:r>
            <a:br/>
            <a:r>
              <a:rPr sz="910" b="0" i="0">
                <a:solidFill>
                  <a:srgbClr val="18212B"/>
                </a:solidFill>
                <a:latin typeface="Arial"/>
              </a:rPr>
              <a:t>same LDPC + modulation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39512" y="3776472"/>
            <a:ext cx="384048" cy="0"/>
          </a:xfrm>
          <a:prstGeom prst="line">
            <a:avLst/>
          </a:prstGeom>
          <a:ln w="1524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5559552" y="3726180"/>
            <a:ext cx="128016" cy="100584"/>
          </a:xfrm>
          <a:prstGeom prst="triangl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705856" y="3273552"/>
            <a:ext cx="1700784" cy="1005840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88736" y="3602736"/>
            <a:ext cx="1335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mbria Math"/>
              </a:rPr>
              <a:t>AWGN</a:t>
            </a:r>
            <a:br/>
            <a:r>
              <a:rPr sz="1000" b="1" i="0">
                <a:solidFill>
                  <a:srgbClr val="8A3346"/>
                </a:solidFill>
                <a:latin typeface="Cambria Math"/>
              </a:rPr>
              <a:t>keyed noise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479792" y="3776472"/>
            <a:ext cx="384048" cy="0"/>
          </a:xfrm>
          <a:prstGeom prst="line">
            <a:avLst/>
          </a:prstGeom>
          <a:ln w="1524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7799831" y="3726180"/>
            <a:ext cx="128016" cy="100584"/>
          </a:xfrm>
          <a:prstGeom prst="triangl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46136" y="327355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56448" y="3593592"/>
            <a:ext cx="2322576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8212B"/>
                </a:solidFill>
                <a:latin typeface="Arial"/>
              </a:rPr>
              <a:t>decode features</a:t>
            </a:r>
            <a:br/>
            <a:r>
              <a:rPr sz="919" b="0" i="0">
                <a:solidFill>
                  <a:srgbClr val="18212B"/>
                </a:solidFill>
                <a:latin typeface="Arial"/>
              </a:rPr>
              <a:t>shared task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32304" y="455371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33472" y="4663440"/>
            <a:ext cx="2340864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6B5A"/>
                </a:solidFill>
                <a:latin typeface="Arial"/>
              </a:rPr>
              <a:t>NEURAL DJSCC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33472" y="4937760"/>
            <a:ext cx="2340864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18212B"/>
                </a:solidFill>
                <a:latin typeface="Arial"/>
              </a:rPr>
              <a:t>residual CNN encoder</a:t>
            </a:r>
            <a:br/>
            <a:r>
              <a:rPr sz="910" b="0" i="0">
                <a:solidFill>
                  <a:srgbClr val="18212B"/>
                </a:solidFill>
                <a:latin typeface="Arial"/>
              </a:rPr>
              <a:t>power normalize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239512" y="5056632"/>
            <a:ext cx="384048" cy="0"/>
          </a:xfrm>
          <a:prstGeom prst="line">
            <a:avLst/>
          </a:prstGeom>
          <a:ln w="15240">
            <a:solidFill>
              <a:srgbClr val="496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5559552" y="5006340"/>
            <a:ext cx="128016" cy="100584"/>
          </a:xfrm>
          <a:prstGeom prst="triangle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05856" y="4553712"/>
            <a:ext cx="1700784" cy="1005840"/>
          </a:xfrm>
          <a:prstGeom prst="roundRect">
            <a:avLst/>
          </a:prstGeom>
          <a:solidFill>
            <a:srgbClr val="E8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88736" y="4882896"/>
            <a:ext cx="1335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96B5A"/>
                </a:solidFill>
                <a:latin typeface="Cambria Math"/>
              </a:rPr>
              <a:t>AWGN</a:t>
            </a:r>
            <a:br/>
            <a:r>
              <a:rPr sz="1000" b="1" i="0">
                <a:solidFill>
                  <a:srgbClr val="496B5A"/>
                </a:solidFill>
                <a:latin typeface="Cambria Math"/>
              </a:rPr>
              <a:t>keyed noise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479792" y="5056632"/>
            <a:ext cx="384048" cy="0"/>
          </a:xfrm>
          <a:prstGeom prst="line">
            <a:avLst/>
          </a:prstGeom>
          <a:ln w="15240">
            <a:solidFill>
              <a:srgbClr val="496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Isosceles Triangle 41"/>
          <p:cNvSpPr/>
          <p:nvPr/>
        </p:nvSpPr>
        <p:spPr>
          <a:xfrm rot="5400000">
            <a:off x="7799831" y="5006340"/>
            <a:ext cx="128016" cy="100584"/>
          </a:xfrm>
          <a:prstGeom prst="triangle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946136" y="455371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56448" y="4873752"/>
            <a:ext cx="2322576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8212B"/>
                </a:solidFill>
                <a:latin typeface="Arial"/>
              </a:rPr>
              <a:t>dual-head decoder</a:t>
            </a:r>
            <a:br/>
            <a:r>
              <a:rPr sz="919" b="0" i="0">
                <a:solidFill>
                  <a:srgbClr val="18212B"/>
                </a:solidFill>
                <a:latin typeface="Arial"/>
              </a:rPr>
              <a:t>reconstruction + logits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32304" y="5715000"/>
            <a:ext cx="8257031" cy="347472"/>
          </a:xfrm>
          <a:prstGeom prst="roundRect">
            <a:avLst/>
          </a:prstGeom>
          <a:solidFill>
            <a:srgbClr val="F4E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33472" y="5797296"/>
            <a:ext cx="7872983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A46A28"/>
                </a:solidFill>
                <a:latin typeface="Cascadia Mono"/>
              </a:rPr>
              <a:t>Per-image paired row: verdict + exact k + measured Eₛ + noise identity + task outcome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833872"/>
            <a:ext cx="1298448" cy="256032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" y="5888736"/>
            <a:ext cx="1170432" cy="118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8A3346"/>
                </a:solidFill>
                <a:latin typeface="Arial"/>
              </a:rPr>
              <a:t>TEST SEALED → G-12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30352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59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72691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3669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SPEC SR-4, SR-17, BR-4, ER-9 · src/data/test_access.py is the sole release boundary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How we keep the comparison fair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71600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64008" cy="932688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Equal 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31136" y="1490472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Same complex-symbol budget k and Eₛ/N₀ definition; realized symbol energy is logged.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371600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371600"/>
            <a:ext cx="64008" cy="932688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527048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Strong comparator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3256" y="1490472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JPEG 2000 quality, LDPC rate and BPSK/QPSK/16-QAM tune per SNR on validation.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542032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542032"/>
            <a:ext cx="64008" cy="932688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697480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Exact accounting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31136" y="2660904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Container, CRC, code-block and filler bytes count; decode failures remain in the denominator.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2542032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2542032"/>
            <a:ext cx="64008" cy="932688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2697480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Measured BLER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3256" y="2660904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Every required physical identity is characterized; missing evidence is never treated as zero BLER.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712464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712464"/>
            <a:ext cx="64008" cy="932688"/>
          </a:xfrm>
          <a:prstGeom prst="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3867912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Outage policy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1136" y="3831336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Constant-class fallback is measured from validation counts—100/1,000—not assumed as 1/10.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712464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712464"/>
            <a:ext cx="64008" cy="932688"/>
          </a:xfrm>
          <a:prstGeom prst="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9944" y="3867912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Classifier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3256" y="3831336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Clean and artifact-finetuned classifier passes separate codec shift from link failure.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82896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82896"/>
            <a:ext cx="64008" cy="932688"/>
          </a:xfrm>
          <a:prstGeom prst="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038344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Attribution arm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31136" y="5001768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Quantized learned features traverse the same digital chain, isolating task awareness from joint coding.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882896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90488" y="4882896"/>
            <a:ext cx="64008" cy="932688"/>
          </a:xfrm>
          <a:prstGeom prst="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9944" y="5038344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One test campaign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5001768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All choices freeze before G-12; paired inference retains complete image × system trajectories.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17320" y="6053328"/>
            <a:ext cx="9354312" cy="256032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9344" y="6108192"/>
            <a:ext cx="8970264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8A3346"/>
                </a:solidFill>
                <a:latin typeface="Arial"/>
              </a:rPr>
              <a:t>Fail-closed rule: uncharacterized, infeasible and failed cases are explicit outcomes—not silently dropped rows.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30352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59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72691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3669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BR-4, BR-10/11, ER-3/4/9/10 · W4 integration adjudication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Preliminary work and feasibility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07592"/>
            <a:ext cx="10863072" cy="365760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1399032"/>
            <a:ext cx="1042416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8A3346"/>
                </a:solidFill>
                <a:latin typeface="Arial"/>
              </a:rPr>
              <a:t>NO HEADLINE COMPARISON EXISTS YET · bounded smoke is integration evidence, not scientific outcome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20240"/>
            <a:ext cx="2487168" cy="239572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20240"/>
            <a:ext cx="2487168" cy="73152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12848"/>
            <a:ext cx="212140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203A57"/>
                </a:solidFill>
                <a:latin typeface="Arial"/>
              </a:rPr>
              <a:t>G-1 · ResNet-18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61488"/>
            <a:ext cx="2157984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212B"/>
                </a:solidFill>
                <a:latin typeface="Georgia"/>
              </a:rPr>
              <a:t>89.8%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56432"/>
            <a:ext cx="21214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5B6570"/>
                </a:solidFill>
                <a:latin typeface="Arial"/>
              </a:rPr>
              <a:t>trained from scratch</a:t>
            </a:r>
            <a:br/>
            <a:r>
              <a:rPr sz="910" b="0" i="0">
                <a:solidFill>
                  <a:srgbClr val="5B6570"/>
                </a:solidFill>
                <a:latin typeface="Arial"/>
              </a:rPr>
              <a:t>898/1,000 validation top-1 ·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920240"/>
            <a:ext cx="2487168" cy="239572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920240"/>
            <a:ext cx="2487168" cy="73152"/>
          </a:xfrm>
          <a:prstGeom prst="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2212848"/>
            <a:ext cx="212140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496B5A"/>
                </a:solidFill>
                <a:latin typeface="Arial"/>
              </a:rPr>
              <a:t>G-7 · neural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761488"/>
            <a:ext cx="2157984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212B"/>
                </a:solidFill>
                <a:latin typeface="Georgia"/>
              </a:rPr>
              <a:t>1.64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456432"/>
            <a:ext cx="21214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5B6570"/>
                </a:solidFill>
                <a:latin typeface="Arial"/>
              </a:rPr>
              <a:t>residual DJSCC parameters · batch 32</a:t>
            </a:r>
            <a:br/>
            <a:r>
              <a:rPr sz="910" b="0" i="0">
                <a:solidFill>
                  <a:srgbClr val="5B6570"/>
                </a:solidFill>
                <a:latin typeface="Arial"/>
              </a:rPr>
              <a:t>48.68 s/epoch · 1.004 GiB VRAM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920240"/>
            <a:ext cx="2487168" cy="239572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920240"/>
            <a:ext cx="2487168" cy="73152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212848"/>
            <a:ext cx="212140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8A3346"/>
                </a:solidFill>
                <a:latin typeface="Arial"/>
              </a:rPr>
              <a:t>G-2 · digital PHY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2761488"/>
            <a:ext cx="2157984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212B"/>
                </a:solidFill>
                <a:latin typeface="Georgia"/>
              </a:rPr>
              <a:t>≤ 0.0037 dB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3456432"/>
            <a:ext cx="21214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5B6570"/>
                </a:solidFill>
                <a:latin typeface="Arial"/>
              </a:rPr>
              <a:t>observed waterfall displacement</a:t>
            </a:r>
            <a:br/>
            <a:r>
              <a:rPr sz="910" b="0" i="0">
                <a:solidFill>
                  <a:srgbClr val="5B6570"/>
                </a:solidFill>
                <a:latin typeface="Arial"/>
              </a:rPr>
              <a:t>all three modulations within 0.5 dB · PASS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1920240"/>
            <a:ext cx="2487168" cy="239572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87968" y="1920240"/>
            <a:ext cx="2487168" cy="73152"/>
          </a:xfrm>
          <a:prstGeom prst="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70848" y="2212848"/>
            <a:ext cx="212140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A46A28"/>
                </a:solidFill>
                <a:latin typeface="Arial"/>
              </a:rPr>
              <a:t>W4 · integration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761488"/>
            <a:ext cx="2157984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212B"/>
                </a:solidFill>
                <a:latin typeface="Georgia"/>
              </a:rPr>
              <a:t>end-to-end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3456432"/>
            <a:ext cx="21214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5B6570"/>
                </a:solidFill>
                <a:latin typeface="Arial"/>
              </a:rPr>
              <a:t>JPEG 2000 → LDPC → AWGN → decode</a:t>
            </a:r>
            <a:br/>
            <a:r>
              <a:rPr sz="910" b="0" i="0">
                <a:solidFill>
                  <a:srgbClr val="5B6570"/>
                </a:solidFill>
                <a:latin typeface="Arial"/>
              </a:rPr>
              <a:t>records + verifier · bounded PASS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663440"/>
            <a:ext cx="10863072" cy="11155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6112" y="4892040"/>
            <a:ext cx="1078992" cy="2468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4928616"/>
            <a:ext cx="932688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Arial"/>
              </a:rPr>
              <a:t>G8_C · COMPLETE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4846320"/>
            <a:ext cx="2249424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03A57"/>
                </a:solidFill>
                <a:latin typeface="Georgia"/>
              </a:rPr>
              <a:t>COMPLETE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4846320"/>
            <a:ext cx="3913632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18212B"/>
                </a:solidFill>
                <a:latin typeface="Arial"/>
              </a:rPr>
              <a:t>Pascal successor: 3,213/3,213 identities</a:t>
            </a:r>
            <a:br/>
            <a:r>
              <a:rPr sz="969" b="0" i="0">
                <a:solidFill>
                  <a:srgbClr val="18212B"/>
                </a:solidFill>
                <a:latin typeface="Arial"/>
              </a:rPr>
              <a:t>153 measured-only curves · successor table frozen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86216" y="4818888"/>
            <a:ext cx="258775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3346"/>
                </a:solidFill>
                <a:latin typeface="Arial"/>
              </a:rPr>
              <a:t>G8_D tooling: COMPLETE</a:t>
            </a:r>
            <a:br/>
            <a:r>
              <a:rPr sz="900" b="1" i="0">
                <a:solidFill>
                  <a:srgbClr val="8A3346"/>
                </a:solidFill>
                <a:latin typeface="Arial"/>
              </a:rPr>
              <a:t>G8_E/E0: PLANNED / NOT STARTED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016752"/>
            <a:ext cx="1001268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1">
                <a:solidFill>
                  <a:srgbClr val="5B6570"/>
                </a:solidFill>
                <a:latin typeface="Georgia"/>
              </a:rPr>
              <a:t>No full validation measurement/pass one, training/fine-tuning, learned-vs-classical result or test evaluation has occurred.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30352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59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Authenticated records: G-1, G-2, G-7, W4, G8_C and G8_D · test split access = 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Project Gantt chart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13232" y="1362456"/>
            <a:ext cx="1069848" cy="24688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399032"/>
            <a:ext cx="923544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Arial"/>
              </a:rPr>
              <a:t>WORKSTREAM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353312"/>
            <a:ext cx="1758608" cy="365760"/>
          </a:xfrm>
          <a:prstGeom prst="rect">
            <a:avLst/>
          </a:prstGeom>
          <a:solidFill>
            <a:srgbClr val="E8EDF2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7248" y="1463040"/>
            <a:ext cx="1758608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Cascadia Mono"/>
              </a:rPr>
              <a:t>AUGUST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27248" y="1719072"/>
            <a:ext cx="0" cy="3236976"/>
          </a:xfrm>
          <a:prstGeom prst="line">
            <a:avLst/>
          </a:prstGeom>
          <a:ln w="762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885856" y="1353312"/>
            <a:ext cx="2293837" cy="365760"/>
          </a:xfrm>
          <a:prstGeom prst="rect">
            <a:avLst/>
          </a:prstGeom>
          <a:solidFill>
            <a:srgbClr val="E8EDF2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85856" y="1463040"/>
            <a:ext cx="2293837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Cascadia Mono"/>
              </a:rPr>
              <a:t>SEPTEMBER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85856" y="1719072"/>
            <a:ext cx="0" cy="3236976"/>
          </a:xfrm>
          <a:prstGeom prst="line">
            <a:avLst/>
          </a:prstGeom>
          <a:ln w="762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179694" y="1353312"/>
            <a:ext cx="2370298" cy="365760"/>
          </a:xfrm>
          <a:prstGeom prst="rect">
            <a:avLst/>
          </a:prstGeom>
          <a:solidFill>
            <a:srgbClr val="E8EDF2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9694" y="1463040"/>
            <a:ext cx="2370298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Cascadia Mono"/>
              </a:rPr>
              <a:t>OCTOBER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79694" y="1719072"/>
            <a:ext cx="0" cy="3236976"/>
          </a:xfrm>
          <a:prstGeom prst="line">
            <a:avLst/>
          </a:prstGeom>
          <a:ln w="762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549993" y="1353312"/>
            <a:ext cx="1605686" cy="365760"/>
          </a:xfrm>
          <a:prstGeom prst="rect">
            <a:avLst/>
          </a:prstGeom>
          <a:solidFill>
            <a:srgbClr val="E8EDF2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49993" y="1463040"/>
            <a:ext cx="1605686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Cascadia Mono"/>
              </a:rPr>
              <a:t>NOVEMBER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49993" y="1719072"/>
            <a:ext cx="0" cy="3236976"/>
          </a:xfrm>
          <a:prstGeom prst="line">
            <a:avLst/>
          </a:prstGeom>
          <a:ln w="762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155680" y="1719072"/>
            <a:ext cx="0" cy="3236976"/>
          </a:xfrm>
          <a:prstGeom prst="line">
            <a:avLst/>
          </a:prstGeom>
          <a:ln w="762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1874519"/>
            <a:ext cx="2176272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8212B"/>
                </a:solidFill>
                <a:latin typeface="Arial"/>
              </a:rPr>
              <a:t>G8_C BLER characterization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2148840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127248" y="1874519"/>
            <a:ext cx="458767" cy="256032"/>
          </a:xfrm>
          <a:prstGeom prst="round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221991"/>
            <a:ext cx="2176272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8212B"/>
                </a:solidFill>
                <a:latin typeface="Arial"/>
              </a:rPr>
              <a:t>G8_D validation-measurement tooling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2496312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586015" y="2221991"/>
            <a:ext cx="229383" cy="256032"/>
          </a:xfrm>
          <a:prstGeom prst="round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569463"/>
            <a:ext cx="2176272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8212B"/>
                </a:solidFill>
                <a:latin typeface="Arial"/>
              </a:rPr>
              <a:t>G8_E validation + initial selection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2843784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815399" y="2569463"/>
            <a:ext cx="305845" cy="256032"/>
          </a:xfrm>
          <a:prstGeom prst="round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2916936"/>
            <a:ext cx="2176272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8212B"/>
                </a:solidFill>
                <a:latin typeface="Arial"/>
              </a:rPr>
              <a:t>G8_F artifact classifier + pass two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191256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121244" y="2916936"/>
            <a:ext cx="305845" cy="256032"/>
          </a:xfrm>
          <a:prstGeom prst="round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3264408"/>
            <a:ext cx="2176272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8212B"/>
                </a:solidFill>
                <a:latin typeface="Arial"/>
              </a:rPr>
              <a:t>G8_G final G-8 ratio/adjudication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3232" y="3538728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427089" y="3264408"/>
            <a:ext cx="164592" cy="256032"/>
          </a:xfrm>
          <a:prstGeom prst="round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3611879"/>
            <a:ext cx="2176272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8212B"/>
                </a:solidFill>
                <a:latin typeface="Arial"/>
              </a:rPr>
              <a:t>Learned-system training + calibration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3886200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580011" y="3611879"/>
            <a:ext cx="1605686" cy="256032"/>
          </a:xfrm>
          <a:prstGeom prst="round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25731" y="3675887"/>
            <a:ext cx="1514246" cy="914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FFFFFF"/>
                </a:solidFill>
                <a:latin typeface="Cascadia Mono"/>
              </a:rPr>
              <a:t>PLANNED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959352"/>
            <a:ext cx="2176272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8212B"/>
                </a:solidFill>
                <a:latin typeface="Arial"/>
              </a:rPr>
              <a:t>Validation, freeze + test campaign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13232" y="4233672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185698" y="3959352"/>
            <a:ext cx="2140915" cy="256032"/>
          </a:xfrm>
          <a:prstGeom prst="round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1418" y="4023360"/>
            <a:ext cx="2049475" cy="914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FFFFFF"/>
                </a:solidFill>
                <a:latin typeface="Cascadia Mono"/>
              </a:rPr>
              <a:t>PLANNED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4306824"/>
            <a:ext cx="2176272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8212B"/>
                </a:solidFill>
                <a:latin typeface="Arial"/>
              </a:rPr>
              <a:t>Demo + optional replay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13232" y="4581144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8326613" y="4306824"/>
            <a:ext cx="1299841" cy="256032"/>
          </a:xfrm>
          <a:prstGeom prst="round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72333" y="4370832"/>
            <a:ext cx="1208401" cy="914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FFFFFF"/>
                </a:solidFill>
                <a:latin typeface="Cascadia Mono"/>
              </a:rPr>
              <a:t>PLANNED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4654296"/>
            <a:ext cx="2176272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8212B"/>
                </a:solidFill>
                <a:latin typeface="Arial"/>
              </a:rPr>
              <a:t>Report, audit + final review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13232" y="4928616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626454" y="4654296"/>
            <a:ext cx="1529225" cy="256032"/>
          </a:xfrm>
          <a:prstGeom prst="round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72174" y="4718304"/>
            <a:ext cx="1437785" cy="914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FFFFFF"/>
                </a:solidFill>
                <a:latin typeface="Cascadia Mono"/>
              </a:rPr>
              <a:t>PLANNED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815399" y="1719072"/>
            <a:ext cx="0" cy="3236976"/>
          </a:xfrm>
          <a:prstGeom prst="line">
            <a:avLst/>
          </a:prstGeom>
          <a:ln w="1016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3765107" y="1755648"/>
            <a:ext cx="100584" cy="100584"/>
          </a:xfrm>
          <a:prstGeom prst="ellips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7026772" y="1719072"/>
            <a:ext cx="0" cy="3236976"/>
          </a:xfrm>
          <a:prstGeom prst="line">
            <a:avLst/>
          </a:prstGeom>
          <a:ln w="10160">
            <a:solidFill>
              <a:srgbClr val="203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976480" y="1755648"/>
            <a:ext cx="100584" cy="100584"/>
          </a:xfrm>
          <a:prstGeom prst="ellipse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0773373" y="1719072"/>
            <a:ext cx="0" cy="3236976"/>
          </a:xfrm>
          <a:prstGeom prst="line">
            <a:avLst/>
          </a:prstGeom>
          <a:ln w="10160">
            <a:solidFill>
              <a:srgbClr val="203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10723081" y="1755648"/>
            <a:ext cx="100584" cy="100584"/>
          </a:xfrm>
          <a:prstGeom prst="ellipse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11002757" y="1719072"/>
            <a:ext cx="0" cy="3236976"/>
          </a:xfrm>
          <a:prstGeom prst="line">
            <a:avLst/>
          </a:prstGeom>
          <a:ln w="1016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10952465" y="1755648"/>
            <a:ext cx="100584" cy="100584"/>
          </a:xfrm>
          <a:prstGeom prst="ellips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161683" y="4645152"/>
            <a:ext cx="535228" cy="356616"/>
          </a:xfrm>
          <a:prstGeom prst="rect">
            <a:avLst/>
          </a:prstGeom>
          <a:noFill/>
          <a:ln w="13970">
            <a:solidFill>
              <a:srgbClr val="8A3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1683" y="5029200"/>
            <a:ext cx="535228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8A3346"/>
                </a:solidFill>
                <a:latin typeface="Cascadia Mono"/>
              </a:rPr>
              <a:t>W16 contingency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9536" y="5669280"/>
            <a:ext cx="10469880" cy="402336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2415" y="5779008"/>
            <a:ext cx="10104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18212B"/>
                </a:solidFill>
                <a:latin typeface="Arial"/>
              </a:rPr>
              <a:t>Review dates: 18–22 Aug · 29 Sep–3 Oct · 17–21 Nov · report due 20 Nov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39696" y="6144768"/>
            <a:ext cx="790956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5B6570"/>
                </a:solidFill>
                <a:latin typeface="Georgia"/>
              </a:rPr>
              <a:t>G8_C and G8_D are complete. G8_E/E0 is next but not started; G8_F/G and all later work remain planned.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30352" y="6519672"/>
            <a:ext cx="782726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94359" y="6547104"/>
            <a:ext cx="654710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TIME PLAN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Detailed dependencies and acceptance evidence: docs/gantt-plan.md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Edge AI application, AIML contribution and scope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89888"/>
            <a:ext cx="3410712" cy="3419856"/>
          </a:xfrm>
          <a:prstGeom prst="roundRect">
            <a:avLst/>
          </a:prstGeom>
          <a:solidFill>
            <a:srgbClr val="FFFEFA"/>
          </a:solidFill>
          <a:ln w="1016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89888"/>
            <a:ext cx="54864" cy="3419856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7824" y="1572768"/>
            <a:ext cx="1024128" cy="24688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609344"/>
            <a:ext cx="877824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Arial"/>
              </a:rP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1938528"/>
            <a:ext cx="299008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8212B"/>
                </a:solidFill>
                <a:latin typeface="Georgia"/>
              </a:rPr>
              <a:t>Edge AI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377440"/>
            <a:ext cx="2990088" cy="22768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570"/>
                </a:solidFill>
                <a:latin typeface="Arial"/>
              </a:rPr>
              <a:t>Remote cameras and sensors may need receiver-side inference over limited, noisy links.</a:t>
            </a:r>
            <a:br/>
            <a:br/>
            <a:r>
              <a:rPr sz="1050" b="0" i="0">
                <a:solidFill>
                  <a:srgbClr val="5B6570"/>
                </a:solidFill>
                <a:latin typeface="Arial"/>
              </a:rPr>
              <a:t>The sender runs a compact encoder; the receiver owns the decoder and task head. This represents split edge/cloud inference.</a:t>
            </a:r>
            <a:br/>
            <a:br/>
            <a:r>
              <a:rPr sz="1050" b="0" i="0">
                <a:solidFill>
                  <a:srgbClr val="5B6570"/>
                </a:solidFill>
                <a:latin typeface="Arial"/>
              </a:rPr>
              <a:t>The measured task is Imagenette-160 classification, but the method is neural representation learning for communication.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89888"/>
            <a:ext cx="3410712" cy="3419856"/>
          </a:xfrm>
          <a:prstGeom prst="roundRect">
            <a:avLst/>
          </a:prstGeom>
          <a:solidFill>
            <a:srgbClr val="FFFEFA"/>
          </a:solidFill>
          <a:ln w="1016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89888"/>
            <a:ext cx="54864" cy="3419856"/>
          </a:xfrm>
          <a:prstGeom prst="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08576" y="1572768"/>
            <a:ext cx="1024128" cy="246888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1609344"/>
            <a:ext cx="877824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496B5A"/>
                </a:solidFill>
                <a:latin typeface="Arial"/>
              </a:rPr>
              <a:t>IMPLEMENTATION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1938528"/>
            <a:ext cx="299008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8212B"/>
                </a:solidFill>
                <a:latin typeface="Georgia"/>
              </a:rPr>
              <a:t>Deployment ladder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8576" y="2377440"/>
            <a:ext cx="2990088" cy="22768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B6570"/>
                </a:solidFill>
                <a:latin typeface="Arial"/>
              </a:rPr>
              <a:t>TIER 1 · required</a:t>
            </a:r>
            <a:br/>
            <a:r>
              <a:rPr sz="1019" b="0" i="0">
                <a:solidFill>
                  <a:srgbClr val="5B6570"/>
                </a:solidFill>
                <a:latin typeface="Arial"/>
              </a:rPr>
              <a:t>Simulation-first, offline and reproducible.</a:t>
            </a:r>
            <a:br/>
            <a:br/>
            <a:r>
              <a:rPr sz="1019" b="0" i="0">
                <a:solidFill>
                  <a:srgbClr val="5B6570"/>
                </a:solidFill>
                <a:latin typeface="Arial"/>
              </a:rPr>
              <a:t>TIER 2 · stretch after G-5</a:t>
            </a:r>
            <a:br/>
            <a:r>
              <a:rPr sz="1019" b="0" i="0">
                <a:solidFill>
                  <a:srgbClr val="5B6570"/>
                </a:solidFill>
                <a:latin typeface="Arial"/>
              </a:rPr>
              <a:t>Conducted SDR I/Q replay; prerecorded outcome expected.</a:t>
            </a:r>
            <a:br/>
            <a:br/>
            <a:r>
              <a:rPr sz="1019" b="0" i="0">
                <a:solidFill>
                  <a:srgbClr val="5B6570"/>
                </a:solidFill>
                <a:latin typeface="Arial"/>
              </a:rPr>
              <a:t>TIER 3 · stretch</a:t>
            </a:r>
            <a:br/>
            <a:r>
              <a:rPr sz="1019" b="0" i="0">
                <a:solidFill>
                  <a:srgbClr val="5B6570"/>
                </a:solidFill>
                <a:latin typeface="Arial"/>
              </a:rPr>
              <a:t>Edge placement only if latency and procurement gates pass.</a:t>
            </a:r>
            <a:br/>
            <a:br/>
            <a:r>
              <a:rPr sz="1019" b="0" i="0">
                <a:solidFill>
                  <a:srgbClr val="5B6570"/>
                </a:solidFill>
                <a:latin typeface="Arial"/>
              </a:rPr>
              <a:t>Candidate: HackRF One + attenuation chain + RTL-SDR; no purchase yet.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389888"/>
            <a:ext cx="3410712" cy="3419856"/>
          </a:xfrm>
          <a:prstGeom prst="roundRect">
            <a:avLst/>
          </a:prstGeom>
          <a:solidFill>
            <a:srgbClr val="F2E5E8"/>
          </a:solidFill>
          <a:ln w="1016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389888"/>
            <a:ext cx="54864" cy="3419856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39328" y="1572768"/>
            <a:ext cx="731519" cy="246888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609344"/>
            <a:ext cx="585215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8A3346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1938528"/>
            <a:ext cx="299008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8212B"/>
                </a:solidFill>
                <a:latin typeface="Georgia"/>
              </a:rPr>
              <a:t>AI/ML contribution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2377440"/>
            <a:ext cx="2990088" cy="22768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5B6570"/>
                </a:solidFill>
                <a:latin typeface="Arial"/>
              </a:rPr>
              <a:t>Residual CNN encoder with GroupNorm and PReLU.</a:t>
            </a:r>
            <a:br/>
            <a:br/>
            <a:r>
              <a:rPr sz="1030" b="0" i="0">
                <a:solidFill>
                  <a:srgbClr val="5B6570"/>
                </a:solidFill>
                <a:latin typeface="Arial"/>
              </a:rPr>
              <a:t>Dual-head decoder for class logits and reconstruction.</a:t>
            </a:r>
            <a:br/>
            <a:br/>
            <a:r>
              <a:rPr sz="1030" b="0" i="0">
                <a:solidFill>
                  <a:srgbClr val="5B6570"/>
                </a:solidFill>
                <a:latin typeface="Arial"/>
              </a:rPr>
              <a:t>Supervised multi-task loss: cross-entropy + λMSE.</a:t>
            </a:r>
            <a:br/>
            <a:br/>
            <a:r>
              <a:rPr sz="1030" b="0" i="0">
                <a:solidFill>
                  <a:srgbClr val="5B6570"/>
                </a:solidFill>
                <a:latin typeface="Arial"/>
              </a:rPr>
              <a:t>Differentiable AWGN enables end-to-end training.</a:t>
            </a:r>
            <a:br/>
            <a:br/>
            <a:r>
              <a:rPr sz="1030" b="0" i="0">
                <a:solidFill>
                  <a:srgbClr val="5B6570"/>
                </a:solidFill>
                <a:latin typeface="Arial"/>
              </a:rPr>
              <a:t>The digital feature arm isolates representation learning from joint coding.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6" y="5184648"/>
            <a:ext cx="10277856" cy="79552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7864" y="5394960"/>
            <a:ext cx="21031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3346"/>
                </a:solidFill>
                <a:latin typeface="Cascadia Mono"/>
              </a:rPr>
              <a:t>TECHNICAL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3552" y="5349240"/>
            <a:ext cx="7626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Georgia"/>
              </a:rPr>
              <a:t>OpenJPEG 2.5.4 + TS 38.212-derived LDPC/rate matching over abstract AWGN—not a full 5G NR link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9968" y="6144768"/>
            <a:ext cx="81564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1">
                <a:solidFill>
                  <a:srgbClr val="5B6570"/>
                </a:solidFill>
                <a:latin typeface="Georgia"/>
              </a:rPr>
              <a:t>No guaranteed win, measured energy saving or real-radio generalization; completion means executing the preregistered protocol.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30352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59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72691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3669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PR-3 standards register · PR-9 deployment dossier · guide acknowledgement remains PENDING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Explicit First Review rubric-to-slide map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49808" y="1417320"/>
            <a:ext cx="10698480" cy="475488"/>
          </a:xfrm>
          <a:prstGeom prst="round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72768"/>
            <a:ext cx="1865376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CRITERION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1572768"/>
            <a:ext cx="1133856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572768"/>
            <a:ext cx="6675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EVIDENCE EXPOSED IN THE DECK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938528"/>
            <a:ext cx="10698480" cy="585216"/>
          </a:xfrm>
          <a:prstGeom prst="rect">
            <a:avLst/>
          </a:prstGeom>
          <a:solidFill>
            <a:srgbClr val="FFFEFA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93976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Motivation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093976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2–3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066544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Short packets, fixed k, task accuracy, finite-blocklength costs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587752"/>
            <a:ext cx="10698480" cy="585216"/>
          </a:xfrm>
          <a:prstGeom prst="rect">
            <a:avLst/>
          </a:prstGeom>
          <a:solidFill>
            <a:srgbClr val="F7F5EF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743200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0672" y="2743200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3, 5–7,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2715768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Neural method, three-arm build, fair protocol and attribution control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3236976"/>
            <a:ext cx="10698480" cy="585216"/>
          </a:xfrm>
          <a:prstGeom prst="rect">
            <a:avLst/>
          </a:prstGeom>
          <a:solidFill>
            <a:srgbClr val="FFFEFA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392424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3392424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3364992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Exact H1 run rule; H2–H4 preregistered; crossing not required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886200"/>
            <a:ext cx="10698480" cy="585216"/>
          </a:xfrm>
          <a:prstGeom prst="rect">
            <a:avLst/>
          </a:prstGeom>
          <a:solidFill>
            <a:srgbClr val="F7F5EF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041648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Problem Survey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0672" y="4041648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2, 4, 12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4014215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30-source synthesis across four literature families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" y="4535424"/>
            <a:ext cx="10698480" cy="585216"/>
          </a:xfrm>
          <a:prstGeom prst="rect">
            <a:avLst/>
          </a:prstGeom>
          <a:solidFill>
            <a:srgbClr val="FFFEFA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690872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Subject Knowledge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90672" y="4690872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3–8,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4663440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Residual CNN, multi-task loss, AWGN, controls, evidence and scope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184648"/>
            <a:ext cx="10698480" cy="585216"/>
          </a:xfrm>
          <a:prstGeom prst="rect">
            <a:avLst/>
          </a:prstGeom>
          <a:solidFill>
            <a:srgbClr val="F7F5EF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340096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Time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90672" y="5340096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312664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Gate-ordered critical path and fixed review/report dates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06424" y="5998464"/>
            <a:ext cx="9994392" cy="301752"/>
          </a:xfrm>
          <a:prstGeom prst="roundRect">
            <a:avLst/>
          </a:prstGeom>
          <a:solidFill>
            <a:srgbClr val="F4E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6071616"/>
            <a:ext cx="9646920" cy="137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A46A28"/>
                </a:solidFill>
                <a:latin typeface="Arial"/>
              </a:rPr>
              <a:t>Final PASS still requires the real PPT review, four-member rehearsal, guide acknowledgement and annotated review-1-basis tag.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530352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5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RUBRIC MAP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Six criteria × five sub-marks · 30 scaled to 10 · final human readiness remains evidence-based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Selected references and evidence provenance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1353312"/>
            <a:ext cx="52303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3346"/>
                </a:solidFill>
                <a:latin typeface="Cascadia Mono"/>
              </a:rPr>
              <a:t>SELECTED LITERATURE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37360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[1] Shannon, A Mathematical Theory of Communication, 1948.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48255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[2] Gastpar, Rimoldi &amp; Vetterli, To Code, or Not to Code, 2003.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59152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[3] Polyanskiy, Poor &amp; Verdú, Finite Blocklength, 2010.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670048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[4] Kostina &amp; Verdú, Lossy JSCC at Finite Blocklength, 2013.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980944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[5] Bourtsoulatze, Kurka &amp; Gündüz, DeepJSCC, 2019.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91840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[6] Kurka &amp; Gündüz, DeepJSCC-f, 2020.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602736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[7] Kurka &amp; Gündüz, Bandwidth-Agile DeepJSCC, 2021.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3913632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[11] Ballé, Laparra &amp; Simoncelli, Learned Compression, 2017.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4224528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[12] Ballé et al., Scale Hyperprior, 2018.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4535424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[17] Blau &amp; Michaeli, Perception–Distortion, 2018.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4846320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[18] Jankowski, Gündüz &amp; Mikolajczyk, Wireless Retrieval, 2021.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157216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[19] Shao, Mao &amp; Zhang, Task-Oriented Edge Inference, 2021.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5468112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[20] Xie et al., Deep Learning Enabled Semantic Communication, 2021.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9904" y="1371600"/>
            <a:ext cx="0" cy="4407408"/>
          </a:xfrm>
          <a:prstGeom prst="line">
            <a:avLst/>
          </a:prstGeom>
          <a:ln w="1016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2512" y="1353312"/>
            <a:ext cx="51206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03A57"/>
                </a:solidFill>
                <a:latin typeface="Cascadia Mono"/>
              </a:rPr>
              <a:t>REPOSITORY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46504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G-1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728216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results/reference_classifier/g1_adjudication.json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956816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89.8% validation; test sealed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267712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G-7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249424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results/profiling/g7_djscc_profile.json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478024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1.64M params; measured epoch/VRAM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88920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G-2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770632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results/baseline/g2/g2_adjudication.json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2999232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golden vectors + BLER conformance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310128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W4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291840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results/baseline/w4/integration_adjudication.json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3520440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bounded end-to-end 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831335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G8_C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3813048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results/baseline/g8_pascal_successor/successor_bler_table.json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041648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153 measured-only curves; successor table frozen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352544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G8_D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334256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results/baseline/g8_d/d7_handoff.json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4562856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D0–D7 GREEN; tooling ready; full campaign not started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73752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Spec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4855464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spec/SPEC.md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5084064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normative hypotheses and requirements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394959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Plan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5376672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docs/gantt-plan.md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5605272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dates, gates and current status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5916168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Deploy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5897880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docs/deployment-dossier.md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6126480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simulation-first + SDR stretch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82512" y="5998464"/>
            <a:ext cx="4754880" cy="310896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28816" y="6080760"/>
            <a:ext cx="4462272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8A3346"/>
                </a:solidFill>
                <a:latin typeface="Arial"/>
              </a:rPr>
              <a:t>Refresh G8_C/G8_D status from the handoff files on submission day.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530352" y="6519672"/>
            <a:ext cx="1075334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59" y="6547104"/>
            <a:ext cx="947318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PROBLEM SURVEY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697126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61134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Full 30-reference synthesis: docs/literature-review.md · all evidence verified from repository records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First Review</dc:title>
  <dc:subject>Capstone First Review, 18–22 August 2026</dc:subject>
  <dc:creator>Capstone project team</dc:creator>
  <cp:keywords/>
  <dc:description>Generated from authenticated repository evidence; editable native shapes and text.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