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28600"/>
            <a:ext cx="420624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5B6570"/>
                </a:solidFill>
                <a:latin typeface="Arial"/>
              </a:rPr>
              <a:t>CAPSTONE · FIRST REVIEW · 18–22 AUG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52760" y="210312"/>
            <a:ext cx="9601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8A3346"/>
                </a:solidFill>
                <a:latin typeface="Cascadia Mono"/>
              </a:rPr>
              <a:t>§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66928"/>
            <a:ext cx="10881360" cy="4754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8212B"/>
                </a:solidFill>
                <a:latin typeface="Georgia"/>
              </a:rPr>
              <a:t>Semantic Communication + AI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0352" y="1097280"/>
            <a:ext cx="11109960" cy="0"/>
          </a:xfrm>
          <a:prstGeom prst="line">
            <a:avLst/>
          </a:prstGeom>
          <a:ln w="16510">
            <a:solidFill>
              <a:srgbClr val="8A33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58368" y="1353312"/>
            <a:ext cx="10844784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20" b="0" i="1">
                <a:solidFill>
                  <a:srgbClr val="203A57"/>
                </a:solidFill>
                <a:latin typeface="Georgia"/>
              </a:rPr>
              <a:t>Can a camera send only the information a receiver needs—without sending every pixel perfectly?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24128" y="2212848"/>
            <a:ext cx="2834640" cy="1243584"/>
          </a:xfrm>
          <a:prstGeom prst="round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25296" y="2523744"/>
            <a:ext cx="2432304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03A57"/>
                </a:solidFill>
                <a:latin typeface="Arial"/>
              </a:rPr>
              <a:t>EDGE CAMERA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25296" y="2953512"/>
            <a:ext cx="243230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18212B"/>
                </a:solidFill>
                <a:latin typeface="Georgia"/>
              </a:rPr>
              <a:t>observes an image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72584" y="2212848"/>
            <a:ext cx="2834640" cy="1243584"/>
          </a:xfrm>
          <a:prstGeom prst="roundRect">
            <a:avLst/>
          </a:prstGeom>
          <a:solidFill>
            <a:srgbClr val="F2E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73752" y="2523744"/>
            <a:ext cx="2432304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8A3346"/>
                </a:solidFill>
                <a:latin typeface="Arial"/>
              </a:rPr>
              <a:t>LIMITED + NOISY LINK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73752" y="2953512"/>
            <a:ext cx="243230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18212B"/>
                </a:solidFill>
                <a:latin typeface="Georgia"/>
              </a:rPr>
              <a:t>cannot carry everything reliably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21040" y="2212848"/>
            <a:ext cx="2834640" cy="1243584"/>
          </a:xfrm>
          <a:prstGeom prst="roundRect">
            <a:avLst/>
          </a:prstGeom>
          <a:solidFill>
            <a:srgbClr val="E8EF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22208" y="2523744"/>
            <a:ext cx="2432304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496B5A"/>
                </a:solidFill>
                <a:latin typeface="Arial"/>
              </a:rPr>
              <a:t>RECEIVER 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22208" y="2953512"/>
            <a:ext cx="243230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18212B"/>
                </a:solidFill>
                <a:latin typeface="Georgia"/>
              </a:rPr>
              <a:t>only needs the correct class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950208" y="2834640"/>
            <a:ext cx="585216" cy="0"/>
          </a:xfrm>
          <a:prstGeom prst="line">
            <a:avLst/>
          </a:prstGeom>
          <a:ln w="15240">
            <a:solidFill>
              <a:srgbClr val="A8AF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Isosceles Triangle 16"/>
          <p:cNvSpPr/>
          <p:nvPr/>
        </p:nvSpPr>
        <p:spPr>
          <a:xfrm rot="5400000">
            <a:off x="4471416" y="2784348"/>
            <a:ext cx="128016" cy="100584"/>
          </a:xfrm>
          <a:prstGeom prst="triangle">
            <a:avLst/>
          </a:prstGeom>
          <a:solidFill>
            <a:srgbClr val="A8AF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" name="Connector 17"/>
          <p:cNvCxnSpPr/>
          <p:nvPr/>
        </p:nvCxnSpPr>
        <p:spPr>
          <a:xfrm>
            <a:off x="7598664" y="2834640"/>
            <a:ext cx="585216" cy="0"/>
          </a:xfrm>
          <a:prstGeom prst="line">
            <a:avLst/>
          </a:prstGeom>
          <a:ln w="15240">
            <a:solidFill>
              <a:srgbClr val="A8AF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Isosceles Triangle 18"/>
          <p:cNvSpPr/>
          <p:nvPr/>
        </p:nvSpPr>
        <p:spPr>
          <a:xfrm rot="5400000">
            <a:off x="8119872" y="2784348"/>
            <a:ext cx="128016" cy="100584"/>
          </a:xfrm>
          <a:prstGeom prst="triangle">
            <a:avLst/>
          </a:prstGeom>
          <a:solidFill>
            <a:srgbClr val="A8AF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60120" y="3986784"/>
            <a:ext cx="10268712" cy="1243584"/>
          </a:xfrm>
          <a:prstGeom prst="roundRect">
            <a:avLst/>
          </a:prstGeom>
          <a:solidFill>
            <a:srgbClr val="FFFEFA"/>
          </a:solidFill>
          <a:ln w="13970">
            <a:solidFill>
              <a:srgbClr val="8A33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225296" y="4215384"/>
            <a:ext cx="804672" cy="246888"/>
          </a:xfrm>
          <a:prstGeom prst="roundRect">
            <a:avLst/>
          </a:prstGeom>
          <a:solidFill>
            <a:srgbClr val="F2E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98448" y="4251960"/>
            <a:ext cx="658368" cy="14630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30" b="1" i="0">
                <a:solidFill>
                  <a:srgbClr val="8A3346"/>
                </a:solidFill>
                <a:latin typeface="Arial"/>
              </a:rPr>
              <a:t>THESIS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16152" y="4599432"/>
            <a:ext cx="9747504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8212B"/>
                </a:solidFill>
                <a:latin typeface="Georgia"/>
              </a:rPr>
              <a:t>Train the sender and receiver together so the information needed for classification survives a limited, noisy link.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30552" y="5669280"/>
            <a:ext cx="7927848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1">
                <a:solidFill>
                  <a:srgbClr val="5B6570"/>
                </a:solidFill>
                <a:latin typeface="Arial"/>
              </a:rPr>
              <a:t>A simulation-first capstone with an optional real-radio demonstration later.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30352" y="6446520"/>
            <a:ext cx="11109960" cy="0"/>
          </a:xfrm>
          <a:prstGeom prst="line">
            <a:avLst/>
          </a:prstGeom>
          <a:ln w="8890">
            <a:solidFill>
              <a:srgbClr val="D7D2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530352" y="6519672"/>
            <a:ext cx="841248" cy="201168"/>
          </a:xfrm>
          <a:prstGeom prst="round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59" y="6547104"/>
            <a:ext cx="713232" cy="1188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1" i="0">
                <a:solidFill>
                  <a:srgbClr val="203A57"/>
                </a:solidFill>
                <a:latin typeface="Arial"/>
              </a:rPr>
              <a:t>MOTIVATION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463040" y="6519672"/>
            <a:ext cx="841248" cy="201168"/>
          </a:xfrm>
          <a:prstGeom prst="round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527048" y="6547104"/>
            <a:ext cx="713232" cy="1188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1" i="0">
                <a:solidFill>
                  <a:srgbClr val="203A57"/>
                </a:solidFill>
                <a:latin typeface="Arial"/>
              </a:rPr>
              <a:t>OBJECTIVES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86200" y="6519672"/>
            <a:ext cx="7086600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5B6570"/>
                </a:solidFill>
                <a:latin typeface="Arial"/>
              </a:rPr>
              <a:t>Official scope: supervised neural DJSCC for edge AI · First Review baseline 12 Aug 2026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37392" y="6510528"/>
            <a:ext cx="4754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5B6570"/>
                </a:solidFill>
                <a:latin typeface="Cascadia Mono"/>
              </a:rPr>
              <a:t>01/12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28600"/>
            <a:ext cx="420624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5B6570"/>
                </a:solidFill>
                <a:latin typeface="Arial"/>
              </a:rPr>
              <a:t>CAPSTONE · FIRST REVIEW · 18–22 AUG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52760" y="210312"/>
            <a:ext cx="9601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8A3346"/>
                </a:solidFill>
                <a:latin typeface="Cascadia Mono"/>
              </a:rPr>
              <a:t>§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66928"/>
            <a:ext cx="10881360" cy="4754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8212B"/>
                </a:solidFill>
                <a:latin typeface="Georgia"/>
              </a:rPr>
              <a:t>What problem are we solving?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0352" y="1097280"/>
            <a:ext cx="11109960" cy="0"/>
          </a:xfrm>
          <a:prstGeom prst="line">
            <a:avLst/>
          </a:prstGeom>
          <a:ln w="16510">
            <a:solidFill>
              <a:srgbClr val="8A33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49808" y="1335024"/>
            <a:ext cx="10689336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203A57"/>
                </a:solidFill>
                <a:latin typeface="Georgia"/>
              </a:rPr>
              <a:t>Imagine a remote camera sending images to a server that decides what it sees.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938528"/>
            <a:ext cx="6684264" cy="3447288"/>
          </a:xfrm>
          <a:prstGeom prst="roundRect">
            <a:avLst/>
          </a:prstGeom>
          <a:solidFill>
            <a:srgbClr val="FFFEFA"/>
          </a:solidFill>
          <a:ln w="12700">
            <a:solidFill>
              <a:srgbClr val="D7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87552" y="2167128"/>
            <a:ext cx="1143000" cy="246888"/>
          </a:xfrm>
          <a:prstGeom prst="round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0704" y="2203704"/>
            <a:ext cx="996696" cy="14630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30" b="1" i="0">
                <a:solidFill>
                  <a:srgbClr val="203A57"/>
                </a:solidFill>
                <a:latin typeface="Arial"/>
              </a:rPr>
              <a:t>REAL-WORLD TENSION</a:t>
            </a:r>
          </a:p>
        </p:txBody>
      </p:sp>
      <p:sp>
        <p:nvSpPr>
          <p:cNvPr id="10" name="Oval 9"/>
          <p:cNvSpPr/>
          <p:nvPr/>
        </p:nvSpPr>
        <p:spPr>
          <a:xfrm>
            <a:off x="1014984" y="2734056"/>
            <a:ext cx="274320" cy="274320"/>
          </a:xfrm>
          <a:prstGeom prst="ellipse">
            <a:avLst/>
          </a:prstGeom>
          <a:solidFill>
            <a:srgbClr val="8A3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14984" y="2798064"/>
            <a:ext cx="274320" cy="1097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44752" y="2706624"/>
            <a:ext cx="2075688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8212B"/>
                </a:solidFill>
                <a:latin typeface="Georgia"/>
              </a:rPr>
              <a:t>The sensor is constrained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38728" y="2688336"/>
            <a:ext cx="3529584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5B6570"/>
                </a:solidFill>
                <a:latin typeface="Arial"/>
              </a:rPr>
              <a:t>Bandwidth, latency and energy are limited at the edge.</a:t>
            </a:r>
          </a:p>
        </p:txBody>
      </p:sp>
      <p:sp>
        <p:nvSpPr>
          <p:cNvPr id="14" name="Oval 13"/>
          <p:cNvSpPr/>
          <p:nvPr/>
        </p:nvSpPr>
        <p:spPr>
          <a:xfrm>
            <a:off x="1014984" y="3557015"/>
            <a:ext cx="274320" cy="274320"/>
          </a:xfrm>
          <a:prstGeom prst="ellipse">
            <a:avLst/>
          </a:prstGeom>
          <a:solidFill>
            <a:srgbClr val="8A3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14984" y="3621024"/>
            <a:ext cx="274320" cy="1097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44752" y="3529584"/>
            <a:ext cx="2075688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8212B"/>
                </a:solidFill>
                <a:latin typeface="Georgia"/>
              </a:rPr>
              <a:t>The wireless link is imperfect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38728" y="3511296"/>
            <a:ext cx="3529584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5B6570"/>
                </a:solidFill>
                <a:latin typeface="Arial"/>
              </a:rPr>
              <a:t>Noise can corrupt a short message or make decoding fail.</a:t>
            </a:r>
          </a:p>
        </p:txBody>
      </p:sp>
      <p:sp>
        <p:nvSpPr>
          <p:cNvPr id="18" name="Oval 17"/>
          <p:cNvSpPr/>
          <p:nvPr/>
        </p:nvSpPr>
        <p:spPr>
          <a:xfrm>
            <a:off x="1014984" y="4379976"/>
            <a:ext cx="274320" cy="274320"/>
          </a:xfrm>
          <a:prstGeom prst="ellipse">
            <a:avLst/>
          </a:prstGeom>
          <a:solidFill>
            <a:srgbClr val="8A3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14984" y="4443983"/>
            <a:ext cx="274320" cy="1097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44752" y="4352544"/>
            <a:ext cx="2075688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8212B"/>
                </a:solidFill>
                <a:latin typeface="Georgia"/>
              </a:rPr>
              <a:t>The receiver has a narrow goal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38728" y="4334256"/>
            <a:ext cx="3529584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5B6570"/>
                </a:solidFill>
                <a:latin typeface="Arial"/>
              </a:rPr>
              <a:t>For classification, the final question is often simply: what is in the image?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54112" y="1938528"/>
            <a:ext cx="3694176" cy="3447288"/>
          </a:xfrm>
          <a:prstGeom prst="roundRect">
            <a:avLst/>
          </a:prstGeom>
          <a:solidFill>
            <a:srgbClr val="F2E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019288" y="2167128"/>
            <a:ext cx="1078992" cy="24688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92440" y="2203704"/>
            <a:ext cx="932688" cy="14630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30" b="1" i="0">
                <a:solidFill>
                  <a:srgbClr val="8A3346"/>
                </a:solidFill>
                <a:latin typeface="Arial"/>
              </a:rPr>
              <a:t>DESIGN QUESTION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74152" y="2788920"/>
            <a:ext cx="3054096" cy="11155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39" b="1" i="0">
                <a:solidFill>
                  <a:srgbClr val="18212B"/>
                </a:solidFill>
                <a:latin typeface="Georgia"/>
              </a:rPr>
              <a:t>Why spend the entire link budget reconstructing every pixel if the receiver ultimately needs a task decision?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47304" y="4315968"/>
            <a:ext cx="290779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8A3346"/>
                </a:solidFill>
                <a:latin typeface="Arial"/>
              </a:rPr>
              <a:t>The project tests this question; it does not assume the learned method must win.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600200" y="5678424"/>
            <a:ext cx="8988552" cy="420624"/>
          </a:xfrm>
          <a:prstGeom prst="roundRect">
            <a:avLst/>
          </a:prstGeom>
          <a:solidFill>
            <a:srgbClr val="F4E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819656" y="5779008"/>
            <a:ext cx="8549640" cy="1737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A46A28"/>
                </a:solidFill>
                <a:latin typeface="Georgia"/>
              </a:rPr>
              <a:t>Goal: preserve the receiver's classification decision without requiring a perfect copy of every image.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30352" y="6446520"/>
            <a:ext cx="11109960" cy="0"/>
          </a:xfrm>
          <a:prstGeom prst="line">
            <a:avLst/>
          </a:prstGeom>
          <a:ln w="8890">
            <a:solidFill>
              <a:srgbClr val="D7D2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530352" y="6519672"/>
            <a:ext cx="841248" cy="201168"/>
          </a:xfrm>
          <a:prstGeom prst="round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4359" y="6547104"/>
            <a:ext cx="713232" cy="1188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1" i="0">
                <a:solidFill>
                  <a:srgbClr val="203A57"/>
                </a:solidFill>
                <a:latin typeface="Arial"/>
              </a:rPr>
              <a:t>MOTIVATION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86200" y="6519672"/>
            <a:ext cx="7086600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5B6570"/>
                </a:solidFill>
                <a:latin typeface="Arial"/>
              </a:rPr>
              <a:t>Original proposal: Semantic Communication + AI · edge/IoT application framing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37392" y="6510528"/>
            <a:ext cx="4754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5B6570"/>
                </a:solidFill>
                <a:latin typeface="Cascadia Mono"/>
              </a:rPr>
              <a:t>02/12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28600"/>
            <a:ext cx="420624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5B6570"/>
                </a:solidFill>
                <a:latin typeface="Arial"/>
              </a:rPr>
              <a:t>CAPSTONE · FIRST REVIEW · 18–22 AUG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52760" y="210312"/>
            <a:ext cx="9601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8A3346"/>
                </a:solidFill>
                <a:latin typeface="Cascadia Mono"/>
              </a:rPr>
              <a:t>§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66928"/>
            <a:ext cx="10881360" cy="4754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8212B"/>
                </a:solidFill>
                <a:latin typeface="Georgia"/>
              </a:rPr>
              <a:t>How the proposed system changes the usual approach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0352" y="1097280"/>
            <a:ext cx="11109960" cy="0"/>
          </a:xfrm>
          <a:prstGeom prst="line">
            <a:avLst/>
          </a:prstGeom>
          <a:ln w="16510">
            <a:solidFill>
              <a:srgbClr val="8A33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749808" y="1417320"/>
            <a:ext cx="10680192" cy="1243584"/>
          </a:xfrm>
          <a:prstGeom prst="roundRect">
            <a:avLst/>
          </a:prstGeom>
          <a:solidFill>
            <a:srgbClr val="FFFEFA"/>
          </a:solidFill>
          <a:ln w="12700">
            <a:solidFill>
              <a:srgbClr val="D7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49808" y="1417320"/>
            <a:ext cx="64008" cy="1243584"/>
          </a:xfrm>
          <a:prstGeom prst="rect">
            <a:avLst/>
          </a:prstGeom>
          <a:solidFill>
            <a:srgbClr val="203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1" y="1627632"/>
            <a:ext cx="2212848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03A57"/>
                </a:solidFill>
                <a:latin typeface="Arial"/>
              </a:rPr>
              <a:t>CONVENTIONAL COMMUNICATION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82112" y="1609344"/>
            <a:ext cx="782726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40" b="0" i="0">
                <a:solidFill>
                  <a:srgbClr val="18212B"/>
                </a:solidFill>
                <a:latin typeface="Georgia"/>
              </a:rPr>
              <a:t>Compress the image → protect the bits → reconstruct the file → classify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82112" y="2130552"/>
            <a:ext cx="7699248" cy="2468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9" b="0" i="1">
                <a:solidFill>
                  <a:srgbClr val="5B6570"/>
                </a:solidFill>
                <a:latin typeface="Arial"/>
              </a:rPr>
              <a:t>Primary objective: recover source bits and pixels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3090672"/>
            <a:ext cx="10680192" cy="1243584"/>
          </a:xfrm>
          <a:prstGeom prst="roundRect">
            <a:avLst/>
          </a:prstGeom>
          <a:solidFill>
            <a:srgbClr val="FFFEFA"/>
          </a:solidFill>
          <a:ln w="12700">
            <a:solidFill>
              <a:srgbClr val="D7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49808" y="3090672"/>
            <a:ext cx="64008" cy="1243584"/>
          </a:xfrm>
          <a:prstGeom prst="rect">
            <a:avLst/>
          </a:prstGeom>
          <a:solidFill>
            <a:srgbClr val="8A3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33271" y="3300984"/>
            <a:ext cx="2212848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8A3346"/>
                </a:solidFill>
                <a:latin typeface="Arial"/>
              </a:rPr>
              <a:t>PROPOSED LEARNED LINK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82112" y="3282696"/>
            <a:ext cx="782726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40" b="0" i="0">
                <a:solidFill>
                  <a:srgbClr val="18212B"/>
                </a:solidFill>
                <a:latin typeface="Georgia"/>
              </a:rPr>
              <a:t>Learned sender → noisy link → learned receiver → class decision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82112" y="3803904"/>
            <a:ext cx="7699248" cy="2468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9" b="0" i="1">
                <a:solidFill>
                  <a:srgbClr val="5B6570"/>
                </a:solidFill>
                <a:latin typeface="Arial"/>
              </a:rPr>
              <a:t>Primary objective: preserve information needed for the task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8" y="4754880"/>
            <a:ext cx="6839712" cy="1124712"/>
          </a:xfrm>
          <a:prstGeom prst="roundRect">
            <a:avLst/>
          </a:prstGeom>
          <a:solidFill>
            <a:srgbClr val="E8EF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87552" y="4974336"/>
            <a:ext cx="1298448" cy="24688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60704" y="5010912"/>
            <a:ext cx="1152144" cy="14630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30" b="1" i="0">
                <a:solidFill>
                  <a:srgbClr val="496B5A"/>
                </a:solidFill>
                <a:latin typeface="Arial"/>
              </a:rPr>
              <a:t>EXPECTED SIGNATURE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7552" y="5404104"/>
            <a:ext cx="6291072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8212B"/>
                </a:solidFill>
                <a:latin typeface="Georgia"/>
              </a:rPr>
              <a:t>As the link worsens, a separated chain may hit a decoding cliff; a learned joint system may degrade more gradually.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00416" y="4754880"/>
            <a:ext cx="3529584" cy="1124712"/>
          </a:xfrm>
          <a:prstGeom prst="roundRect">
            <a:avLst/>
          </a:prstGeom>
          <a:solidFill>
            <a:srgbClr val="F4E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38160" y="4983480"/>
            <a:ext cx="3054096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A46A28"/>
                </a:solidFill>
                <a:latin typeface="Arial"/>
              </a:rPr>
              <a:t>IMPORTANT CONTROL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74736" y="5340096"/>
            <a:ext cx="2980944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18212B"/>
                </a:solidFill>
                <a:latin typeface="Arial"/>
              </a:rPr>
              <a:t>A digital system can also send learned features—so the experiment includes that third arm.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20824" y="6108192"/>
            <a:ext cx="8147304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30" b="1" i="0">
                <a:solidFill>
                  <a:srgbClr val="8A3346"/>
                </a:solidFill>
                <a:latin typeface="Georgia"/>
              </a:rPr>
              <a:t>Research question: does the task-oriented joint design help after bandwidth, noise and comparison strength are matched fairly?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30352" y="6446520"/>
            <a:ext cx="11109960" cy="0"/>
          </a:xfrm>
          <a:prstGeom prst="line">
            <a:avLst/>
          </a:prstGeom>
          <a:ln w="8890">
            <a:solidFill>
              <a:srgbClr val="D7D2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530352" y="6519672"/>
            <a:ext cx="841248" cy="201168"/>
          </a:xfrm>
          <a:prstGeom prst="round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59" y="6547104"/>
            <a:ext cx="713232" cy="1188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1" i="0">
                <a:solidFill>
                  <a:srgbClr val="203A57"/>
                </a:solidFill>
                <a:latin typeface="Arial"/>
              </a:rPr>
              <a:t>MOTIVATION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463040" y="6519672"/>
            <a:ext cx="841248" cy="201168"/>
          </a:xfrm>
          <a:prstGeom prst="round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527048" y="6547104"/>
            <a:ext cx="713232" cy="1188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1" i="0">
                <a:solidFill>
                  <a:srgbClr val="203A57"/>
                </a:solidFill>
                <a:latin typeface="Arial"/>
              </a:rPr>
              <a:t>OBJECTIVES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86200" y="6519672"/>
            <a:ext cx="7086600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5B6570"/>
                </a:solidFill>
                <a:latin typeface="Arial"/>
              </a:rPr>
              <a:t>Conceptual behavior only—not measured project results · formal three-arm experiment begins on slide 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37392" y="6510528"/>
            <a:ext cx="4754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5B6570"/>
                </a:solidFill>
                <a:latin typeface="Cascadia Mono"/>
              </a:rPr>
              <a:t>03/12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28600"/>
            <a:ext cx="420624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5B6570"/>
                </a:solidFill>
                <a:latin typeface="Arial"/>
              </a:rPr>
              <a:t>CAPSTONE · FIRST REVIEW · 18–22 AUG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52760" y="210312"/>
            <a:ext cx="9601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8A3346"/>
                </a:solidFill>
                <a:latin typeface="Cascadia Mono"/>
              </a:rPr>
              <a:t>§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66928"/>
            <a:ext cx="10881360" cy="4754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8212B"/>
                </a:solidFill>
                <a:latin typeface="Georgia"/>
              </a:rPr>
              <a:t>Literature survey and research gap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0352" y="1097280"/>
            <a:ext cx="11109960" cy="0"/>
          </a:xfrm>
          <a:prstGeom prst="line">
            <a:avLst/>
          </a:prstGeom>
          <a:ln w="16510">
            <a:solidFill>
              <a:srgbClr val="8A33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58368" y="1389888"/>
            <a:ext cx="5285232" cy="1664208"/>
          </a:xfrm>
          <a:prstGeom prst="roundRect">
            <a:avLst/>
          </a:prstGeom>
          <a:solidFill>
            <a:srgbClr val="FFFEFA"/>
          </a:solidFill>
          <a:ln w="12700">
            <a:solidFill>
              <a:srgbClr val="D7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389888"/>
            <a:ext cx="64008" cy="1664208"/>
          </a:xfrm>
          <a:prstGeom prst="rect">
            <a:avLst/>
          </a:prstGeom>
          <a:solidFill>
            <a:srgbClr val="203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591056"/>
            <a:ext cx="4279392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20" b="1" i="0">
                <a:solidFill>
                  <a:srgbClr val="18212B"/>
                </a:solidFill>
                <a:latin typeface="Georgia"/>
              </a:rPr>
              <a:t>Finite blocklength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75504" y="1609344"/>
            <a:ext cx="512064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03A57"/>
                </a:solidFill>
                <a:latin typeface="Cascadia Mono"/>
              </a:rPr>
              <a:t>[1–4]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020824"/>
            <a:ext cx="480060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0" b="0" i="0">
                <a:solidFill>
                  <a:srgbClr val="5B6570"/>
                </a:solidFill>
                <a:latin typeface="Arial"/>
              </a:rPr>
              <a:t>Rate backs off from capacity; source and channel dispersions interact.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2551176"/>
            <a:ext cx="109728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203A57"/>
                </a:solidFill>
                <a:latin typeface="Arial"/>
              </a:rPr>
              <a:t>OPEN ISSUE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47088" y="2505456"/>
            <a:ext cx="3822191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1">
                <a:solidFill>
                  <a:srgbClr val="18212B"/>
                </a:solidFill>
                <a:latin typeface="Arial"/>
              </a:rPr>
              <a:t>Need measured practical short-packet loss.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45352" y="1389888"/>
            <a:ext cx="5285232" cy="1664208"/>
          </a:xfrm>
          <a:prstGeom prst="roundRect">
            <a:avLst/>
          </a:prstGeom>
          <a:solidFill>
            <a:srgbClr val="FFFEFA"/>
          </a:solidFill>
          <a:ln w="12700">
            <a:solidFill>
              <a:srgbClr val="D7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45352" y="1389888"/>
            <a:ext cx="64008" cy="1664208"/>
          </a:xfrm>
          <a:prstGeom prst="rect">
            <a:avLst/>
          </a:prstGeom>
          <a:solidFill>
            <a:srgbClr val="8A3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3952" y="1591056"/>
            <a:ext cx="4279392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20" b="1" i="0">
                <a:solidFill>
                  <a:srgbClr val="18212B"/>
                </a:solidFill>
                <a:latin typeface="Georgia"/>
              </a:rPr>
              <a:t>Learned compression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62488" y="1609344"/>
            <a:ext cx="512064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8A3346"/>
                </a:solidFill>
                <a:latin typeface="Cascadia Mono"/>
              </a:rPr>
              <a:t>[11–17]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3952" y="2020824"/>
            <a:ext cx="480060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0" b="0" i="0">
                <a:solidFill>
                  <a:srgbClr val="5B6570"/>
                </a:solidFill>
                <a:latin typeface="Arial"/>
              </a:rPr>
              <a:t>End-to-end transforms and entropy priors improve rate–distortion.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3952" y="2551176"/>
            <a:ext cx="109728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8A3346"/>
                </a:solidFill>
                <a:latin typeface="Arial"/>
              </a:rPr>
              <a:t>OPEN ISSUE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34072" y="2505456"/>
            <a:ext cx="3822191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1">
                <a:solidFill>
                  <a:srgbClr val="18212B"/>
                </a:solidFill>
                <a:latin typeface="Arial"/>
              </a:rPr>
              <a:t>Reconstruction optimization is not task optimization.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3337560"/>
            <a:ext cx="5285232" cy="1664208"/>
          </a:xfrm>
          <a:prstGeom prst="roundRect">
            <a:avLst/>
          </a:prstGeom>
          <a:solidFill>
            <a:srgbClr val="FFFEFA"/>
          </a:solidFill>
          <a:ln w="12700">
            <a:solidFill>
              <a:srgbClr val="D7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8368" y="3337560"/>
            <a:ext cx="64008" cy="1664208"/>
          </a:xfrm>
          <a:prstGeom prst="rect">
            <a:avLst/>
          </a:prstGeom>
          <a:solidFill>
            <a:srgbClr val="496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6968" y="3538728"/>
            <a:ext cx="4279392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20" b="1" i="0">
                <a:solidFill>
                  <a:srgbClr val="18212B"/>
                </a:solidFill>
                <a:latin typeface="Georgia"/>
              </a:rPr>
              <a:t>DeepJSCC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75504" y="3557015"/>
            <a:ext cx="512064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496B5A"/>
                </a:solidFill>
                <a:latin typeface="Cascadia Mono"/>
              </a:rPr>
              <a:t>[5–10,24]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968" y="3968496"/>
            <a:ext cx="480060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0" b="0" i="0">
                <a:solidFill>
                  <a:srgbClr val="5B6570"/>
                </a:solidFill>
                <a:latin typeface="Arial"/>
              </a:rPr>
              <a:t>Continuous learned mappings exhibit graceful degradation under mismatch.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6968" y="4498848"/>
            <a:ext cx="109728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496B5A"/>
                </a:solidFill>
                <a:latin typeface="Arial"/>
              </a:rPr>
              <a:t>OPEN ISSUE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47088" y="4453128"/>
            <a:ext cx="3822191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1">
                <a:solidFill>
                  <a:srgbClr val="18212B"/>
                </a:solidFill>
                <a:latin typeface="Arial"/>
              </a:rPr>
              <a:t>Most image studies foreground reconstruction quality.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45352" y="3337560"/>
            <a:ext cx="5285232" cy="1664208"/>
          </a:xfrm>
          <a:prstGeom prst="roundRect">
            <a:avLst/>
          </a:prstGeom>
          <a:solidFill>
            <a:srgbClr val="FFFEFA"/>
          </a:solidFill>
          <a:ln w="12700">
            <a:solidFill>
              <a:srgbClr val="D7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45352" y="3337560"/>
            <a:ext cx="64008" cy="1664208"/>
          </a:xfrm>
          <a:prstGeom prst="rect">
            <a:avLst/>
          </a:prstGeom>
          <a:solidFill>
            <a:srgbClr val="A46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73952" y="3538728"/>
            <a:ext cx="4279392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20" b="1" i="0">
                <a:solidFill>
                  <a:srgbClr val="18212B"/>
                </a:solidFill>
                <a:latin typeface="Georgia"/>
              </a:rPr>
              <a:t>Task-oriented communication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762488" y="3557015"/>
            <a:ext cx="512064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A46A28"/>
                </a:solidFill>
                <a:latin typeface="Cascadia Mono"/>
              </a:rPr>
              <a:t>[18–23]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73952" y="3968496"/>
            <a:ext cx="480060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0" b="0" i="0">
                <a:solidFill>
                  <a:srgbClr val="5B6570"/>
                </a:solidFill>
                <a:latin typeface="Arial"/>
              </a:rPr>
              <a:t>Learned representations can preserve remote inference under link constraints.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73952" y="4498848"/>
            <a:ext cx="109728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A46A28"/>
                </a:solidFill>
                <a:latin typeface="Arial"/>
              </a:rPr>
              <a:t>OPEN ISSUE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34072" y="4453128"/>
            <a:ext cx="3822191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1">
                <a:solidFill>
                  <a:srgbClr val="18212B"/>
                </a:solidFill>
                <a:latin typeface="Arial"/>
              </a:rPr>
              <a:t>Task awareness must be separated from joint coding.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133856" y="5394960"/>
            <a:ext cx="9912096" cy="603504"/>
          </a:xfrm>
          <a:prstGeom prst="round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353312" y="5559552"/>
            <a:ext cx="9473184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0" b="1" i="0">
                <a:solidFill>
                  <a:srgbClr val="203A57"/>
                </a:solidFill>
                <a:latin typeface="Georgia"/>
              </a:rPr>
              <a:t>Gap carried forward: separate neural representation learning from joint channel coding in a controlled three-way comparison.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530352" y="6446520"/>
            <a:ext cx="11109960" cy="0"/>
          </a:xfrm>
          <a:prstGeom prst="line">
            <a:avLst/>
          </a:prstGeom>
          <a:ln w="8890">
            <a:solidFill>
              <a:srgbClr val="D7D2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530352" y="6519672"/>
            <a:ext cx="1075334" cy="201168"/>
          </a:xfrm>
          <a:prstGeom prst="round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94359" y="6547104"/>
            <a:ext cx="947318" cy="1188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1" i="0">
                <a:solidFill>
                  <a:srgbClr val="203A57"/>
                </a:solidFill>
                <a:latin typeface="Arial"/>
              </a:rPr>
              <a:t>PROBLEM SURVEY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697126" y="6519672"/>
            <a:ext cx="1250899" cy="201168"/>
          </a:xfrm>
          <a:prstGeom prst="round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761134" y="6547104"/>
            <a:ext cx="1122883" cy="1188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1" i="0">
                <a:solidFill>
                  <a:srgbClr val="203A57"/>
                </a:solidFill>
                <a:latin typeface="Arial"/>
              </a:rPr>
              <a:t>SUBJECT KNOWLEDGE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886200" y="6519672"/>
            <a:ext cx="7086600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5B6570"/>
                </a:solidFill>
                <a:latin typeface="Arial"/>
              </a:rPr>
              <a:t>30-source synthesis in docs/literature-review.md · references [1]–[23]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137392" y="6510528"/>
            <a:ext cx="4754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5B6570"/>
                </a:solidFill>
                <a:latin typeface="Cascadia Mono"/>
              </a:rPr>
              <a:t>04/12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28600"/>
            <a:ext cx="420624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5B6570"/>
                </a:solidFill>
                <a:latin typeface="Arial"/>
              </a:rPr>
              <a:t>CAPSTONE · FIRST REVIEW · 18–22 AUG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52760" y="210312"/>
            <a:ext cx="9601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8A3346"/>
                </a:solidFill>
                <a:latin typeface="Cascadia Mono"/>
              </a:rPr>
              <a:t>§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66928"/>
            <a:ext cx="10881360" cy="4754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8212B"/>
                </a:solidFill>
                <a:latin typeface="Georgia"/>
              </a:rPr>
              <a:t>Objectives and research hypotheses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0352" y="1097280"/>
            <a:ext cx="11109960" cy="0"/>
          </a:xfrm>
          <a:prstGeom prst="line">
            <a:avLst/>
          </a:prstGeom>
          <a:ln w="16510">
            <a:solidFill>
              <a:srgbClr val="8A33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40080" y="1353312"/>
            <a:ext cx="4114800" cy="4773168"/>
          </a:xfrm>
          <a:prstGeom prst="roundRect">
            <a:avLst/>
          </a:prstGeom>
          <a:solidFill>
            <a:srgbClr val="FFFEFA"/>
          </a:solidFill>
          <a:ln w="12700">
            <a:solidFill>
              <a:srgbClr val="D7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68680" y="1572768"/>
            <a:ext cx="941832" cy="246888"/>
          </a:xfrm>
          <a:prstGeom prst="round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" y="1609344"/>
            <a:ext cx="795528" cy="14630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30" b="1" i="0">
                <a:solidFill>
                  <a:srgbClr val="203A57"/>
                </a:solidFill>
                <a:latin typeface="Arial"/>
              </a:rPr>
              <a:t>OBJECTIVES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057400"/>
            <a:ext cx="301752" cy="2468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8A3346"/>
                </a:solidFill>
                <a:latin typeface="Cascadia Mono"/>
              </a:rPr>
              <a:t>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039112"/>
            <a:ext cx="306324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18212B"/>
                </a:solidFill>
                <a:latin typeface="Arial"/>
              </a:rPr>
              <a:t>Train a residual neural encoder and dual-head decoder through AWGN.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2679192"/>
            <a:ext cx="301752" cy="2468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8A3346"/>
                </a:solidFill>
                <a:latin typeface="Cascadia Mono"/>
              </a:rPr>
              <a:t>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660904"/>
            <a:ext cx="306324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18212B"/>
                </a:solidFill>
                <a:latin typeface="Arial"/>
              </a:rPr>
              <a:t>Implement a standards-derived, non-strawman JPEG 2000 + NR LDPC baseline.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3300984"/>
            <a:ext cx="301752" cy="2468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8A3346"/>
                </a:solidFill>
                <a:latin typeface="Cascadia Mono"/>
              </a:rPr>
              <a:t>3.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282696"/>
            <a:ext cx="306324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18212B"/>
                </a:solidFill>
                <a:latin typeface="Arial"/>
              </a:rPr>
              <a:t>Tune classical quality, code rate and modulation on validation only.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3922776"/>
            <a:ext cx="301752" cy="2468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8A3346"/>
                </a:solidFill>
                <a:latin typeface="Cascadia Mono"/>
              </a:rPr>
              <a:t>4.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904488"/>
            <a:ext cx="306324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18212B"/>
                </a:solidFill>
                <a:latin typeface="Arial"/>
              </a:rPr>
              <a:t>Add a shared-encoder digital AI feature control for attribution.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" y="4544568"/>
            <a:ext cx="301752" cy="2468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8A3346"/>
                </a:solidFill>
                <a:latin typeface="Cascadia Mono"/>
              </a:rPr>
              <a:t>5.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4526280"/>
            <a:ext cx="306324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18212B"/>
                </a:solidFill>
                <a:latin typeface="Arial"/>
              </a:rPr>
              <a:t>Evaluate paired image outcomes once on the sealed test split.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" y="5166360"/>
            <a:ext cx="301752" cy="2468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8A3346"/>
                </a:solidFill>
                <a:latin typeface="Cascadia Mono"/>
              </a:rPr>
              <a:t>6.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5148072"/>
            <a:ext cx="306324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18212B"/>
                </a:solidFill>
                <a:latin typeface="Arial"/>
              </a:rPr>
              <a:t>Report positive, null or negative outcomes under one frozen protocol.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74920" y="1353312"/>
            <a:ext cx="6473952" cy="2414016"/>
          </a:xfrm>
          <a:prstGeom prst="roundRect">
            <a:avLst/>
          </a:prstGeom>
          <a:solidFill>
            <a:srgbClr val="F2E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340096" y="1591056"/>
            <a:ext cx="1078992" cy="24688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13248" y="1627632"/>
            <a:ext cx="932688" cy="14630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30" b="1" i="0">
                <a:solidFill>
                  <a:srgbClr val="8A3346"/>
                </a:solidFill>
                <a:latin typeface="Arial"/>
              </a:rPr>
              <a:t>H1 · PRIMARY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40096" y="2011680"/>
            <a:ext cx="5925312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20" b="1" i="0">
                <a:solidFill>
                  <a:srgbClr val="18212B"/>
                </a:solidFill>
                <a:latin typeface="Georgia"/>
              </a:rPr>
              <a:t>Low-SNR separation: learned − classical_adaptive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40096" y="2551176"/>
            <a:ext cx="580644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5B6570"/>
                </a:solidFill>
                <a:latin typeface="Arial"/>
              </a:rPr>
              <a:t>A point qualifies when √N·Δ̂(s)/σ̂(s) &gt; 1.96. H1 is supported only if the longest run R_obs contains at least three consecutive qualifying points at or below the training SNR and the calibrated run p-value ≤ 0.05.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40096" y="3355848"/>
            <a:ext cx="5797296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1">
                <a:solidFill>
                  <a:srgbClr val="8A3346"/>
                </a:solidFill>
                <a:latin typeface="Arial"/>
              </a:rPr>
              <a:t>Effect size of record: mean paired accuracy difference over the full low-SNR region.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74920" y="3995928"/>
            <a:ext cx="6473952" cy="530352"/>
          </a:xfrm>
          <a:prstGeom prst="roundRect">
            <a:avLst/>
          </a:prstGeom>
          <a:solidFill>
            <a:srgbClr val="FFFEFA"/>
          </a:solidFill>
          <a:ln w="12700">
            <a:solidFill>
              <a:srgbClr val="D7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276088" y="4142232"/>
            <a:ext cx="41148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0" b="1" i="0">
                <a:solidFill>
                  <a:srgbClr val="203A57"/>
                </a:solidFill>
                <a:latin typeface="Cascadia Mono"/>
              </a:rPr>
              <a:t>H2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15000" y="4105656"/>
            <a:ext cx="1426464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18212B"/>
                </a:solidFill>
                <a:latin typeface="Georgia"/>
              </a:rPr>
              <a:t>Graceful vs cliff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59752" y="4087368"/>
            <a:ext cx="4096512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0" b="0" i="0">
                <a:solidFill>
                  <a:srgbClr val="5B6570"/>
                </a:solidFill>
                <a:latin typeface="Arial"/>
              </a:rPr>
              <a:t>Fixed classical curve drops ≥30 pp while learned drops ≤15 pp over the frozen window.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74920" y="4654296"/>
            <a:ext cx="6473952" cy="530352"/>
          </a:xfrm>
          <a:prstGeom prst="roundRect">
            <a:avLst/>
          </a:prstGeom>
          <a:solidFill>
            <a:srgbClr val="FFFEFA"/>
          </a:solidFill>
          <a:ln w="12700">
            <a:solidFill>
              <a:srgbClr val="D7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276088" y="4800600"/>
            <a:ext cx="41148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0" b="1" i="0">
                <a:solidFill>
                  <a:srgbClr val="203A57"/>
                </a:solidFill>
                <a:latin typeface="Cascadia Mono"/>
              </a:rPr>
              <a:t>H3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715000" y="4764024"/>
            <a:ext cx="1426464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18212B"/>
                </a:solidFill>
                <a:latin typeface="Georgia"/>
              </a:rPr>
              <a:t>Convergence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59752" y="4745736"/>
            <a:ext cx="4096512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0" b="0" i="0">
                <a:solidFill>
                  <a:srgbClr val="5B6570"/>
                </a:solidFill>
                <a:latin typeface="Arial"/>
              </a:rPr>
              <a:t>Paired gap trends toward zero across SNR; crossover is reported, not required.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074920" y="5312664"/>
            <a:ext cx="6473952" cy="530352"/>
          </a:xfrm>
          <a:prstGeom prst="roundRect">
            <a:avLst/>
          </a:prstGeom>
          <a:solidFill>
            <a:srgbClr val="FFFEFA"/>
          </a:solidFill>
          <a:ln w="12700">
            <a:solidFill>
              <a:srgbClr val="D7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276088" y="5458968"/>
            <a:ext cx="41148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0" b="1" i="0">
                <a:solidFill>
                  <a:srgbClr val="203A57"/>
                </a:solidFill>
                <a:latin typeface="Cascadia Mono"/>
              </a:rPr>
              <a:t>H4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715000" y="5422392"/>
            <a:ext cx="1426464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18212B"/>
                </a:solidFill>
                <a:latin typeface="Georgia"/>
              </a:rPr>
              <a:t>Attribution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59752" y="5404104"/>
            <a:ext cx="4096512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0" b="0" i="0">
                <a:solidFill>
                  <a:srgbClr val="5B6570"/>
                </a:solidFill>
                <a:latin typeface="Arial"/>
              </a:rPr>
              <a:t>Credit joint coding only if DJSCC also exceeds the task-aware digital control under the H1 rule.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530352" y="6446520"/>
            <a:ext cx="11109960" cy="0"/>
          </a:xfrm>
          <a:prstGeom prst="line">
            <a:avLst/>
          </a:prstGeom>
          <a:ln w="8890">
            <a:solidFill>
              <a:srgbClr val="D7D2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530352" y="6519672"/>
            <a:ext cx="841248" cy="201168"/>
          </a:xfrm>
          <a:prstGeom prst="round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94359" y="6547104"/>
            <a:ext cx="713232" cy="1188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1" i="0">
                <a:solidFill>
                  <a:srgbClr val="203A57"/>
                </a:solidFill>
                <a:latin typeface="Arial"/>
              </a:rPr>
              <a:t>OBJECTIVES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463040" y="6519672"/>
            <a:ext cx="841248" cy="201168"/>
          </a:xfrm>
          <a:prstGeom prst="round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527048" y="6547104"/>
            <a:ext cx="713232" cy="1188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1" i="0">
                <a:solidFill>
                  <a:srgbClr val="203A57"/>
                </a:solidFill>
                <a:latin typeface="Arial"/>
              </a:rPr>
              <a:t>HYPOTHESIS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886200" y="6519672"/>
            <a:ext cx="7086600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5B6570"/>
                </a:solidFill>
                <a:latin typeface="Arial"/>
              </a:rPr>
              <a:t>Exact decision protocol: SPEC §2 and ER-10 · H1 is the sole confirmatory primary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137392" y="6510528"/>
            <a:ext cx="4754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5B6570"/>
                </a:solidFill>
                <a:latin typeface="Cascadia Mono"/>
              </a:rPr>
              <a:t>05/12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28600"/>
            <a:ext cx="420624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5B6570"/>
                </a:solidFill>
                <a:latin typeface="Arial"/>
              </a:rPr>
              <a:t>CAPSTONE · FIRST REVIEW · 18–22 AUG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52760" y="210312"/>
            <a:ext cx="9601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8A3346"/>
                </a:solidFill>
                <a:latin typeface="Cascadia Mono"/>
              </a:rPr>
              <a:t>§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66928"/>
            <a:ext cx="10881360" cy="4754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8212B"/>
                </a:solidFill>
                <a:latin typeface="Georgia"/>
              </a:rPr>
              <a:t>Proposed methodology: three-system comparison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0352" y="1097280"/>
            <a:ext cx="11109960" cy="0"/>
          </a:xfrm>
          <a:prstGeom prst="line">
            <a:avLst/>
          </a:prstGeom>
          <a:ln w="16510">
            <a:solidFill>
              <a:srgbClr val="8A33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58368" y="1353312"/>
            <a:ext cx="1298448" cy="4343400"/>
          </a:xfrm>
          <a:prstGeom prst="round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627632"/>
            <a:ext cx="9144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03A57"/>
                </a:solidFill>
                <a:latin typeface="Arial"/>
              </a:rPr>
              <a:t>IMAGENETTE-160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" y="2066543"/>
            <a:ext cx="950976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8212B"/>
                </a:solidFill>
                <a:latin typeface="Arial"/>
              </a:rPr>
              <a:t>canonical</a:t>
            </a:r>
            <a:br/>
            <a:r>
              <a:rPr sz="1000" b="0" i="0">
                <a:solidFill>
                  <a:srgbClr val="18212B"/>
                </a:solidFill>
                <a:latin typeface="Arial"/>
              </a:rPr>
              <a:t>160 × 160 RGB</a:t>
            </a:r>
            <a:br/>
            <a:r>
              <a:rPr sz="1000" b="0" i="0">
                <a:solidFill>
                  <a:srgbClr val="18212B"/>
                </a:solidFill>
                <a:latin typeface="Arial"/>
              </a:rPr>
              <a:t>preprocessing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" y="3108960"/>
            <a:ext cx="950976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5B6570"/>
                </a:solidFill>
                <a:latin typeface="Cascadia Mono"/>
              </a:rPr>
              <a:t>stable sample ID</a:t>
            </a:r>
            <a:br/>
            <a:r>
              <a:rPr sz="919" b="0" i="0">
                <a:solidFill>
                  <a:srgbClr val="5B6570"/>
                </a:solidFill>
                <a:latin typeface="Cascadia Mono"/>
              </a:rPr>
              <a:t>+ split manifest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993392" y="3474720"/>
            <a:ext cx="384048" cy="0"/>
          </a:xfrm>
          <a:prstGeom prst="line">
            <a:avLst/>
          </a:prstGeom>
          <a:ln w="15240">
            <a:solidFill>
              <a:srgbClr val="A8AF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Isosceles Triangle 10"/>
          <p:cNvSpPr/>
          <p:nvPr/>
        </p:nvSpPr>
        <p:spPr>
          <a:xfrm rot="5400000">
            <a:off x="2313432" y="3424427"/>
            <a:ext cx="128016" cy="100584"/>
          </a:xfrm>
          <a:prstGeom prst="triangle">
            <a:avLst/>
          </a:prstGeom>
          <a:solidFill>
            <a:srgbClr val="A8AF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432304" y="1993392"/>
            <a:ext cx="2743200" cy="1005840"/>
          </a:xfrm>
          <a:prstGeom prst="roundRect">
            <a:avLst/>
          </a:prstGeom>
          <a:solidFill>
            <a:srgbClr val="FFFEFA"/>
          </a:solidFill>
          <a:ln w="12700">
            <a:solidFill>
              <a:srgbClr val="D7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33472" y="2103120"/>
            <a:ext cx="2340864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03A57"/>
                </a:solidFill>
                <a:latin typeface="Arial"/>
              </a:rPr>
              <a:t>CLASSICAL + 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33472" y="2377440"/>
            <a:ext cx="2340864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0" b="0" i="0">
                <a:solidFill>
                  <a:srgbClr val="18212B"/>
                </a:solidFill>
                <a:latin typeface="Arial"/>
              </a:rPr>
              <a:t>JPEG 2000</a:t>
            </a:r>
            <a:br/>
            <a:r>
              <a:rPr sz="910" b="0" i="0">
                <a:solidFill>
                  <a:srgbClr val="18212B"/>
                </a:solidFill>
                <a:latin typeface="Arial"/>
              </a:rPr>
              <a:t>packetise + CRC</a:t>
            </a:r>
            <a:br/>
            <a:r>
              <a:rPr sz="910" b="0" i="0">
                <a:solidFill>
                  <a:srgbClr val="18212B"/>
                </a:solidFill>
                <a:latin typeface="Arial"/>
              </a:rPr>
              <a:t>NR LDPC + modulation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239512" y="2496312"/>
            <a:ext cx="384048" cy="0"/>
          </a:xfrm>
          <a:prstGeom prst="line">
            <a:avLst/>
          </a:prstGeom>
          <a:ln w="15240">
            <a:solidFill>
              <a:srgbClr val="203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Isosceles Triangle 15"/>
          <p:cNvSpPr/>
          <p:nvPr/>
        </p:nvSpPr>
        <p:spPr>
          <a:xfrm rot="5400000">
            <a:off x="5559552" y="2446020"/>
            <a:ext cx="128016" cy="100584"/>
          </a:xfrm>
          <a:prstGeom prst="triangle">
            <a:avLst/>
          </a:prstGeom>
          <a:solidFill>
            <a:srgbClr val="203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705856" y="1993392"/>
            <a:ext cx="1700784" cy="1005840"/>
          </a:xfrm>
          <a:prstGeom prst="round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88736" y="2322576"/>
            <a:ext cx="1335024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03A57"/>
                </a:solidFill>
                <a:latin typeface="Cambria Math"/>
              </a:rPr>
              <a:t>AWGN</a:t>
            </a:r>
            <a:br/>
            <a:r>
              <a:rPr sz="1000" b="1" i="0">
                <a:solidFill>
                  <a:srgbClr val="203A57"/>
                </a:solidFill>
                <a:latin typeface="Cambria Math"/>
              </a:rPr>
              <a:t>keyed noise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479792" y="2496312"/>
            <a:ext cx="384048" cy="0"/>
          </a:xfrm>
          <a:prstGeom prst="line">
            <a:avLst/>
          </a:prstGeom>
          <a:ln w="15240">
            <a:solidFill>
              <a:srgbClr val="203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Isosceles Triangle 19"/>
          <p:cNvSpPr/>
          <p:nvPr/>
        </p:nvSpPr>
        <p:spPr>
          <a:xfrm rot="5400000">
            <a:off x="7799831" y="2446020"/>
            <a:ext cx="128016" cy="100584"/>
          </a:xfrm>
          <a:prstGeom prst="triangle">
            <a:avLst/>
          </a:prstGeom>
          <a:solidFill>
            <a:srgbClr val="203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946136" y="1993392"/>
            <a:ext cx="2743200" cy="1005840"/>
          </a:xfrm>
          <a:prstGeom prst="roundRect">
            <a:avLst/>
          </a:prstGeom>
          <a:solidFill>
            <a:srgbClr val="FFFEFA"/>
          </a:solidFill>
          <a:ln w="12700">
            <a:solidFill>
              <a:srgbClr val="D7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56448" y="2313432"/>
            <a:ext cx="2322576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18212B"/>
                </a:solidFill>
                <a:latin typeface="Arial"/>
              </a:rPr>
              <a:t>reconstruct image</a:t>
            </a:r>
            <a:br/>
            <a:r>
              <a:rPr sz="919" b="0" i="0">
                <a:solidFill>
                  <a:srgbClr val="18212B"/>
                </a:solidFill>
                <a:latin typeface="Arial"/>
              </a:rPr>
              <a:t>frozen ResNet-18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432304" y="3273552"/>
            <a:ext cx="2743200" cy="1005840"/>
          </a:xfrm>
          <a:prstGeom prst="roundRect">
            <a:avLst/>
          </a:prstGeom>
          <a:solidFill>
            <a:srgbClr val="FFFEFA"/>
          </a:solidFill>
          <a:ln w="12700">
            <a:solidFill>
              <a:srgbClr val="D7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633472" y="3383280"/>
            <a:ext cx="2340864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8A3346"/>
                </a:solidFill>
                <a:latin typeface="Arial"/>
              </a:rPr>
              <a:t>AI FEATURE CONTROL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33472" y="3657600"/>
            <a:ext cx="2340864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0" b="0" i="0">
                <a:solidFill>
                  <a:srgbClr val="18212B"/>
                </a:solidFill>
                <a:latin typeface="Arial"/>
              </a:rPr>
              <a:t>shared neural features</a:t>
            </a:r>
            <a:br/>
            <a:r>
              <a:rPr sz="910" b="0" i="0">
                <a:solidFill>
                  <a:srgbClr val="18212B"/>
                </a:solidFill>
                <a:latin typeface="Arial"/>
              </a:rPr>
              <a:t>quantize</a:t>
            </a:r>
            <a:br/>
            <a:r>
              <a:rPr sz="910" b="0" i="0">
                <a:solidFill>
                  <a:srgbClr val="18212B"/>
                </a:solidFill>
                <a:latin typeface="Arial"/>
              </a:rPr>
              <a:t>same LDPC + modulation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239512" y="3776472"/>
            <a:ext cx="384048" cy="0"/>
          </a:xfrm>
          <a:prstGeom prst="line">
            <a:avLst/>
          </a:prstGeom>
          <a:ln w="15240">
            <a:solidFill>
              <a:srgbClr val="8A33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Isosceles Triangle 26"/>
          <p:cNvSpPr/>
          <p:nvPr/>
        </p:nvSpPr>
        <p:spPr>
          <a:xfrm rot="5400000">
            <a:off x="5559552" y="3726180"/>
            <a:ext cx="128016" cy="100584"/>
          </a:xfrm>
          <a:prstGeom prst="triangle">
            <a:avLst/>
          </a:prstGeom>
          <a:solidFill>
            <a:srgbClr val="8A3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705856" y="3273552"/>
            <a:ext cx="1700784" cy="1005840"/>
          </a:xfrm>
          <a:prstGeom prst="roundRect">
            <a:avLst/>
          </a:prstGeom>
          <a:solidFill>
            <a:srgbClr val="F2E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88736" y="3602736"/>
            <a:ext cx="1335024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8A3346"/>
                </a:solidFill>
                <a:latin typeface="Cambria Math"/>
              </a:rPr>
              <a:t>AWGN</a:t>
            </a:r>
            <a:br/>
            <a:r>
              <a:rPr sz="1000" b="1" i="0">
                <a:solidFill>
                  <a:srgbClr val="8A3346"/>
                </a:solidFill>
                <a:latin typeface="Cambria Math"/>
              </a:rPr>
              <a:t>keyed noise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479792" y="3776472"/>
            <a:ext cx="384048" cy="0"/>
          </a:xfrm>
          <a:prstGeom prst="line">
            <a:avLst/>
          </a:prstGeom>
          <a:ln w="15240">
            <a:solidFill>
              <a:srgbClr val="8A33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Isosceles Triangle 30"/>
          <p:cNvSpPr/>
          <p:nvPr/>
        </p:nvSpPr>
        <p:spPr>
          <a:xfrm rot="5400000">
            <a:off x="7799831" y="3726180"/>
            <a:ext cx="128016" cy="100584"/>
          </a:xfrm>
          <a:prstGeom prst="triangle">
            <a:avLst/>
          </a:prstGeom>
          <a:solidFill>
            <a:srgbClr val="8A3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7946136" y="3273552"/>
            <a:ext cx="2743200" cy="1005840"/>
          </a:xfrm>
          <a:prstGeom prst="roundRect">
            <a:avLst/>
          </a:prstGeom>
          <a:solidFill>
            <a:srgbClr val="FFFEFA"/>
          </a:solidFill>
          <a:ln w="12700">
            <a:solidFill>
              <a:srgbClr val="D7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56448" y="3593592"/>
            <a:ext cx="2322576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18212B"/>
                </a:solidFill>
                <a:latin typeface="Arial"/>
              </a:rPr>
              <a:t>decode features</a:t>
            </a:r>
            <a:br/>
            <a:r>
              <a:rPr sz="919" b="0" i="0">
                <a:solidFill>
                  <a:srgbClr val="18212B"/>
                </a:solidFill>
                <a:latin typeface="Arial"/>
              </a:rPr>
              <a:t>shared task head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432304" y="4553712"/>
            <a:ext cx="2743200" cy="1005840"/>
          </a:xfrm>
          <a:prstGeom prst="roundRect">
            <a:avLst/>
          </a:prstGeom>
          <a:solidFill>
            <a:srgbClr val="FFFEFA"/>
          </a:solidFill>
          <a:ln w="12700">
            <a:solidFill>
              <a:srgbClr val="D7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633472" y="4663440"/>
            <a:ext cx="2340864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496B5A"/>
                </a:solidFill>
                <a:latin typeface="Arial"/>
              </a:rPr>
              <a:t>NEURAL DJSCC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633472" y="4937760"/>
            <a:ext cx="2340864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0" b="0" i="0">
                <a:solidFill>
                  <a:srgbClr val="18212B"/>
                </a:solidFill>
                <a:latin typeface="Arial"/>
              </a:rPr>
              <a:t>residual CNN encoder</a:t>
            </a:r>
            <a:br/>
            <a:r>
              <a:rPr sz="910" b="0" i="0">
                <a:solidFill>
                  <a:srgbClr val="18212B"/>
                </a:solidFill>
                <a:latin typeface="Arial"/>
              </a:rPr>
              <a:t>power normalize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5239512" y="5056632"/>
            <a:ext cx="384048" cy="0"/>
          </a:xfrm>
          <a:prstGeom prst="line">
            <a:avLst/>
          </a:prstGeom>
          <a:ln w="15240">
            <a:solidFill>
              <a:srgbClr val="496B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Isosceles Triangle 37"/>
          <p:cNvSpPr/>
          <p:nvPr/>
        </p:nvSpPr>
        <p:spPr>
          <a:xfrm rot="5400000">
            <a:off x="5559552" y="5006340"/>
            <a:ext cx="128016" cy="100584"/>
          </a:xfrm>
          <a:prstGeom prst="triangle">
            <a:avLst/>
          </a:prstGeom>
          <a:solidFill>
            <a:srgbClr val="496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5705856" y="4553712"/>
            <a:ext cx="1700784" cy="1005840"/>
          </a:xfrm>
          <a:prstGeom prst="roundRect">
            <a:avLst/>
          </a:prstGeom>
          <a:solidFill>
            <a:srgbClr val="E8EF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888736" y="4882896"/>
            <a:ext cx="1335024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96B5A"/>
                </a:solidFill>
                <a:latin typeface="Cambria Math"/>
              </a:rPr>
              <a:t>AWGN</a:t>
            </a:r>
            <a:br/>
            <a:r>
              <a:rPr sz="1000" b="1" i="0">
                <a:solidFill>
                  <a:srgbClr val="496B5A"/>
                </a:solidFill>
                <a:latin typeface="Cambria Math"/>
              </a:rPr>
              <a:t>keyed noise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7479792" y="5056632"/>
            <a:ext cx="384048" cy="0"/>
          </a:xfrm>
          <a:prstGeom prst="line">
            <a:avLst/>
          </a:prstGeom>
          <a:ln w="15240">
            <a:solidFill>
              <a:srgbClr val="496B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Isosceles Triangle 41"/>
          <p:cNvSpPr/>
          <p:nvPr/>
        </p:nvSpPr>
        <p:spPr>
          <a:xfrm rot="5400000">
            <a:off x="7799831" y="5006340"/>
            <a:ext cx="128016" cy="100584"/>
          </a:xfrm>
          <a:prstGeom prst="triangle">
            <a:avLst/>
          </a:prstGeom>
          <a:solidFill>
            <a:srgbClr val="496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7946136" y="4553712"/>
            <a:ext cx="2743200" cy="1005840"/>
          </a:xfrm>
          <a:prstGeom prst="roundRect">
            <a:avLst/>
          </a:prstGeom>
          <a:solidFill>
            <a:srgbClr val="FFFEFA"/>
          </a:solidFill>
          <a:ln w="12700">
            <a:solidFill>
              <a:srgbClr val="D7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156448" y="4873752"/>
            <a:ext cx="2322576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18212B"/>
                </a:solidFill>
                <a:latin typeface="Arial"/>
              </a:rPr>
              <a:t>dual-head decoder</a:t>
            </a:r>
            <a:br/>
            <a:r>
              <a:rPr sz="919" b="0" i="0">
                <a:solidFill>
                  <a:srgbClr val="18212B"/>
                </a:solidFill>
                <a:latin typeface="Arial"/>
              </a:rPr>
              <a:t>reconstruction + logits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432304" y="5715000"/>
            <a:ext cx="8257031" cy="347472"/>
          </a:xfrm>
          <a:prstGeom prst="roundRect">
            <a:avLst/>
          </a:prstGeom>
          <a:solidFill>
            <a:srgbClr val="F4E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633472" y="5797296"/>
            <a:ext cx="7872983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A46A28"/>
                </a:solidFill>
                <a:latin typeface="Cascadia Mono"/>
              </a:rPr>
              <a:t>Per-image paired row: verdict + exact k + measured Eₛ + noise identity + task outcome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58368" y="5833872"/>
            <a:ext cx="1298448" cy="256032"/>
          </a:xfrm>
          <a:prstGeom prst="roundRect">
            <a:avLst/>
          </a:prstGeom>
          <a:solidFill>
            <a:srgbClr val="F2E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22376" y="5888736"/>
            <a:ext cx="1170432" cy="118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0" b="1" i="0">
                <a:solidFill>
                  <a:srgbClr val="8A3346"/>
                </a:solidFill>
                <a:latin typeface="Arial"/>
              </a:rPr>
              <a:t>TEST SEALED → G-12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530352" y="6446520"/>
            <a:ext cx="11109960" cy="0"/>
          </a:xfrm>
          <a:prstGeom prst="line">
            <a:avLst/>
          </a:prstGeom>
          <a:ln w="8890">
            <a:solidFill>
              <a:srgbClr val="D7D2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ounded Rectangle 49"/>
          <p:cNvSpPr/>
          <p:nvPr/>
        </p:nvSpPr>
        <p:spPr>
          <a:xfrm>
            <a:off x="530352" y="6519672"/>
            <a:ext cx="1250899" cy="201168"/>
          </a:xfrm>
          <a:prstGeom prst="round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94359" y="6547104"/>
            <a:ext cx="1122883" cy="1188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1" i="0">
                <a:solidFill>
                  <a:srgbClr val="203A57"/>
                </a:solidFill>
                <a:latin typeface="Arial"/>
              </a:rPr>
              <a:t>SUBJECT KNOWLEDGE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872691" y="6519672"/>
            <a:ext cx="841248" cy="201168"/>
          </a:xfrm>
          <a:prstGeom prst="round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936699" y="6547104"/>
            <a:ext cx="713232" cy="1188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1" i="0">
                <a:solidFill>
                  <a:srgbClr val="203A57"/>
                </a:solidFill>
                <a:latin typeface="Arial"/>
              </a:rPr>
              <a:t>OBJECTIVES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886200" y="6519672"/>
            <a:ext cx="7086600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5B6570"/>
                </a:solidFill>
                <a:latin typeface="Arial"/>
              </a:rPr>
              <a:t>SPEC SR-4, SR-17, BR-4, ER-9 · src/data/test_access.py is the sole release boundary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137392" y="6510528"/>
            <a:ext cx="4754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5B6570"/>
                </a:solidFill>
                <a:latin typeface="Cascadia Mono"/>
              </a:rPr>
              <a:t>06/12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28600"/>
            <a:ext cx="420624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5B6570"/>
                </a:solidFill>
                <a:latin typeface="Arial"/>
              </a:rPr>
              <a:t>CAPSTONE · FIRST REVIEW · 18–22 AUG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52760" y="210312"/>
            <a:ext cx="9601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8A3346"/>
                </a:solidFill>
                <a:latin typeface="Cascadia Mono"/>
              </a:rPr>
              <a:t>§ 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66928"/>
            <a:ext cx="10881360" cy="4754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8212B"/>
                </a:solidFill>
                <a:latin typeface="Georgia"/>
              </a:rPr>
              <a:t>How we keep the comparison fair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0352" y="1097280"/>
            <a:ext cx="11109960" cy="0"/>
          </a:xfrm>
          <a:prstGeom prst="line">
            <a:avLst/>
          </a:prstGeom>
          <a:ln w="16510">
            <a:solidFill>
              <a:srgbClr val="8A33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58368" y="1371600"/>
            <a:ext cx="5285232" cy="932688"/>
          </a:xfrm>
          <a:prstGeom prst="roundRect">
            <a:avLst/>
          </a:prstGeom>
          <a:solidFill>
            <a:srgbClr val="FFFEFA"/>
          </a:solidFill>
          <a:ln w="12700">
            <a:solidFill>
              <a:srgbClr val="D7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371600"/>
            <a:ext cx="64008" cy="932688"/>
          </a:xfrm>
          <a:prstGeom prst="rect">
            <a:avLst/>
          </a:prstGeom>
          <a:solidFill>
            <a:srgbClr val="203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1527048"/>
            <a:ext cx="1344168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8212B"/>
                </a:solidFill>
                <a:latin typeface="Georgia"/>
              </a:rPr>
              <a:t>Equal resource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31136" y="1490472"/>
            <a:ext cx="3474720" cy="4297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5B6570"/>
                </a:solidFill>
                <a:latin typeface="Arial"/>
              </a:rPr>
              <a:t>Same complex-symbol budget k and Eₛ/N₀ definition; realized symbol energy is logged.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0488" y="1371600"/>
            <a:ext cx="5285232" cy="932688"/>
          </a:xfrm>
          <a:prstGeom prst="roundRect">
            <a:avLst/>
          </a:prstGeom>
          <a:solidFill>
            <a:srgbClr val="FFFEFA"/>
          </a:solidFill>
          <a:ln w="12700">
            <a:solidFill>
              <a:srgbClr val="D7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90488" y="1371600"/>
            <a:ext cx="64008" cy="932688"/>
          </a:xfrm>
          <a:prstGeom prst="rect">
            <a:avLst/>
          </a:prstGeom>
          <a:solidFill>
            <a:srgbClr val="203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9944" y="1527048"/>
            <a:ext cx="1344168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8212B"/>
                </a:solidFill>
                <a:latin typeface="Georgia"/>
              </a:rPr>
              <a:t>Strong comparator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63256" y="1490472"/>
            <a:ext cx="3474720" cy="4297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5B6570"/>
                </a:solidFill>
                <a:latin typeface="Arial"/>
              </a:rPr>
              <a:t>JPEG 2000 quality, LDPC rate and BPSK/QPSK/16-QAM tune per SNR on validation.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2542032"/>
            <a:ext cx="5285232" cy="932688"/>
          </a:xfrm>
          <a:prstGeom prst="roundRect">
            <a:avLst/>
          </a:prstGeom>
          <a:solidFill>
            <a:srgbClr val="FFFEFA"/>
          </a:solidFill>
          <a:ln w="12700">
            <a:solidFill>
              <a:srgbClr val="D7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" y="2542032"/>
            <a:ext cx="64008" cy="932688"/>
          </a:xfrm>
          <a:prstGeom prst="rect">
            <a:avLst/>
          </a:prstGeom>
          <a:solidFill>
            <a:srgbClr val="8A3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7824" y="2697480"/>
            <a:ext cx="1344168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8212B"/>
                </a:solidFill>
                <a:latin typeface="Georgia"/>
              </a:rPr>
              <a:t>Exact accounting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31136" y="2660904"/>
            <a:ext cx="3474720" cy="4297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5B6570"/>
                </a:solidFill>
                <a:latin typeface="Arial"/>
              </a:rPr>
              <a:t>Container, CRC, code-block and filler bytes count; decode failures remain in the denominator.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90488" y="2542032"/>
            <a:ext cx="5285232" cy="932688"/>
          </a:xfrm>
          <a:prstGeom prst="roundRect">
            <a:avLst/>
          </a:prstGeom>
          <a:solidFill>
            <a:srgbClr val="FFFEFA"/>
          </a:solidFill>
          <a:ln w="12700">
            <a:solidFill>
              <a:srgbClr val="D7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90488" y="2542032"/>
            <a:ext cx="64008" cy="932688"/>
          </a:xfrm>
          <a:prstGeom prst="rect">
            <a:avLst/>
          </a:prstGeom>
          <a:solidFill>
            <a:srgbClr val="8A3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9944" y="2697480"/>
            <a:ext cx="1344168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8212B"/>
                </a:solidFill>
                <a:latin typeface="Georgia"/>
              </a:rPr>
              <a:t>Measured BLER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63256" y="2660904"/>
            <a:ext cx="3474720" cy="4297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5B6570"/>
                </a:solidFill>
                <a:latin typeface="Arial"/>
              </a:rPr>
              <a:t>Every required physical identity is characterized; missing evidence is never treated as zero BLER.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3712464"/>
            <a:ext cx="5285232" cy="932688"/>
          </a:xfrm>
          <a:prstGeom prst="roundRect">
            <a:avLst/>
          </a:prstGeom>
          <a:solidFill>
            <a:srgbClr val="FFFEFA"/>
          </a:solidFill>
          <a:ln w="12700">
            <a:solidFill>
              <a:srgbClr val="D7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8368" y="3712464"/>
            <a:ext cx="64008" cy="932688"/>
          </a:xfrm>
          <a:prstGeom prst="rect">
            <a:avLst/>
          </a:prstGeom>
          <a:solidFill>
            <a:srgbClr val="496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77824" y="3867912"/>
            <a:ext cx="1344168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8212B"/>
                </a:solidFill>
                <a:latin typeface="Georgia"/>
              </a:rPr>
              <a:t>Outage policy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31136" y="3831336"/>
            <a:ext cx="3474720" cy="4297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5B6570"/>
                </a:solidFill>
                <a:latin typeface="Arial"/>
              </a:rPr>
              <a:t>Constant-class fallback is measured from validation counts—100/1,000—not assumed as 1/10.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90488" y="3712464"/>
            <a:ext cx="5285232" cy="932688"/>
          </a:xfrm>
          <a:prstGeom prst="roundRect">
            <a:avLst/>
          </a:prstGeom>
          <a:solidFill>
            <a:srgbClr val="FFFEFA"/>
          </a:solidFill>
          <a:ln w="12700">
            <a:solidFill>
              <a:srgbClr val="D7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90488" y="3712464"/>
            <a:ext cx="64008" cy="932688"/>
          </a:xfrm>
          <a:prstGeom prst="rect">
            <a:avLst/>
          </a:prstGeom>
          <a:solidFill>
            <a:srgbClr val="496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9944" y="3867912"/>
            <a:ext cx="1344168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8212B"/>
                </a:solidFill>
                <a:latin typeface="Georgia"/>
              </a:rPr>
              <a:t>Classifier control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63256" y="3831336"/>
            <a:ext cx="3474720" cy="4297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5B6570"/>
                </a:solidFill>
                <a:latin typeface="Arial"/>
              </a:rPr>
              <a:t>Clean and artifact-finetuned classifier passes separate codec shift from link failure.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4882896"/>
            <a:ext cx="5285232" cy="932688"/>
          </a:xfrm>
          <a:prstGeom prst="roundRect">
            <a:avLst/>
          </a:prstGeom>
          <a:solidFill>
            <a:srgbClr val="FFFEFA"/>
          </a:solidFill>
          <a:ln w="12700">
            <a:solidFill>
              <a:srgbClr val="D7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58368" y="4882896"/>
            <a:ext cx="64008" cy="932688"/>
          </a:xfrm>
          <a:prstGeom prst="rect">
            <a:avLst/>
          </a:prstGeom>
          <a:solidFill>
            <a:srgbClr val="A46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77824" y="5038344"/>
            <a:ext cx="1344168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8212B"/>
                </a:solidFill>
                <a:latin typeface="Georgia"/>
              </a:rPr>
              <a:t>Attribution arm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231136" y="5001768"/>
            <a:ext cx="3474720" cy="4297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5B6570"/>
                </a:solidFill>
                <a:latin typeface="Arial"/>
              </a:rPr>
              <a:t>Quantized learned features traverse the same digital chain, isolating task awareness from joint coding.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90488" y="4882896"/>
            <a:ext cx="5285232" cy="932688"/>
          </a:xfrm>
          <a:prstGeom prst="roundRect">
            <a:avLst/>
          </a:prstGeom>
          <a:solidFill>
            <a:srgbClr val="FFFEFA"/>
          </a:solidFill>
          <a:ln w="12700">
            <a:solidFill>
              <a:srgbClr val="D7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190488" y="4882896"/>
            <a:ext cx="64008" cy="932688"/>
          </a:xfrm>
          <a:prstGeom prst="rect">
            <a:avLst/>
          </a:prstGeom>
          <a:solidFill>
            <a:srgbClr val="A46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9944" y="5038344"/>
            <a:ext cx="1344168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8212B"/>
                </a:solidFill>
                <a:latin typeface="Georgia"/>
              </a:rPr>
              <a:t>One test campaign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63256" y="5001768"/>
            <a:ext cx="3474720" cy="4297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5B6570"/>
                </a:solidFill>
                <a:latin typeface="Arial"/>
              </a:rPr>
              <a:t>All choices freeze before G-12; paired inference retains complete image × system trajectories.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417320" y="6053328"/>
            <a:ext cx="9354312" cy="256032"/>
          </a:xfrm>
          <a:prstGeom prst="roundRect">
            <a:avLst/>
          </a:prstGeom>
          <a:solidFill>
            <a:srgbClr val="F2E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609344" y="6108192"/>
            <a:ext cx="8970264" cy="12801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0" b="1" i="0">
                <a:solidFill>
                  <a:srgbClr val="8A3346"/>
                </a:solidFill>
                <a:latin typeface="Arial"/>
              </a:rPr>
              <a:t>Fail-closed rule: uncharacterized, infeasible and failed cases are explicit outcomes—not silently dropped rows.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530352" y="6446520"/>
            <a:ext cx="11109960" cy="0"/>
          </a:xfrm>
          <a:prstGeom prst="line">
            <a:avLst/>
          </a:prstGeom>
          <a:ln w="8890">
            <a:solidFill>
              <a:srgbClr val="D7D2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530352" y="6519672"/>
            <a:ext cx="1250899" cy="201168"/>
          </a:xfrm>
          <a:prstGeom prst="round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94359" y="6547104"/>
            <a:ext cx="1122883" cy="1188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1" i="0">
                <a:solidFill>
                  <a:srgbClr val="203A57"/>
                </a:solidFill>
                <a:latin typeface="Arial"/>
              </a:rPr>
              <a:t>SUBJECT KNOWLEDGE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872691" y="6519672"/>
            <a:ext cx="841248" cy="201168"/>
          </a:xfrm>
          <a:prstGeom prst="round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936699" y="6547104"/>
            <a:ext cx="713232" cy="1188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1" i="0">
                <a:solidFill>
                  <a:srgbClr val="203A57"/>
                </a:solidFill>
                <a:latin typeface="Arial"/>
              </a:rPr>
              <a:t>OBJECTIVES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886200" y="6519672"/>
            <a:ext cx="7086600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5B6570"/>
                </a:solidFill>
                <a:latin typeface="Arial"/>
              </a:rPr>
              <a:t>BR-4, BR-10/11, ER-3/4/9/10 · W4 integration adjudication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137392" y="6510528"/>
            <a:ext cx="4754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5B6570"/>
                </a:solidFill>
                <a:latin typeface="Cascadia Mono"/>
              </a:rPr>
              <a:t>07/12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28600"/>
            <a:ext cx="420624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5B6570"/>
                </a:solidFill>
                <a:latin typeface="Arial"/>
              </a:rPr>
              <a:t>CAPSTONE · FIRST REVIEW · 18–22 AUG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52760" y="210312"/>
            <a:ext cx="9601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8A3346"/>
                </a:solidFill>
                <a:latin typeface="Cascadia Mono"/>
              </a:rPr>
              <a:t>§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66928"/>
            <a:ext cx="10881360" cy="4754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8212B"/>
                </a:solidFill>
                <a:latin typeface="Georgia"/>
              </a:rPr>
              <a:t>Preliminary work and feasibility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0352" y="1097280"/>
            <a:ext cx="11109960" cy="0"/>
          </a:xfrm>
          <a:prstGeom prst="line">
            <a:avLst/>
          </a:prstGeom>
          <a:ln w="16510">
            <a:solidFill>
              <a:srgbClr val="8A33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58368" y="1307592"/>
            <a:ext cx="10863072" cy="365760"/>
          </a:xfrm>
          <a:prstGeom prst="roundRect">
            <a:avLst/>
          </a:prstGeom>
          <a:solidFill>
            <a:srgbClr val="F2E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" y="1399032"/>
            <a:ext cx="1042416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9" b="1" i="0">
                <a:solidFill>
                  <a:srgbClr val="8A3346"/>
                </a:solidFill>
                <a:latin typeface="Arial"/>
              </a:rPr>
              <a:t>NO HEADLINE COMPARISON EXISTS YET · bounded smoke is integration evidence, not scientific outcome evidence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920240"/>
            <a:ext cx="2487168" cy="2395728"/>
          </a:xfrm>
          <a:prstGeom prst="roundRect">
            <a:avLst/>
          </a:prstGeom>
          <a:solidFill>
            <a:srgbClr val="FFFEFA"/>
          </a:solidFill>
          <a:ln w="12700">
            <a:solidFill>
              <a:srgbClr val="D7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1920240"/>
            <a:ext cx="2487168" cy="73152"/>
          </a:xfrm>
          <a:prstGeom prst="rect">
            <a:avLst/>
          </a:prstGeom>
          <a:solidFill>
            <a:srgbClr val="203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2212848"/>
            <a:ext cx="2121408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" b="1" i="0">
                <a:solidFill>
                  <a:srgbClr val="203A57"/>
                </a:solidFill>
                <a:latin typeface="Arial"/>
              </a:rPr>
              <a:t>G-1 · ResNet-18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2761488"/>
            <a:ext cx="2157984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8212B"/>
                </a:solidFill>
                <a:latin typeface="Georgia"/>
              </a:rPr>
              <a:t>89.8%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3456432"/>
            <a:ext cx="2121408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0" b="0" i="0">
                <a:solidFill>
                  <a:srgbClr val="5B6570"/>
                </a:solidFill>
                <a:latin typeface="Arial"/>
              </a:rPr>
              <a:t>trained from scratch</a:t>
            </a:r>
            <a:br/>
            <a:r>
              <a:rPr sz="910" b="0" i="0">
                <a:solidFill>
                  <a:srgbClr val="5B6570"/>
                </a:solidFill>
                <a:latin typeface="Arial"/>
              </a:rPr>
              <a:t>898/1,000 validation top-1 · PASS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01568" y="1920240"/>
            <a:ext cx="2487168" cy="2395728"/>
          </a:xfrm>
          <a:prstGeom prst="roundRect">
            <a:avLst/>
          </a:prstGeom>
          <a:solidFill>
            <a:srgbClr val="FFFEFA"/>
          </a:solidFill>
          <a:ln w="12700">
            <a:solidFill>
              <a:srgbClr val="D7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1568" y="1920240"/>
            <a:ext cx="2487168" cy="73152"/>
          </a:xfrm>
          <a:prstGeom prst="rect">
            <a:avLst/>
          </a:prstGeom>
          <a:solidFill>
            <a:srgbClr val="496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84448" y="2212848"/>
            <a:ext cx="2121408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" b="1" i="0">
                <a:solidFill>
                  <a:srgbClr val="496B5A"/>
                </a:solidFill>
                <a:latin typeface="Arial"/>
              </a:rPr>
              <a:t>G-7 · neural model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761488"/>
            <a:ext cx="2157984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8212B"/>
                </a:solidFill>
                <a:latin typeface="Georgia"/>
              </a:rPr>
              <a:t>1.64 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84448" y="3456432"/>
            <a:ext cx="2121408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0" b="0" i="0">
                <a:solidFill>
                  <a:srgbClr val="5B6570"/>
                </a:solidFill>
                <a:latin typeface="Arial"/>
              </a:rPr>
              <a:t>residual DJSCC parameters · batch 32</a:t>
            </a:r>
            <a:br/>
            <a:r>
              <a:rPr sz="910" b="0" i="0">
                <a:solidFill>
                  <a:srgbClr val="5B6570"/>
                </a:solidFill>
                <a:latin typeface="Arial"/>
              </a:rPr>
              <a:t>48.68 s/epoch · 1.004 GiB VRAM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44768" y="1920240"/>
            <a:ext cx="2487168" cy="2395728"/>
          </a:xfrm>
          <a:prstGeom prst="roundRect">
            <a:avLst/>
          </a:prstGeom>
          <a:solidFill>
            <a:srgbClr val="FFFEFA"/>
          </a:solidFill>
          <a:ln w="12700">
            <a:solidFill>
              <a:srgbClr val="D7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44768" y="1920240"/>
            <a:ext cx="2487168" cy="73152"/>
          </a:xfrm>
          <a:prstGeom prst="rect">
            <a:avLst/>
          </a:prstGeom>
          <a:solidFill>
            <a:srgbClr val="8A3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27648" y="2212848"/>
            <a:ext cx="2121408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" b="1" i="0">
                <a:solidFill>
                  <a:srgbClr val="8A3346"/>
                </a:solidFill>
                <a:latin typeface="Arial"/>
              </a:rPr>
              <a:t>G-2 · digital PHY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59" y="2761488"/>
            <a:ext cx="2157984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8212B"/>
                </a:solidFill>
                <a:latin typeface="Georgia"/>
              </a:rPr>
              <a:t>≤ 0.0037 dB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27648" y="3456432"/>
            <a:ext cx="2121408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0" b="0" i="0">
                <a:solidFill>
                  <a:srgbClr val="5B6570"/>
                </a:solidFill>
                <a:latin typeface="Arial"/>
              </a:rPr>
              <a:t>observed waterfall displacement</a:t>
            </a:r>
            <a:br/>
            <a:r>
              <a:rPr sz="910" b="0" i="0">
                <a:solidFill>
                  <a:srgbClr val="5B6570"/>
                </a:solidFill>
                <a:latin typeface="Arial"/>
              </a:rPr>
              <a:t>all three modulations within 0.5 dB · PASS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887968" y="1920240"/>
            <a:ext cx="2487168" cy="2395728"/>
          </a:xfrm>
          <a:prstGeom prst="roundRect">
            <a:avLst/>
          </a:prstGeom>
          <a:solidFill>
            <a:srgbClr val="FFFEFA"/>
          </a:solidFill>
          <a:ln w="12700">
            <a:solidFill>
              <a:srgbClr val="D7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887968" y="1920240"/>
            <a:ext cx="2487168" cy="73152"/>
          </a:xfrm>
          <a:prstGeom prst="rect">
            <a:avLst/>
          </a:prstGeom>
          <a:solidFill>
            <a:srgbClr val="A46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70848" y="2212848"/>
            <a:ext cx="2121408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" b="1" i="0">
                <a:solidFill>
                  <a:srgbClr val="A46A28"/>
                </a:solidFill>
                <a:latin typeface="Arial"/>
              </a:rPr>
              <a:t>W4 · integration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0" y="2761488"/>
            <a:ext cx="2157984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8212B"/>
                </a:solidFill>
                <a:latin typeface="Georgia"/>
              </a:rPr>
              <a:t>end-to-end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70848" y="3456432"/>
            <a:ext cx="2121408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0" b="0" i="0">
                <a:solidFill>
                  <a:srgbClr val="5B6570"/>
                </a:solidFill>
                <a:latin typeface="Arial"/>
              </a:rPr>
              <a:t>JPEG 2000 → LDPC → AWGN → decode</a:t>
            </a:r>
            <a:br/>
            <a:r>
              <a:rPr sz="910" b="0" i="0">
                <a:solidFill>
                  <a:srgbClr val="5B6570"/>
                </a:solidFill>
                <a:latin typeface="Arial"/>
              </a:rPr>
              <a:t>records + verifier · bounded PASS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4663440"/>
            <a:ext cx="10863072" cy="1115568"/>
          </a:xfrm>
          <a:prstGeom prst="round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96112" y="4892040"/>
            <a:ext cx="1078992" cy="24688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9264" y="4928616"/>
            <a:ext cx="932688" cy="14630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30" b="1" i="0">
                <a:solidFill>
                  <a:srgbClr val="203A57"/>
                </a:solidFill>
                <a:latin typeface="Arial"/>
              </a:rPr>
              <a:t>G8_C · COMPLETE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76272" y="4846320"/>
            <a:ext cx="2249424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203A57"/>
                </a:solidFill>
                <a:latin typeface="Georgia"/>
              </a:rPr>
              <a:t>COMPLETE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98848" y="4846320"/>
            <a:ext cx="3913632" cy="4297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9" b="0" i="0">
                <a:solidFill>
                  <a:srgbClr val="18212B"/>
                </a:solidFill>
                <a:latin typeface="Arial"/>
              </a:rPr>
              <a:t>Pascal successor: 3,213/3,213 identities</a:t>
            </a:r>
            <a:br/>
            <a:r>
              <a:rPr sz="969" b="0" i="0">
                <a:solidFill>
                  <a:srgbClr val="18212B"/>
                </a:solidFill>
                <a:latin typeface="Arial"/>
              </a:rPr>
              <a:t>153 measured-only curves · successor table frozen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86216" y="4818888"/>
            <a:ext cx="258775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8A3346"/>
                </a:solidFill>
                <a:latin typeface="Arial"/>
              </a:rPr>
              <a:t>G8_D tooling: COMPLETE</a:t>
            </a:r>
            <a:br/>
            <a:r>
              <a:rPr sz="900" b="1" i="0">
                <a:solidFill>
                  <a:srgbClr val="8A3346"/>
                </a:solidFill>
                <a:latin typeface="Arial"/>
              </a:rPr>
              <a:t>G8_E/E0: PLANNED / NOT STARTED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" y="6016752"/>
            <a:ext cx="100126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1">
                <a:solidFill>
                  <a:srgbClr val="5B6570"/>
                </a:solidFill>
                <a:latin typeface="Georgia"/>
              </a:rPr>
              <a:t>No full validation measurement/pass one, training/fine-tuning, learned-vs-classical result or test evaluation has occurred.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530352" y="6446520"/>
            <a:ext cx="11109960" cy="0"/>
          </a:xfrm>
          <a:prstGeom prst="line">
            <a:avLst/>
          </a:prstGeom>
          <a:ln w="8890">
            <a:solidFill>
              <a:srgbClr val="D7D2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530352" y="6519672"/>
            <a:ext cx="1250899" cy="201168"/>
          </a:xfrm>
          <a:prstGeom prst="round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94359" y="6547104"/>
            <a:ext cx="1122883" cy="1188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1" i="0">
                <a:solidFill>
                  <a:srgbClr val="203A57"/>
                </a:solidFill>
                <a:latin typeface="Arial"/>
              </a:rPr>
              <a:t>SUBJECT KNOWLEDGE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886200" y="6519672"/>
            <a:ext cx="7086600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5B6570"/>
                </a:solidFill>
                <a:latin typeface="Arial"/>
              </a:rPr>
              <a:t>Authenticated records: G-1, G-2, G-7, W4, G8_C and G8_D · test split access = 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137392" y="6510528"/>
            <a:ext cx="4754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5B6570"/>
                </a:solidFill>
                <a:latin typeface="Cascadia Mono"/>
              </a:rPr>
              <a:t>08/12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28600"/>
            <a:ext cx="420624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5B6570"/>
                </a:solidFill>
                <a:latin typeface="Arial"/>
              </a:rPr>
              <a:t>CAPSTONE · FIRST REVIEW · 18–22 AUG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52760" y="210312"/>
            <a:ext cx="9601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8A3346"/>
                </a:solidFill>
                <a:latin typeface="Cascadia Mono"/>
              </a:rPr>
              <a:t>§ 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66928"/>
            <a:ext cx="10881360" cy="4754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8212B"/>
                </a:solidFill>
                <a:latin typeface="Georgia"/>
              </a:rPr>
              <a:t>Project Gantt chart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0352" y="1097280"/>
            <a:ext cx="11109960" cy="0"/>
          </a:xfrm>
          <a:prstGeom prst="line">
            <a:avLst/>
          </a:prstGeom>
          <a:ln w="16510">
            <a:solidFill>
              <a:srgbClr val="8A33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713232" y="1362456"/>
            <a:ext cx="1069848" cy="246888"/>
          </a:xfrm>
          <a:prstGeom prst="round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1399032"/>
            <a:ext cx="923544" cy="14630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30" b="1" i="0">
                <a:solidFill>
                  <a:srgbClr val="203A57"/>
                </a:solidFill>
                <a:latin typeface="Arial"/>
              </a:rPr>
              <a:t>WORKSTREAM</a:t>
            </a:r>
          </a:p>
        </p:txBody>
      </p:sp>
      <p:sp>
        <p:nvSpPr>
          <p:cNvPr id="8" name="Rectangle 7"/>
          <p:cNvSpPr/>
          <p:nvPr/>
        </p:nvSpPr>
        <p:spPr>
          <a:xfrm>
            <a:off x="3127248" y="1353312"/>
            <a:ext cx="1758608" cy="365760"/>
          </a:xfrm>
          <a:prstGeom prst="rect">
            <a:avLst/>
          </a:prstGeom>
          <a:solidFill>
            <a:srgbClr val="E8EDF2"/>
          </a:solidFill>
          <a:ln w="6350">
            <a:solidFill>
              <a:srgbClr val="D7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27248" y="1463040"/>
            <a:ext cx="1758608" cy="12801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30" b="1" i="0">
                <a:solidFill>
                  <a:srgbClr val="203A57"/>
                </a:solidFill>
                <a:latin typeface="Cascadia Mono"/>
              </a:rPr>
              <a:t>AUGUST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127248" y="1719072"/>
            <a:ext cx="0" cy="3858768"/>
          </a:xfrm>
          <a:prstGeom prst="line">
            <a:avLst/>
          </a:prstGeom>
          <a:ln w="7620">
            <a:solidFill>
              <a:srgbClr val="D7D2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4885856" y="1353312"/>
            <a:ext cx="2293837" cy="365760"/>
          </a:xfrm>
          <a:prstGeom prst="rect">
            <a:avLst/>
          </a:prstGeom>
          <a:solidFill>
            <a:srgbClr val="E8EDF2"/>
          </a:solidFill>
          <a:ln w="6350">
            <a:solidFill>
              <a:srgbClr val="D7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85856" y="1463040"/>
            <a:ext cx="2293837" cy="12801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30" b="1" i="0">
                <a:solidFill>
                  <a:srgbClr val="203A57"/>
                </a:solidFill>
                <a:latin typeface="Cascadia Mono"/>
              </a:rPr>
              <a:t>SEPTEMBER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885856" y="1719072"/>
            <a:ext cx="0" cy="3858768"/>
          </a:xfrm>
          <a:prstGeom prst="line">
            <a:avLst/>
          </a:prstGeom>
          <a:ln w="7620">
            <a:solidFill>
              <a:srgbClr val="D7D2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7179694" y="1353312"/>
            <a:ext cx="2370298" cy="365760"/>
          </a:xfrm>
          <a:prstGeom prst="rect">
            <a:avLst/>
          </a:prstGeom>
          <a:solidFill>
            <a:srgbClr val="E8EDF2"/>
          </a:solidFill>
          <a:ln w="6350">
            <a:solidFill>
              <a:srgbClr val="D7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79694" y="1463040"/>
            <a:ext cx="2370298" cy="12801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30" b="1" i="0">
                <a:solidFill>
                  <a:srgbClr val="203A57"/>
                </a:solidFill>
                <a:latin typeface="Cascadia Mono"/>
              </a:rPr>
              <a:t>OCTOBER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179694" y="1719072"/>
            <a:ext cx="0" cy="3858768"/>
          </a:xfrm>
          <a:prstGeom prst="line">
            <a:avLst/>
          </a:prstGeom>
          <a:ln w="7620">
            <a:solidFill>
              <a:srgbClr val="D7D2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9549993" y="1353312"/>
            <a:ext cx="1605686" cy="365760"/>
          </a:xfrm>
          <a:prstGeom prst="rect">
            <a:avLst/>
          </a:prstGeom>
          <a:solidFill>
            <a:srgbClr val="E8EDF2"/>
          </a:solidFill>
          <a:ln w="6350">
            <a:solidFill>
              <a:srgbClr val="D7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49993" y="1463040"/>
            <a:ext cx="1605686" cy="12801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30" b="1" i="0">
                <a:solidFill>
                  <a:srgbClr val="203A57"/>
                </a:solidFill>
                <a:latin typeface="Cascadia Mono"/>
              </a:rPr>
              <a:t>NOVEMBER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549993" y="1719072"/>
            <a:ext cx="0" cy="3858768"/>
          </a:xfrm>
          <a:prstGeom prst="line">
            <a:avLst/>
          </a:prstGeom>
          <a:ln w="7620">
            <a:solidFill>
              <a:srgbClr val="D7D2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1155680" y="1719072"/>
            <a:ext cx="0" cy="3858768"/>
          </a:xfrm>
          <a:prstGeom prst="line">
            <a:avLst/>
          </a:prstGeom>
          <a:ln w="7620">
            <a:solidFill>
              <a:srgbClr val="D7D2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31520" y="2011679"/>
            <a:ext cx="2176272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18212B"/>
                </a:solidFill>
                <a:latin typeface="Arial"/>
              </a:rPr>
              <a:t>G8_C BLER characterization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13232" y="2340864"/>
            <a:ext cx="10442448" cy="0"/>
          </a:xfrm>
          <a:prstGeom prst="line">
            <a:avLst/>
          </a:prstGeom>
          <a:ln w="4445">
            <a:solidFill>
              <a:srgbClr val="D7D2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3127248" y="2020824"/>
            <a:ext cx="458767" cy="283464"/>
          </a:xfrm>
          <a:prstGeom prst="round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2432303"/>
            <a:ext cx="2176272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18212B"/>
                </a:solidFill>
                <a:latin typeface="Arial"/>
              </a:rPr>
              <a:t>G8_D validation-measurement tooling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13232" y="2761488"/>
            <a:ext cx="10442448" cy="0"/>
          </a:xfrm>
          <a:prstGeom prst="line">
            <a:avLst/>
          </a:prstGeom>
          <a:ln w="4445">
            <a:solidFill>
              <a:srgbClr val="D7D2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3586015" y="2441448"/>
            <a:ext cx="229383" cy="283464"/>
          </a:xfrm>
          <a:prstGeom prst="round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2852927"/>
            <a:ext cx="2176272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18212B"/>
                </a:solidFill>
                <a:latin typeface="Arial"/>
              </a:rPr>
              <a:t>G8_E validation + pass one / G-8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13232" y="3182112"/>
            <a:ext cx="10442448" cy="0"/>
          </a:xfrm>
          <a:prstGeom prst="line">
            <a:avLst/>
          </a:prstGeom>
          <a:ln w="4445">
            <a:solidFill>
              <a:srgbClr val="D7D2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3815399" y="2862072"/>
            <a:ext cx="382306" cy="283464"/>
          </a:xfrm>
          <a:prstGeom prst="round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3273551"/>
            <a:ext cx="2176272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18212B"/>
                </a:solidFill>
                <a:latin typeface="Arial"/>
              </a:rPr>
              <a:t>Learned model training + tuning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713232" y="3602736"/>
            <a:ext cx="10442448" cy="0"/>
          </a:xfrm>
          <a:prstGeom prst="line">
            <a:avLst/>
          </a:prstGeom>
          <a:ln w="4445">
            <a:solidFill>
              <a:srgbClr val="D7D2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4274166" y="3282696"/>
            <a:ext cx="2140915" cy="283464"/>
          </a:xfrm>
          <a:prstGeom prst="roundRect">
            <a:avLst/>
          </a:prstGeom>
          <a:solidFill>
            <a:srgbClr val="496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19886" y="3355848"/>
            <a:ext cx="2049475" cy="1097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1" i="0">
                <a:solidFill>
                  <a:srgbClr val="FFFFFF"/>
                </a:solidFill>
                <a:latin typeface="Cascadia Mono"/>
              </a:rPr>
              <a:t>PLANNED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3694176"/>
            <a:ext cx="2176272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18212B"/>
                </a:solidFill>
                <a:latin typeface="Arial"/>
              </a:rPr>
              <a:t>Digital feature system + validation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713232" y="4023359"/>
            <a:ext cx="10442448" cy="0"/>
          </a:xfrm>
          <a:prstGeom prst="line">
            <a:avLst/>
          </a:prstGeom>
          <a:ln w="4445">
            <a:solidFill>
              <a:srgbClr val="D7D2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6415082" y="3703320"/>
            <a:ext cx="1070457" cy="283464"/>
          </a:xfrm>
          <a:prstGeom prst="roundRect">
            <a:avLst/>
          </a:prstGeom>
          <a:solidFill>
            <a:srgbClr val="8A3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60802" y="3776472"/>
            <a:ext cx="979017" cy="1097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1" i="0">
                <a:solidFill>
                  <a:srgbClr val="FFFFFF"/>
                </a:solidFill>
                <a:latin typeface="Cascadia Mono"/>
              </a:rPr>
              <a:t>PLANNED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" y="4114800"/>
            <a:ext cx="2176272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18212B"/>
                </a:solidFill>
                <a:latin typeface="Arial"/>
              </a:rPr>
              <a:t>Freeze + single test campaign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713232" y="4443983"/>
            <a:ext cx="10442448" cy="0"/>
          </a:xfrm>
          <a:prstGeom prst="line">
            <a:avLst/>
          </a:prstGeom>
          <a:ln w="4445">
            <a:solidFill>
              <a:srgbClr val="D7D2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7485539" y="4123944"/>
            <a:ext cx="1070457" cy="283464"/>
          </a:xfrm>
          <a:prstGeom prst="roundRect">
            <a:avLst/>
          </a:prstGeom>
          <a:solidFill>
            <a:srgbClr val="A46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531259" y="4197096"/>
            <a:ext cx="979017" cy="1097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1" i="0">
                <a:solidFill>
                  <a:srgbClr val="FFFFFF"/>
                </a:solidFill>
                <a:latin typeface="Cascadia Mono"/>
              </a:rPr>
              <a:t>PLANNED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1520" y="4535424"/>
            <a:ext cx="2176272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18212B"/>
                </a:solidFill>
                <a:latin typeface="Arial"/>
              </a:rPr>
              <a:t>Demo + optional replay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713232" y="4864608"/>
            <a:ext cx="10442448" cy="0"/>
          </a:xfrm>
          <a:prstGeom prst="line">
            <a:avLst/>
          </a:prstGeom>
          <a:ln w="4445">
            <a:solidFill>
              <a:srgbClr val="D7D2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/>
          <p:cNvSpPr/>
          <p:nvPr/>
        </p:nvSpPr>
        <p:spPr>
          <a:xfrm>
            <a:off x="8555997" y="4544568"/>
            <a:ext cx="1070457" cy="283464"/>
          </a:xfrm>
          <a:prstGeom prst="roundRect">
            <a:avLst/>
          </a:prstGeom>
          <a:solidFill>
            <a:srgbClr val="A46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601717" y="4617720"/>
            <a:ext cx="979017" cy="1097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1" i="0">
                <a:solidFill>
                  <a:srgbClr val="FFFFFF"/>
                </a:solidFill>
                <a:latin typeface="Cascadia Mono"/>
              </a:rPr>
              <a:t>PLANNED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1520" y="4956048"/>
            <a:ext cx="2176272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18212B"/>
                </a:solidFill>
                <a:latin typeface="Arial"/>
              </a:rPr>
              <a:t>Report, audit + final review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713232" y="5285231"/>
            <a:ext cx="10442448" cy="0"/>
          </a:xfrm>
          <a:prstGeom prst="line">
            <a:avLst/>
          </a:prstGeom>
          <a:ln w="4445">
            <a:solidFill>
              <a:srgbClr val="D7D2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ounded Rectangle 47"/>
          <p:cNvSpPr/>
          <p:nvPr/>
        </p:nvSpPr>
        <p:spPr>
          <a:xfrm>
            <a:off x="9626454" y="4965192"/>
            <a:ext cx="1529225" cy="283464"/>
          </a:xfrm>
          <a:prstGeom prst="roundRect">
            <a:avLst/>
          </a:prstGeom>
          <a:solidFill>
            <a:srgbClr val="203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672174" y="5038344"/>
            <a:ext cx="1437785" cy="1097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1" i="0">
                <a:solidFill>
                  <a:srgbClr val="FFFFFF"/>
                </a:solidFill>
                <a:latin typeface="Cascadia Mono"/>
              </a:rPr>
              <a:t>PLANNED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3815399" y="1719072"/>
            <a:ext cx="0" cy="3685032"/>
          </a:xfrm>
          <a:prstGeom prst="line">
            <a:avLst/>
          </a:prstGeom>
          <a:ln w="10160">
            <a:solidFill>
              <a:srgbClr val="8A33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Oval 50"/>
          <p:cNvSpPr/>
          <p:nvPr/>
        </p:nvSpPr>
        <p:spPr>
          <a:xfrm>
            <a:off x="3765107" y="1755648"/>
            <a:ext cx="100584" cy="100584"/>
          </a:xfrm>
          <a:prstGeom prst="ellipse">
            <a:avLst/>
          </a:prstGeom>
          <a:solidFill>
            <a:srgbClr val="8A3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2" name="Connector 51"/>
          <p:cNvCxnSpPr/>
          <p:nvPr/>
        </p:nvCxnSpPr>
        <p:spPr>
          <a:xfrm>
            <a:off x="7026772" y="1719072"/>
            <a:ext cx="0" cy="3685032"/>
          </a:xfrm>
          <a:prstGeom prst="line">
            <a:avLst/>
          </a:prstGeom>
          <a:ln w="10160">
            <a:solidFill>
              <a:srgbClr val="203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Oval 52"/>
          <p:cNvSpPr/>
          <p:nvPr/>
        </p:nvSpPr>
        <p:spPr>
          <a:xfrm>
            <a:off x="6976480" y="1755648"/>
            <a:ext cx="100584" cy="100584"/>
          </a:xfrm>
          <a:prstGeom prst="ellipse">
            <a:avLst/>
          </a:prstGeom>
          <a:solidFill>
            <a:srgbClr val="203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4" name="Connector 53"/>
          <p:cNvCxnSpPr/>
          <p:nvPr/>
        </p:nvCxnSpPr>
        <p:spPr>
          <a:xfrm>
            <a:off x="10773373" y="1719072"/>
            <a:ext cx="0" cy="3685032"/>
          </a:xfrm>
          <a:prstGeom prst="line">
            <a:avLst/>
          </a:prstGeom>
          <a:ln w="10160">
            <a:solidFill>
              <a:srgbClr val="203A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Oval 54"/>
          <p:cNvSpPr/>
          <p:nvPr/>
        </p:nvSpPr>
        <p:spPr>
          <a:xfrm>
            <a:off x="10723081" y="1755648"/>
            <a:ext cx="100584" cy="100584"/>
          </a:xfrm>
          <a:prstGeom prst="ellipse">
            <a:avLst/>
          </a:prstGeom>
          <a:solidFill>
            <a:srgbClr val="203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" name="Connector 55"/>
          <p:cNvCxnSpPr/>
          <p:nvPr/>
        </p:nvCxnSpPr>
        <p:spPr>
          <a:xfrm>
            <a:off x="11002757" y="1719072"/>
            <a:ext cx="0" cy="3685032"/>
          </a:xfrm>
          <a:prstGeom prst="line">
            <a:avLst/>
          </a:prstGeom>
          <a:ln w="10160">
            <a:solidFill>
              <a:srgbClr val="8A33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Oval 56"/>
          <p:cNvSpPr/>
          <p:nvPr/>
        </p:nvSpPr>
        <p:spPr>
          <a:xfrm>
            <a:off x="10952465" y="1755648"/>
            <a:ext cx="100584" cy="100584"/>
          </a:xfrm>
          <a:prstGeom prst="ellipse">
            <a:avLst/>
          </a:prstGeom>
          <a:solidFill>
            <a:srgbClr val="8A3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10161683" y="4928616"/>
            <a:ext cx="535228" cy="356616"/>
          </a:xfrm>
          <a:prstGeom prst="rect">
            <a:avLst/>
          </a:prstGeom>
          <a:noFill/>
          <a:ln w="13970">
            <a:solidFill>
              <a:srgbClr val="8A33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161683" y="5312664"/>
            <a:ext cx="535228" cy="12801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10" b="0" i="0">
                <a:solidFill>
                  <a:srgbClr val="8A3346"/>
                </a:solidFill>
                <a:latin typeface="Cascadia Mono"/>
              </a:rPr>
              <a:t>W16 contingency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859536" y="5669280"/>
            <a:ext cx="10469880" cy="402336"/>
          </a:xfrm>
          <a:prstGeom prst="roundRect">
            <a:avLst/>
          </a:prstGeom>
          <a:solidFill>
            <a:srgbClr val="FFFEFA"/>
          </a:solidFill>
          <a:ln w="12700">
            <a:solidFill>
              <a:srgbClr val="D7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042415" y="5779008"/>
            <a:ext cx="1010412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0" b="1" i="0">
                <a:solidFill>
                  <a:srgbClr val="18212B"/>
                </a:solidFill>
                <a:latin typeface="Arial"/>
              </a:rPr>
              <a:t>Review dates: 18–22 Aug · 29 Sep–3 Oct · 17–21 Nov · report due 20 Nov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139696" y="6144768"/>
            <a:ext cx="790956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1">
                <a:solidFill>
                  <a:srgbClr val="5B6570"/>
                </a:solidFill>
                <a:latin typeface="Georgia"/>
              </a:rPr>
              <a:t>G8_C and G8_D are complete. G8_E/E0 is next but not started; all later work remains planned.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530352" y="6446520"/>
            <a:ext cx="11109960" cy="0"/>
          </a:xfrm>
          <a:prstGeom prst="line">
            <a:avLst/>
          </a:prstGeom>
          <a:ln w="8890">
            <a:solidFill>
              <a:srgbClr val="D7D2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Rounded Rectangle 63"/>
          <p:cNvSpPr/>
          <p:nvPr/>
        </p:nvSpPr>
        <p:spPr>
          <a:xfrm>
            <a:off x="530352" y="6519672"/>
            <a:ext cx="782726" cy="201168"/>
          </a:xfrm>
          <a:prstGeom prst="round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94359" y="6547104"/>
            <a:ext cx="654710" cy="1188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1" i="0">
                <a:solidFill>
                  <a:srgbClr val="203A57"/>
                </a:solidFill>
                <a:latin typeface="Arial"/>
              </a:rPr>
              <a:t>TIME PLAN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886200" y="6519672"/>
            <a:ext cx="7086600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5B6570"/>
                </a:solidFill>
                <a:latin typeface="Arial"/>
              </a:rPr>
              <a:t>Detailed dependencies and acceptance evidence: docs/gantt-plan.md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1137392" y="6510528"/>
            <a:ext cx="4754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5B6570"/>
                </a:solidFill>
                <a:latin typeface="Cascadia Mono"/>
              </a:rPr>
              <a:t>09/12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28600"/>
            <a:ext cx="420624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5B6570"/>
                </a:solidFill>
                <a:latin typeface="Arial"/>
              </a:rPr>
              <a:t>CAPSTONE · FIRST REVIEW · 18–22 AUG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52760" y="210312"/>
            <a:ext cx="9601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8A3346"/>
                </a:solidFill>
                <a:latin typeface="Cascadia Mono"/>
              </a:rPr>
              <a:t>§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66928"/>
            <a:ext cx="10881360" cy="4754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8212B"/>
                </a:solidFill>
                <a:latin typeface="Georgia"/>
              </a:rPr>
              <a:t>Edge AI application, AIML contribution and scope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0352" y="1097280"/>
            <a:ext cx="11109960" cy="0"/>
          </a:xfrm>
          <a:prstGeom prst="line">
            <a:avLst/>
          </a:prstGeom>
          <a:ln w="16510">
            <a:solidFill>
              <a:srgbClr val="8A33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58368" y="1389888"/>
            <a:ext cx="3410712" cy="3419856"/>
          </a:xfrm>
          <a:prstGeom prst="roundRect">
            <a:avLst/>
          </a:prstGeom>
          <a:solidFill>
            <a:srgbClr val="FFFEFA"/>
          </a:solidFill>
          <a:ln w="10160">
            <a:solidFill>
              <a:srgbClr val="D7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389888"/>
            <a:ext cx="54864" cy="3419856"/>
          </a:xfrm>
          <a:prstGeom prst="rect">
            <a:avLst/>
          </a:prstGeom>
          <a:solidFill>
            <a:srgbClr val="203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77824" y="1572768"/>
            <a:ext cx="1024128" cy="246888"/>
          </a:xfrm>
          <a:prstGeom prst="round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1609344"/>
            <a:ext cx="877824" cy="14630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30" b="1" i="0">
                <a:solidFill>
                  <a:srgbClr val="203A57"/>
                </a:solidFill>
                <a:latin typeface="Arial"/>
              </a:rPr>
              <a:t>APPLICATION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1938528"/>
            <a:ext cx="2990088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18212B"/>
                </a:solidFill>
                <a:latin typeface="Georgia"/>
              </a:rPr>
              <a:t>Edge AI application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2377440"/>
            <a:ext cx="2990088" cy="22768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570"/>
                </a:solidFill>
                <a:latin typeface="Arial"/>
              </a:rPr>
              <a:t>Remote cameras and sensors may need receiver-side inference over limited, noisy links.</a:t>
            </a:r>
            <a:br/>
            <a:br/>
            <a:r>
              <a:rPr sz="1050" b="0" i="0">
                <a:solidFill>
                  <a:srgbClr val="5B6570"/>
                </a:solidFill>
                <a:latin typeface="Arial"/>
              </a:rPr>
              <a:t>The sender runs a compact encoder; the receiver owns the decoder and task head. This represents split edge/cloud inference.</a:t>
            </a:r>
            <a:br/>
            <a:br/>
            <a:r>
              <a:rPr sz="1050" b="0" i="0">
                <a:solidFill>
                  <a:srgbClr val="5B6570"/>
                </a:solidFill>
                <a:latin typeface="Arial"/>
              </a:rPr>
              <a:t>The measured task is Imagenette-160 classification, but the method is neural representation learning for communication.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389888"/>
            <a:ext cx="3410712" cy="3419856"/>
          </a:xfrm>
          <a:prstGeom prst="roundRect">
            <a:avLst/>
          </a:prstGeom>
          <a:solidFill>
            <a:srgbClr val="FFFEFA"/>
          </a:solidFill>
          <a:ln w="10160">
            <a:solidFill>
              <a:srgbClr val="D7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1389888"/>
            <a:ext cx="54864" cy="3419856"/>
          </a:xfrm>
          <a:prstGeom prst="rect">
            <a:avLst/>
          </a:prstGeom>
          <a:solidFill>
            <a:srgbClr val="496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608576" y="1572768"/>
            <a:ext cx="1024128" cy="246888"/>
          </a:xfrm>
          <a:prstGeom prst="roundRect">
            <a:avLst/>
          </a:prstGeom>
          <a:solidFill>
            <a:srgbClr val="F2E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81728" y="1609344"/>
            <a:ext cx="877824" cy="14630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30" b="1" i="0">
                <a:solidFill>
                  <a:srgbClr val="496B5A"/>
                </a:solidFill>
                <a:latin typeface="Arial"/>
              </a:rPr>
              <a:t>IMPLEMENTATION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08576" y="1938528"/>
            <a:ext cx="2990088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18212B"/>
                </a:solidFill>
                <a:latin typeface="Georgia"/>
              </a:rPr>
              <a:t>Deployment ladder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08576" y="2377440"/>
            <a:ext cx="2990088" cy="22768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5B6570"/>
                </a:solidFill>
                <a:latin typeface="Arial"/>
              </a:rPr>
              <a:t>TIER 1 · required</a:t>
            </a:r>
            <a:br/>
            <a:r>
              <a:rPr sz="1019" b="0" i="0">
                <a:solidFill>
                  <a:srgbClr val="5B6570"/>
                </a:solidFill>
                <a:latin typeface="Arial"/>
              </a:rPr>
              <a:t>Simulation-first, offline and reproducible.</a:t>
            </a:r>
            <a:br/>
            <a:br/>
            <a:r>
              <a:rPr sz="1019" b="0" i="0">
                <a:solidFill>
                  <a:srgbClr val="5B6570"/>
                </a:solidFill>
                <a:latin typeface="Arial"/>
              </a:rPr>
              <a:t>TIER 2 · stretch after G-5</a:t>
            </a:r>
            <a:br/>
            <a:r>
              <a:rPr sz="1019" b="0" i="0">
                <a:solidFill>
                  <a:srgbClr val="5B6570"/>
                </a:solidFill>
                <a:latin typeface="Arial"/>
              </a:rPr>
              <a:t>Conducted SDR I/Q replay; prerecorded outcome expected.</a:t>
            </a:r>
            <a:br/>
            <a:br/>
            <a:r>
              <a:rPr sz="1019" b="0" i="0">
                <a:solidFill>
                  <a:srgbClr val="5B6570"/>
                </a:solidFill>
                <a:latin typeface="Arial"/>
              </a:rPr>
              <a:t>TIER 3 · stretch</a:t>
            </a:r>
            <a:br/>
            <a:r>
              <a:rPr sz="1019" b="0" i="0">
                <a:solidFill>
                  <a:srgbClr val="5B6570"/>
                </a:solidFill>
                <a:latin typeface="Arial"/>
              </a:rPr>
              <a:t>Edge placement only if latency and procurement gates pass.</a:t>
            </a:r>
            <a:br/>
            <a:br/>
            <a:r>
              <a:rPr sz="1019" b="0" i="0">
                <a:solidFill>
                  <a:srgbClr val="5B6570"/>
                </a:solidFill>
                <a:latin typeface="Arial"/>
              </a:rPr>
              <a:t>Candidate: HackRF One + attenuation chain + RTL-SDR; no purchase yet.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9872" y="1389888"/>
            <a:ext cx="3410712" cy="3419856"/>
          </a:xfrm>
          <a:prstGeom prst="roundRect">
            <a:avLst/>
          </a:prstGeom>
          <a:solidFill>
            <a:srgbClr val="F2E5E8"/>
          </a:solidFill>
          <a:ln w="10160">
            <a:solidFill>
              <a:srgbClr val="D7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19872" y="1389888"/>
            <a:ext cx="54864" cy="3419856"/>
          </a:xfrm>
          <a:prstGeom prst="rect">
            <a:avLst/>
          </a:prstGeom>
          <a:solidFill>
            <a:srgbClr val="8A3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339328" y="1572768"/>
            <a:ext cx="731519" cy="246888"/>
          </a:xfrm>
          <a:prstGeom prst="roundRect">
            <a:avLst/>
          </a:prstGeom>
          <a:solidFill>
            <a:srgbClr val="F2E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0" y="1609344"/>
            <a:ext cx="585215" cy="14630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30" b="1" i="0">
                <a:solidFill>
                  <a:srgbClr val="8A3346"/>
                </a:solidFill>
                <a:latin typeface="Arial"/>
              </a:rPr>
              <a:t>METHOD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39328" y="1938528"/>
            <a:ext cx="2990088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18212B"/>
                </a:solidFill>
                <a:latin typeface="Georgia"/>
              </a:rPr>
              <a:t>AI/ML contribution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39328" y="2377440"/>
            <a:ext cx="2990088" cy="22768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30" b="0" i="0">
                <a:solidFill>
                  <a:srgbClr val="5B6570"/>
                </a:solidFill>
                <a:latin typeface="Arial"/>
              </a:rPr>
              <a:t>Residual CNN encoder with GroupNorm and PReLU.</a:t>
            </a:r>
            <a:br/>
            <a:br/>
            <a:r>
              <a:rPr sz="1030" b="0" i="0">
                <a:solidFill>
                  <a:srgbClr val="5B6570"/>
                </a:solidFill>
                <a:latin typeface="Arial"/>
              </a:rPr>
              <a:t>Dual-head decoder for class logits and reconstruction.</a:t>
            </a:r>
            <a:br/>
            <a:br/>
            <a:r>
              <a:rPr sz="1030" b="0" i="0">
                <a:solidFill>
                  <a:srgbClr val="5B6570"/>
                </a:solidFill>
                <a:latin typeface="Arial"/>
              </a:rPr>
              <a:t>Supervised multi-task loss: cross-entropy + λMSE.</a:t>
            </a:r>
            <a:br/>
            <a:br/>
            <a:r>
              <a:rPr sz="1030" b="0" i="0">
                <a:solidFill>
                  <a:srgbClr val="5B6570"/>
                </a:solidFill>
                <a:latin typeface="Arial"/>
              </a:rPr>
              <a:t>Differentiable AWGN enables end-to-end training.</a:t>
            </a:r>
            <a:br/>
            <a:br/>
            <a:r>
              <a:rPr sz="1030" b="0" i="0">
                <a:solidFill>
                  <a:srgbClr val="5B6570"/>
                </a:solidFill>
                <a:latin typeface="Arial"/>
              </a:rPr>
              <a:t>The digital feature arm isolates representation learning from joint coding.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50976" y="5184648"/>
            <a:ext cx="10277856" cy="795528"/>
          </a:xfrm>
          <a:prstGeom prst="roundRect">
            <a:avLst/>
          </a:prstGeom>
          <a:solidFill>
            <a:srgbClr val="FFFEFA"/>
          </a:solidFill>
          <a:ln w="12700">
            <a:solidFill>
              <a:srgbClr val="D7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97864" y="5394960"/>
            <a:ext cx="210312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8A3346"/>
                </a:solidFill>
                <a:latin typeface="Cascadia Mono"/>
              </a:rPr>
              <a:t>TECHNICAL BOUNDARY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73552" y="5349240"/>
            <a:ext cx="7626096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18212B"/>
                </a:solidFill>
                <a:latin typeface="Georgia"/>
              </a:rPr>
              <a:t>OpenJPEG 2.5.4 + TS 38.212-derived LDPC/rate matching over abstract AWGN—not a full 5G NR link claim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29968" y="6144768"/>
            <a:ext cx="8156448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1">
                <a:solidFill>
                  <a:srgbClr val="5B6570"/>
                </a:solidFill>
                <a:latin typeface="Georgia"/>
              </a:rPr>
              <a:t>No guaranteed win, measured energy saving or real-radio generalization; completion means executing the preregistered protocol.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30352" y="6446520"/>
            <a:ext cx="11109960" cy="0"/>
          </a:xfrm>
          <a:prstGeom prst="line">
            <a:avLst/>
          </a:prstGeom>
          <a:ln w="8890">
            <a:solidFill>
              <a:srgbClr val="D7D2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530352" y="6519672"/>
            <a:ext cx="1250899" cy="201168"/>
          </a:xfrm>
          <a:prstGeom prst="round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59" y="6547104"/>
            <a:ext cx="1122883" cy="1188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1" i="0">
                <a:solidFill>
                  <a:srgbClr val="203A57"/>
                </a:solidFill>
                <a:latin typeface="Arial"/>
              </a:rPr>
              <a:t>SUBJECT KNOWLEDGE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872691" y="6519672"/>
            <a:ext cx="841248" cy="201168"/>
          </a:xfrm>
          <a:prstGeom prst="round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936699" y="6547104"/>
            <a:ext cx="713232" cy="1188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1" i="0">
                <a:solidFill>
                  <a:srgbClr val="203A57"/>
                </a:solidFill>
                <a:latin typeface="Arial"/>
              </a:rPr>
              <a:t>OBJECTIVES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86200" y="6519672"/>
            <a:ext cx="7086600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5B6570"/>
                </a:solidFill>
                <a:latin typeface="Arial"/>
              </a:rPr>
              <a:t>PR-3 standards register · PR-9 deployment dossier · guide acknowledgement remains PENDING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137392" y="6510528"/>
            <a:ext cx="4754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5B6570"/>
                </a:solidFill>
                <a:latin typeface="Cascadia Mono"/>
              </a:rPr>
              <a:t>10/12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28600"/>
            <a:ext cx="420624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5B6570"/>
                </a:solidFill>
                <a:latin typeface="Arial"/>
              </a:rPr>
              <a:t>CAPSTONE · FIRST REVIEW · 18–22 AUG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52760" y="210312"/>
            <a:ext cx="9601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8A3346"/>
                </a:solidFill>
                <a:latin typeface="Cascadia Mono"/>
              </a:rPr>
              <a:t>§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66928"/>
            <a:ext cx="10881360" cy="4754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8212B"/>
                </a:solidFill>
                <a:latin typeface="Georgia"/>
              </a:rPr>
              <a:t>Explicit First Review rubric-to-slide map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0352" y="1097280"/>
            <a:ext cx="11109960" cy="0"/>
          </a:xfrm>
          <a:prstGeom prst="line">
            <a:avLst/>
          </a:prstGeom>
          <a:ln w="16510">
            <a:solidFill>
              <a:srgbClr val="8A33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749808" y="1417320"/>
            <a:ext cx="10698480" cy="475488"/>
          </a:xfrm>
          <a:prstGeom prst="roundRect">
            <a:avLst/>
          </a:prstGeom>
          <a:solidFill>
            <a:srgbClr val="203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572768"/>
            <a:ext cx="1865376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FFFFFF"/>
                </a:solidFill>
                <a:latin typeface="Arial"/>
              </a:rPr>
              <a:t>CRITERION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90672" y="1572768"/>
            <a:ext cx="1133856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FFFFFF"/>
                </a:solidFill>
                <a:latin typeface="Arial"/>
              </a:rPr>
              <a:t>SLIDES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15968" y="1572768"/>
            <a:ext cx="667512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FFFFFF"/>
                </a:solidFill>
                <a:latin typeface="Arial"/>
              </a:rPr>
              <a:t>EVIDENCE EXPOSED IN THE DECK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9808" y="1938528"/>
            <a:ext cx="10698480" cy="585216"/>
          </a:xfrm>
          <a:prstGeom prst="rect">
            <a:avLst/>
          </a:prstGeom>
          <a:solidFill>
            <a:srgbClr val="FFFEFA"/>
          </a:solidFill>
          <a:ln w="6350">
            <a:solidFill>
              <a:srgbClr val="D7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093976"/>
            <a:ext cx="1874519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8212B"/>
                </a:solidFill>
                <a:latin typeface="Georgia"/>
              </a:rPr>
              <a:t>Motivation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90672" y="2093976"/>
            <a:ext cx="1051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8A3346"/>
                </a:solidFill>
                <a:latin typeface="Cascadia Mono"/>
              </a:rPr>
              <a:t>2–3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15968" y="2066544"/>
            <a:ext cx="6675120" cy="2468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570"/>
                </a:solidFill>
                <a:latin typeface="Arial"/>
              </a:rPr>
              <a:t>Short packets, fixed k, task accuracy, finite-blocklength costs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9808" y="2587752"/>
            <a:ext cx="10698480" cy="585216"/>
          </a:xfrm>
          <a:prstGeom prst="rect">
            <a:avLst/>
          </a:prstGeom>
          <a:solidFill>
            <a:srgbClr val="F7F5EF"/>
          </a:solidFill>
          <a:ln w="6350">
            <a:solidFill>
              <a:srgbClr val="D7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2743200"/>
            <a:ext cx="1874519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8212B"/>
                </a:solidFill>
                <a:latin typeface="Georgia"/>
              </a:rPr>
              <a:t>Objectives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90672" y="2743200"/>
            <a:ext cx="1051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8A3346"/>
                </a:solidFill>
                <a:latin typeface="Cascadia Mono"/>
              </a:rPr>
              <a:t>3, 5–7, 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15968" y="2715768"/>
            <a:ext cx="6675120" cy="2468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570"/>
                </a:solidFill>
                <a:latin typeface="Arial"/>
              </a:rPr>
              <a:t>Neural method, three-arm build, fair protocol and attribution control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9808" y="3236976"/>
            <a:ext cx="10698480" cy="585216"/>
          </a:xfrm>
          <a:prstGeom prst="rect">
            <a:avLst/>
          </a:prstGeom>
          <a:solidFill>
            <a:srgbClr val="FFFEFA"/>
          </a:solidFill>
          <a:ln w="6350">
            <a:solidFill>
              <a:srgbClr val="D7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3392424"/>
            <a:ext cx="1874519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8212B"/>
                </a:solidFill>
                <a:latin typeface="Georgia"/>
              </a:rPr>
              <a:t>Hypothesis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90672" y="3392424"/>
            <a:ext cx="1051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8A3346"/>
                </a:solidFill>
                <a:latin typeface="Cascadia Mono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15968" y="3364992"/>
            <a:ext cx="6675120" cy="2468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570"/>
                </a:solidFill>
                <a:latin typeface="Arial"/>
              </a:rPr>
              <a:t>Exact H1 run rule; H2–H4 preregistered; crossing not required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9808" y="3886200"/>
            <a:ext cx="10698480" cy="585216"/>
          </a:xfrm>
          <a:prstGeom prst="rect">
            <a:avLst/>
          </a:prstGeom>
          <a:solidFill>
            <a:srgbClr val="F7F5EF"/>
          </a:solidFill>
          <a:ln w="6350">
            <a:solidFill>
              <a:srgbClr val="D7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4041648"/>
            <a:ext cx="1874519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8212B"/>
                </a:solidFill>
                <a:latin typeface="Georgia"/>
              </a:rPr>
              <a:t>Problem Survey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90672" y="4041648"/>
            <a:ext cx="1051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8A3346"/>
                </a:solidFill>
                <a:latin typeface="Cascadia Mono"/>
              </a:rPr>
              <a:t>2, 4, 12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15968" y="4014215"/>
            <a:ext cx="6675120" cy="2468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570"/>
                </a:solidFill>
                <a:latin typeface="Arial"/>
              </a:rPr>
              <a:t>30-source synthesis across four literature families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49808" y="4535424"/>
            <a:ext cx="10698480" cy="585216"/>
          </a:xfrm>
          <a:prstGeom prst="rect">
            <a:avLst/>
          </a:prstGeom>
          <a:solidFill>
            <a:srgbClr val="FFFEFA"/>
          </a:solidFill>
          <a:ln w="6350">
            <a:solidFill>
              <a:srgbClr val="D7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0120" y="4690872"/>
            <a:ext cx="1874519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8212B"/>
                </a:solidFill>
                <a:latin typeface="Georgia"/>
              </a:rPr>
              <a:t>Subject Knowledge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90672" y="4690872"/>
            <a:ext cx="1051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8A3346"/>
                </a:solidFill>
                <a:latin typeface="Cascadia Mono"/>
              </a:rPr>
              <a:t>3–8, 10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15968" y="4663440"/>
            <a:ext cx="6675120" cy="2468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570"/>
                </a:solidFill>
                <a:latin typeface="Arial"/>
              </a:rPr>
              <a:t>Residual CNN, multi-task loss, AWGN, controls, evidence and scope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49808" y="5184648"/>
            <a:ext cx="10698480" cy="585216"/>
          </a:xfrm>
          <a:prstGeom prst="rect">
            <a:avLst/>
          </a:prstGeom>
          <a:solidFill>
            <a:srgbClr val="F7F5EF"/>
          </a:solidFill>
          <a:ln w="6350">
            <a:solidFill>
              <a:srgbClr val="D7D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0120" y="5340096"/>
            <a:ext cx="1874519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8212B"/>
                </a:solidFill>
                <a:latin typeface="Georgia"/>
              </a:rPr>
              <a:t>Time Plan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090672" y="5340096"/>
            <a:ext cx="1051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8A3346"/>
                </a:solidFill>
                <a:latin typeface="Cascadia Mono"/>
              </a:rPr>
              <a:t>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15968" y="5312664"/>
            <a:ext cx="6675120" cy="2468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570"/>
                </a:solidFill>
                <a:latin typeface="Arial"/>
              </a:rPr>
              <a:t>Gate-ordered critical path and fixed review/report dates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106424" y="5998464"/>
            <a:ext cx="9994392" cy="301752"/>
          </a:xfrm>
          <a:prstGeom prst="roundRect">
            <a:avLst/>
          </a:prstGeom>
          <a:solidFill>
            <a:srgbClr val="F4E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280160" y="6071616"/>
            <a:ext cx="9646920" cy="1371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A46A28"/>
                </a:solidFill>
                <a:latin typeface="Arial"/>
              </a:rPr>
              <a:t>Final PASS still requires the real PPT review, four-member rehearsal, guide acknowledgement and annotated review-1-basis tag.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530352" y="6446520"/>
            <a:ext cx="11109960" cy="0"/>
          </a:xfrm>
          <a:prstGeom prst="line">
            <a:avLst/>
          </a:prstGeom>
          <a:ln w="8890">
            <a:solidFill>
              <a:srgbClr val="D7D2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530352" y="6519672"/>
            <a:ext cx="841248" cy="201168"/>
          </a:xfrm>
          <a:prstGeom prst="round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94359" y="6547104"/>
            <a:ext cx="713232" cy="1188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1" i="0">
                <a:solidFill>
                  <a:srgbClr val="203A57"/>
                </a:solidFill>
                <a:latin typeface="Arial"/>
              </a:rPr>
              <a:t>RUBRIC MAP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886200" y="6519672"/>
            <a:ext cx="7086600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5B6570"/>
                </a:solidFill>
                <a:latin typeface="Arial"/>
              </a:rPr>
              <a:t>Six criteria × five sub-marks · 30 scaled to 10 · final human readiness remains evidence-based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137392" y="6510528"/>
            <a:ext cx="4754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5B6570"/>
                </a:solidFill>
                <a:latin typeface="Cascadia Mono"/>
              </a:rPr>
              <a:t>11/12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28600"/>
            <a:ext cx="420624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5B6570"/>
                </a:solidFill>
                <a:latin typeface="Arial"/>
              </a:rPr>
              <a:t>CAPSTONE · FIRST REVIEW · 18–22 AUG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52760" y="210312"/>
            <a:ext cx="9601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8A3346"/>
                </a:solidFill>
                <a:latin typeface="Cascadia Mono"/>
              </a:rPr>
              <a:t>§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66928"/>
            <a:ext cx="10881360" cy="4754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8212B"/>
                </a:solidFill>
                <a:latin typeface="Georgia"/>
              </a:rPr>
              <a:t>Selected references and evidence provenance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0352" y="1097280"/>
            <a:ext cx="11109960" cy="0"/>
          </a:xfrm>
          <a:prstGeom prst="line">
            <a:avLst/>
          </a:prstGeom>
          <a:ln w="16510">
            <a:solidFill>
              <a:srgbClr val="8A33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58368" y="1353312"/>
            <a:ext cx="5230368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8A3346"/>
                </a:solidFill>
                <a:latin typeface="Cascadia Mono"/>
              </a:rPr>
              <a:t>SELECTED LITERATURE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1737360"/>
            <a:ext cx="5266944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0" b="0" i="0">
                <a:solidFill>
                  <a:srgbClr val="18212B"/>
                </a:solidFill>
                <a:latin typeface="Georgia"/>
              </a:rPr>
              <a:t>[1] Shannon, A Mathematical Theory of Communication, 1948.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2048255"/>
            <a:ext cx="5266944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0" b="0" i="0">
                <a:solidFill>
                  <a:srgbClr val="18212B"/>
                </a:solidFill>
                <a:latin typeface="Georgia"/>
              </a:rPr>
              <a:t>[2] Gastpar, Rimoldi &amp; Vetterli, To Code, or Not to Code, 2003.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2359152"/>
            <a:ext cx="5266944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0" b="0" i="0">
                <a:solidFill>
                  <a:srgbClr val="18212B"/>
                </a:solidFill>
                <a:latin typeface="Georgia"/>
              </a:rPr>
              <a:t>[3] Polyanskiy, Poor &amp; Verdú, Finite Blocklength, 2010.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" y="2670048"/>
            <a:ext cx="5266944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0" b="0" i="0">
                <a:solidFill>
                  <a:srgbClr val="18212B"/>
                </a:solidFill>
                <a:latin typeface="Georgia"/>
              </a:rPr>
              <a:t>[4] Kostina &amp; Verdú, Lossy JSCC at Finite Blocklength, 2013.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" y="2980944"/>
            <a:ext cx="5266944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0" b="0" i="0">
                <a:solidFill>
                  <a:srgbClr val="18212B"/>
                </a:solidFill>
                <a:latin typeface="Georgia"/>
              </a:rPr>
              <a:t>[5] Bourtsoulatze, Kurka &amp; Gündüz, DeepJSCC, 2019.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" y="3291840"/>
            <a:ext cx="5266944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0" b="0" i="0">
                <a:solidFill>
                  <a:srgbClr val="18212B"/>
                </a:solidFill>
                <a:latin typeface="Georgia"/>
              </a:rPr>
              <a:t>[6] Kurka &amp; Gündüz, DeepJSCC-f, 2020.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" y="3602736"/>
            <a:ext cx="5266944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0" b="0" i="0">
                <a:solidFill>
                  <a:srgbClr val="18212B"/>
                </a:solidFill>
                <a:latin typeface="Georgia"/>
              </a:rPr>
              <a:t>[7] Kurka &amp; Gündüz, Bandwidth-Agile DeepJSCC, 2021.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" y="3913632"/>
            <a:ext cx="5266944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0" b="0" i="0">
                <a:solidFill>
                  <a:srgbClr val="18212B"/>
                </a:solidFill>
                <a:latin typeface="Georgia"/>
              </a:rPr>
              <a:t>[11] Ballé, Laparra &amp; Simoncelli, Learned Compression, 2017.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" y="4224528"/>
            <a:ext cx="5266944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0" b="0" i="0">
                <a:solidFill>
                  <a:srgbClr val="18212B"/>
                </a:solidFill>
                <a:latin typeface="Georgia"/>
              </a:rPr>
              <a:t>[12] Ballé et al., Scale Hyperprior, 2018.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" y="4535424"/>
            <a:ext cx="5266944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0" b="0" i="0">
                <a:solidFill>
                  <a:srgbClr val="18212B"/>
                </a:solidFill>
                <a:latin typeface="Georgia"/>
              </a:rPr>
              <a:t>[17] Blau &amp; Michaeli, Perception–Distortion, 2018.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" y="4846320"/>
            <a:ext cx="5266944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0" b="0" i="0">
                <a:solidFill>
                  <a:srgbClr val="18212B"/>
                </a:solidFill>
                <a:latin typeface="Georgia"/>
              </a:rPr>
              <a:t>[18] Jankowski, Gündüz &amp; Mikolajczyk, Wireless Retrieval, 2021.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" y="5157216"/>
            <a:ext cx="5266944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0" b="0" i="0">
                <a:solidFill>
                  <a:srgbClr val="18212B"/>
                </a:solidFill>
                <a:latin typeface="Georgia"/>
              </a:rPr>
              <a:t>[19] Shao, Mao &amp; Zhang, Task-Oriented Edge Inference, 2021.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" y="5468112"/>
            <a:ext cx="5266944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0" b="0" i="0">
                <a:solidFill>
                  <a:srgbClr val="18212B"/>
                </a:solidFill>
                <a:latin typeface="Georgia"/>
              </a:rPr>
              <a:t>[20] Xie et al., Deep Learning Enabled Semantic Communication, 2021.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089904" y="1371600"/>
            <a:ext cx="0" cy="4407408"/>
          </a:xfrm>
          <a:prstGeom prst="line">
            <a:avLst/>
          </a:prstGeom>
          <a:ln w="10160">
            <a:solidFill>
              <a:srgbClr val="D7D2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382512" y="1353312"/>
            <a:ext cx="512064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03A57"/>
                </a:solidFill>
                <a:latin typeface="Cascadia Mono"/>
              </a:rPr>
              <a:t>REPOSITORY EVIDENCE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1746504"/>
            <a:ext cx="566928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8A3346"/>
                </a:solidFill>
                <a:latin typeface="Cascadia Mono"/>
              </a:rPr>
              <a:t>G-1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1728216"/>
            <a:ext cx="41605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203A57"/>
                </a:solidFill>
                <a:latin typeface="Cascadia Mono"/>
              </a:rPr>
              <a:t>results/reference_classifier/g1_adjudication.json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0" y="1956816"/>
            <a:ext cx="4160520" cy="1554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5B6570"/>
                </a:solidFill>
                <a:latin typeface="Arial"/>
              </a:rPr>
              <a:t>89.8% validation; test sealed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2267712"/>
            <a:ext cx="566928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8A3346"/>
                </a:solidFill>
                <a:latin typeface="Cascadia Mono"/>
              </a:rPr>
              <a:t>G-7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0880" y="2249424"/>
            <a:ext cx="41605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203A57"/>
                </a:solidFill>
                <a:latin typeface="Cascadia Mono"/>
              </a:rPr>
              <a:t>results/profiling/g7_djscc_profile.json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0880" y="2478024"/>
            <a:ext cx="4160520" cy="1554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5B6570"/>
                </a:solidFill>
                <a:latin typeface="Arial"/>
              </a:rPr>
              <a:t>1.64M params; measured epoch/VRAM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2788920"/>
            <a:ext cx="566928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8A3346"/>
                </a:solidFill>
                <a:latin typeface="Cascadia Mono"/>
              </a:rPr>
              <a:t>G-2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40880" y="2770632"/>
            <a:ext cx="41605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203A57"/>
                </a:solidFill>
                <a:latin typeface="Cascadia Mono"/>
              </a:rPr>
              <a:t>results/baseline/g2/g2_adjudication.json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40880" y="2999232"/>
            <a:ext cx="4160520" cy="1554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5B6570"/>
                </a:solidFill>
                <a:latin typeface="Arial"/>
              </a:rPr>
              <a:t>golden vectors + BLER conformance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3310128"/>
            <a:ext cx="566928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8A3346"/>
                </a:solidFill>
                <a:latin typeface="Cascadia Mono"/>
              </a:rPr>
              <a:t>W4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0880" y="3291840"/>
            <a:ext cx="41605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203A57"/>
                </a:solidFill>
                <a:latin typeface="Cascadia Mono"/>
              </a:rPr>
              <a:t>results/baseline/w4/integration_adjudication.json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0880" y="3520440"/>
            <a:ext cx="4160520" cy="1554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5B6570"/>
                </a:solidFill>
                <a:latin typeface="Arial"/>
              </a:rPr>
              <a:t>bounded end-to-end integration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3831335"/>
            <a:ext cx="566928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8A3346"/>
                </a:solidFill>
                <a:latin typeface="Cascadia Mono"/>
              </a:rPr>
              <a:t>G8_C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40880" y="3813048"/>
            <a:ext cx="41605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203A57"/>
                </a:solidFill>
                <a:latin typeface="Cascadia Mono"/>
              </a:rPr>
              <a:t>results/baseline/g8_pascal_successor/successor_bler_table.json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40880" y="4041648"/>
            <a:ext cx="4160520" cy="1554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5B6570"/>
                </a:solidFill>
                <a:latin typeface="Arial"/>
              </a:rPr>
              <a:t>153 measured-only curves; successor table frozen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4352544"/>
            <a:ext cx="566928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8A3346"/>
                </a:solidFill>
                <a:latin typeface="Cascadia Mono"/>
              </a:rPr>
              <a:t>G8_D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40880" y="4334256"/>
            <a:ext cx="41605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203A57"/>
                </a:solidFill>
                <a:latin typeface="Cascadia Mono"/>
              </a:rPr>
              <a:t>results/baseline/g8_d/d7_handoff.json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40880" y="4562856"/>
            <a:ext cx="4160520" cy="1554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5B6570"/>
                </a:solidFill>
                <a:latin typeface="Arial"/>
              </a:rPr>
              <a:t>D0–D7 GREEN; tooling ready; full campaign not started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0" y="4873752"/>
            <a:ext cx="566928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8A3346"/>
                </a:solidFill>
                <a:latin typeface="Cascadia Mono"/>
              </a:rPr>
              <a:t>Spec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40880" y="4855464"/>
            <a:ext cx="41605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203A57"/>
                </a:solidFill>
                <a:latin typeface="Cascadia Mono"/>
              </a:rPr>
              <a:t>spec/SPEC.md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040880" y="5084064"/>
            <a:ext cx="4160520" cy="1554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5B6570"/>
                </a:solidFill>
                <a:latin typeface="Arial"/>
              </a:rPr>
              <a:t>normative hypotheses and requirements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0" y="5394959"/>
            <a:ext cx="566928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8A3346"/>
                </a:solidFill>
                <a:latin typeface="Cascadia Mono"/>
              </a:rPr>
              <a:t>Plan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40880" y="5376672"/>
            <a:ext cx="41605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203A57"/>
                </a:solidFill>
                <a:latin typeface="Cascadia Mono"/>
              </a:rPr>
              <a:t>docs/gantt-plan.md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40880" y="5605272"/>
            <a:ext cx="4160520" cy="1554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5B6570"/>
                </a:solidFill>
                <a:latin typeface="Arial"/>
              </a:rPr>
              <a:t>dates, gates and current status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0" y="5916168"/>
            <a:ext cx="566928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8A3346"/>
                </a:solidFill>
                <a:latin typeface="Cascadia Mono"/>
              </a:rPr>
              <a:t>Deploy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040880" y="5897880"/>
            <a:ext cx="41605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203A57"/>
                </a:solidFill>
                <a:latin typeface="Cascadia Mono"/>
              </a:rPr>
              <a:t>docs/deployment-dossier.md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040880" y="6126480"/>
            <a:ext cx="4160520" cy="1554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5B6570"/>
                </a:solidFill>
                <a:latin typeface="Arial"/>
              </a:rPr>
              <a:t>simulation-first + SDR stretch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382512" y="5998464"/>
            <a:ext cx="4754880" cy="310896"/>
          </a:xfrm>
          <a:prstGeom prst="roundRect">
            <a:avLst/>
          </a:prstGeom>
          <a:solidFill>
            <a:srgbClr val="F2E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528816" y="6080760"/>
            <a:ext cx="4462272" cy="12801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0" b="1" i="0">
                <a:solidFill>
                  <a:srgbClr val="8A3346"/>
                </a:solidFill>
                <a:latin typeface="Arial"/>
              </a:rPr>
              <a:t>Refresh G8_C/G8_D status from the handoff files on submission day.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530352" y="6446520"/>
            <a:ext cx="11109960" cy="0"/>
          </a:xfrm>
          <a:prstGeom prst="line">
            <a:avLst/>
          </a:prstGeom>
          <a:ln w="8890">
            <a:solidFill>
              <a:srgbClr val="D7D2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ounded Rectangle 51"/>
          <p:cNvSpPr/>
          <p:nvPr/>
        </p:nvSpPr>
        <p:spPr>
          <a:xfrm>
            <a:off x="530352" y="6519672"/>
            <a:ext cx="1075334" cy="201168"/>
          </a:xfrm>
          <a:prstGeom prst="round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94359" y="6547104"/>
            <a:ext cx="947318" cy="1188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1" i="0">
                <a:solidFill>
                  <a:srgbClr val="203A57"/>
                </a:solidFill>
                <a:latin typeface="Arial"/>
              </a:rPr>
              <a:t>PROBLEM SURVEY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697126" y="6519672"/>
            <a:ext cx="1250899" cy="201168"/>
          </a:xfrm>
          <a:prstGeom prst="round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761134" y="6547104"/>
            <a:ext cx="1122883" cy="1188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1" i="0">
                <a:solidFill>
                  <a:srgbClr val="203A57"/>
                </a:solidFill>
                <a:latin typeface="Arial"/>
              </a:rPr>
              <a:t>SUBJECT KNOWLEDGE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886200" y="6519672"/>
            <a:ext cx="7086600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5B6570"/>
                </a:solidFill>
                <a:latin typeface="Arial"/>
              </a:rPr>
              <a:t>Full 30-reference synthesis: docs/literature-review.md · all evidence verified from repository records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137392" y="6510528"/>
            <a:ext cx="475488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5B6570"/>
                </a:solidFill>
                <a:latin typeface="Cascadia Mono"/>
              </a:rPr>
              <a:t>12/12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Task-Oriented Deep Joint Source–Channel Coding — First Review</dc:title>
  <dc:subject>Capstone First Review, 18–22 August 2026</dc:subject>
  <dc:creator>Capstone project team</dc:creator>
  <cp:keywords/>
  <dc:description>Generated from authenticated repository evidence; editable native shapes and text.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