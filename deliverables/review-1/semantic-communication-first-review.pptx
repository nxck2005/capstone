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914400"/>
            <a:ext cx="1078992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111111"/>
                </a:solidFill>
                <a:latin typeface="Arial"/>
              </a:rPr>
              <a:t>Semantic Communication +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4944" y="2212848"/>
            <a:ext cx="10378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555555"/>
                </a:solidFill>
                <a:latin typeface="Arial"/>
              </a:rPr>
              <a:t>Learning what to send for a remote image-classification task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94944" y="2907792"/>
            <a:ext cx="10771632" cy="0"/>
          </a:xfrm>
          <a:prstGeom prst="line">
            <a:avLst/>
          </a:prstGeom>
          <a:ln w="1143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94944" y="3310128"/>
            <a:ext cx="10332720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55555"/>
                </a:solidFill>
                <a:latin typeface="Arial"/>
              </a:rPr>
              <a:t>An edge camera sees an image. A server across a limited, noisy link must recognize it. We compare a normal communication system with systems that learn what information to send.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4407408"/>
            <a:ext cx="4846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Capstone First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846320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Review window: 18–22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5248656"/>
            <a:ext cx="53035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55555"/>
                </a:solidFill>
                <a:latin typeface="Arial"/>
              </a:rPr>
              <a:t>Presentation slot: 15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5230368"/>
            <a:ext cx="3749039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Team and guide details to be added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First Review · 18–22 August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What problem are we solving?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94944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Observe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An edge camera sees an image.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7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Communicate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7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The link has limited bandwidth and added noise.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7648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Classify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 server decides what the image contains.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499616"/>
            <a:ext cx="2267712" cy="1993392"/>
          </a:xfrm>
          <a:prstGeom prst="rect">
            <a:avLst/>
          </a:prstGeom>
          <a:solidFill>
            <a:srgbClr val="FFFFFF"/>
          </a:solidFill>
          <a:ln w="1143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08592" y="1700784"/>
            <a:ext cx="31089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139696"/>
            <a:ext cx="192024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Arial"/>
              </a:rPr>
              <a:t>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8592" y="2633472"/>
            <a:ext cx="1901952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Must the camera send every image detail?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4041648"/>
            <a:ext cx="10716768" cy="1143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279392"/>
            <a:ext cx="2880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11111"/>
                </a:solidFill>
                <a:latin typeface="Arial"/>
              </a:rPr>
              <a:t>Why this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22191" y="4242816"/>
            <a:ext cx="7296912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Sending a complete high-quality image can be expensive when the receiver only needs a correct task decision.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614416"/>
            <a:ext cx="105613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11111"/>
                </a:solidFill>
                <a:latin typeface="Arial"/>
              </a:rPr>
              <a:t>The project asks whether a learned system can preserve that decision using the same channel budget.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The task is remote image classification over a limited noisy link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How is this normally done?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40080" y="1481328"/>
            <a:ext cx="14173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728216"/>
            <a:ext cx="11978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194560"/>
            <a:ext cx="119786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camera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87168" y="1481328"/>
            <a:ext cx="16459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96896" y="1728216"/>
            <a:ext cx="142646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Compress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6896" y="2194560"/>
            <a:ext cx="142646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JPEG 2000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62856" y="1481328"/>
            <a:ext cx="186537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4" y="1728216"/>
            <a:ext cx="16459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Protect bits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4" y="2194560"/>
            <a:ext cx="16459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LDPC + modulation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481328"/>
            <a:ext cx="159105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1728216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Add 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67728" y="2194560"/>
            <a:ext cx="1371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simulated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87968" y="1481328"/>
            <a:ext cx="265176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7696" y="1728216"/>
            <a:ext cx="24323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11111"/>
                </a:solidFill>
                <a:latin typeface="Arial"/>
              </a:rPr>
              <a:t>AI classifier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97696" y="2194560"/>
            <a:ext cx="243230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recovered image → ResNet-18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139696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2331720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215384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4407408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6510528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702552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531352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8723376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182112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Compression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4912" y="3163824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reduces the number of source bits.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3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Error correction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24912" y="3694176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adds controlled redundancy so damaged bits can be recovered.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242816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Modulation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24912" y="4224528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maps protected bits to symbols sent through the channel.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193852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AI classifier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24912" y="4754880"/>
            <a:ext cx="84673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0" i="0">
                <a:solidFill>
                  <a:srgbClr val="555555"/>
                </a:solidFill>
                <a:latin typeface="Arial"/>
              </a:rPr>
              <a:t>a frozen ResNet-18 maps the recovered image to class logits.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13232" y="5468112"/>
            <a:ext cx="10479024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31520" y="5669280"/>
            <a:ext cx="10442448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Limitation: the communication stack is designed separately from the AI objective, even though task accuracy is the final metric.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Subject Knowledge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Headline baseline: JPEG 2000 + TS 38.212-derived LDPC over AWGN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What are we proposing?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86384" y="1481328"/>
            <a:ext cx="1572768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28216"/>
            <a:ext cx="138988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Image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76272"/>
            <a:ext cx="1389888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sender 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481328"/>
            <a:ext cx="1956816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728216"/>
            <a:ext cx="177393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Learned sender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176272"/>
            <a:ext cx="1773936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decides what to send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6944" y="1481328"/>
            <a:ext cx="1700784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8383" y="1728216"/>
            <a:ext cx="151790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Noisy 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8383" y="2176272"/>
            <a:ext cx="151790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limited bandwidth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1481328"/>
            <a:ext cx="2103120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6" y="1728216"/>
            <a:ext cx="192023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Learned receiver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34656" y="2176272"/>
            <a:ext cx="1920239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recovers task information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21824" y="1481328"/>
            <a:ext cx="1335024" cy="1225296"/>
          </a:xfrm>
          <a:prstGeom prst="rect">
            <a:avLst/>
          </a:prstGeom>
          <a:solidFill>
            <a:srgbClr val="FFFFFF"/>
          </a:solidFill>
          <a:ln w="1016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13264" y="1728216"/>
            <a:ext cx="115214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11111"/>
                </a:solidFill>
                <a:latin typeface="Arial"/>
              </a:rPr>
              <a:t>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3264" y="2176272"/>
            <a:ext cx="1152144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70" b="0" i="0">
                <a:solidFill>
                  <a:srgbClr val="555555"/>
                </a:solidFill>
                <a:latin typeface="Arial"/>
              </a:rPr>
              <a:t>final 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450592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2642616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882896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5074920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059168" y="2084831"/>
            <a:ext cx="256032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7251192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9637776" y="2084831"/>
            <a:ext cx="256031" cy="0"/>
          </a:xfrm>
          <a:prstGeom prst="line">
            <a:avLst/>
          </a:prstGeom>
          <a:ln w="12700">
            <a:solidFill>
              <a:srgbClr val="5555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9829799" y="2034539"/>
            <a:ext cx="128016" cy="100584"/>
          </a:xfrm>
          <a:prstGeom prst="triangle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182112"/>
            <a:ext cx="2816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The basic idea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136392"/>
            <a:ext cx="7516368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55555"/>
                </a:solidFill>
                <a:latin typeface="Arial"/>
              </a:rPr>
              <a:t>Train the sender and receiver together using labeled images and simulated noise. The system can then learn which image information helps the receiver make the correct decision.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3986784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4242816"/>
            <a:ext cx="28163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Why not send the label?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4187952"/>
            <a:ext cx="7516368" cy="8046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0" i="0">
                <a:solidFill>
                  <a:srgbClr val="555555"/>
                </a:solidFill>
                <a:latin typeface="Arial"/>
              </a:rPr>
              <a:t>The project fixes the deployment split: the sender has an encoder, while the receiver owns the decoder and classifier. Sending a label would move the full task model to the sender and test a different system.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40096"/>
            <a:ext cx="10442448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468112"/>
            <a:ext cx="10040112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30" b="1" i="0">
                <a:solidFill>
                  <a:srgbClr val="111111"/>
                </a:solidFill>
                <a:latin typeface="Arial"/>
              </a:rPr>
              <a:t>Technical name: deep joint source–channel coding (DJSCC)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742432"/>
            <a:ext cx="10040112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 i="0">
                <a:solidFill>
                  <a:srgbClr val="555555"/>
                </a:solidFill>
                <a:latin typeface="Arial"/>
              </a:rPr>
              <a:t>AIML method: supervised end-to-end training · model and loss details follow in the methodology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Objectives, Subject Knowledge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DJSCC = deep joint source–channel coding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Literature survey and research gap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35024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Short-packet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27248" y="1316736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Finite packets pay coding overhead and can fail abruptly.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1316736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Measure the practical baseline instead of assuming ideal capacity. [1–4]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13232" y="2066543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13232" y="2359152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Learned image compression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7248" y="2340864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Neural transforms learn compact image representations.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59168" y="2340864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Good reconstruction quality is not the same as good AI task accuracy. [11–17]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" y="3090672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13232" y="3383280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DeepJSCC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248" y="3364992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Neural encoders and decoders can learn continuous channel mappings.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59168" y="3364992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Most image studies emphasize reconstruction rather than classification. [5–10,24]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" y="4114800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3232" y="4407408"/>
            <a:ext cx="2359152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Task-oriented edge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4389120"/>
            <a:ext cx="3749039" cy="49377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Learned features can preserve inference under link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4389120"/>
            <a:ext cx="4096512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Representation learning and joint coding are often not isolated. [18–23]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5138928"/>
            <a:ext cx="10442448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5650992"/>
            <a:ext cx="2359152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Gap addressed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27248" y="5596128"/>
            <a:ext cx="8028431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555555"/>
                </a:solidFill>
                <a:latin typeface="Arial"/>
              </a:rPr>
              <a:t>A controlled three-way experiment that separates neural representation learning from joint channel coding at equal channel use.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Problem Survey, Subject Knowledge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30-source synthesis: docs/literature-review.md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Problem statement, research question and objectives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16736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80944" y="1280160"/>
            <a:ext cx="8119872" cy="6766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40" b="0" i="0">
                <a:solidFill>
                  <a:srgbClr val="555555"/>
                </a:solidFill>
                <a:latin typeface="Arial"/>
              </a:rPr>
              <a:t>An edge camera has a limited noisy link, while the server only needs a correct class decision. A conventional system tries to rebuild the image first. The project tests whether a learned system can protect the decision more directly.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3232" y="2139696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13232" y="2395728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80944" y="2350008"/>
            <a:ext cx="8119872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60" b="0" i="0">
                <a:solidFill>
                  <a:srgbClr val="111111"/>
                </a:solidFill>
                <a:latin typeface="Arial"/>
              </a:rPr>
              <a:t>At the same bandwidth and channel conditions, can the learned joint system preserve classification accuracy better than a tuned conventional system, and does joint training explain any remaining gain?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" y="3218688"/>
            <a:ext cx="10442448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3474720"/>
            <a:ext cx="2249424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3456432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3438144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Build and train the learned sender and receiver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9232" y="4041648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4023360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Build a digital feature system that separates task awareness from joint training.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4626864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4608576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Match channel use, SNR, image identity and noise across all systems.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232" y="5212079"/>
            <a:ext cx="329184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60" b="0" i="0">
                <a:solidFill>
                  <a:srgbClr val="555555"/>
                </a:solidFill>
                <a:latin typeface="Arial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5193792"/>
            <a:ext cx="7699248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80" b="0" i="0">
                <a:solidFill>
                  <a:srgbClr val="555555"/>
                </a:solidFill>
                <a:latin typeface="Arial"/>
              </a:rPr>
              <a:t>Freeze all learned models and choices, then run one paired test campaign.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" y="5797296"/>
            <a:ext cx="10442448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5879592"/>
            <a:ext cx="10076688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11111"/>
                </a:solidFill>
                <a:latin typeface="Arial"/>
              </a:rPr>
              <a:t>Completion depends on executing the fixed protocol correctly, not on obtaining a favorable result.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Objectives are stated as completion work, not promised outcomes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Proposed methodology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298448"/>
            <a:ext cx="10442448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40112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11111"/>
                </a:solidFill>
                <a:latin typeface="Arial"/>
              </a:rPr>
              <a:t>Imagenette-160 · same image and split · same complex-symbol budget · same SNR · same keyed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048256"/>
            <a:ext cx="10698480" cy="566928"/>
          </a:xfrm>
          <a:prstGeom prst="rect">
            <a:avLst/>
          </a:prstGeom>
          <a:solidFill>
            <a:srgbClr val="F3F3F3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157984"/>
            <a:ext cx="1938528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System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16352" y="2048256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926080" y="2157984"/>
            <a:ext cx="5312664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Transmission path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348471" y="2048256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458199" y="2157984"/>
            <a:ext cx="2788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 i="0">
                <a:solidFill>
                  <a:srgbClr val="111111"/>
                </a:solidFill>
                <a:latin typeface="Arial"/>
              </a:rPr>
              <a:t>Scientific role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615184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724912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Classical + AI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816352" y="2615184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926080" y="2724912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JPEG 2000 → LDPC → AWGN → recovered image → frozen ResNet-18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48471" y="2615184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58199" y="2724912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Conventional reference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474720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584448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AI feature control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3474720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926080" y="3584448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Shared neural encoder → quantization → same digital PHY → shared task head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48471" y="3474720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58199" y="3584448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Isolates representation learning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334256"/>
            <a:ext cx="106984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443984"/>
            <a:ext cx="1938528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 i="0">
                <a:solidFill>
                  <a:srgbClr val="555555"/>
                </a:solidFill>
                <a:latin typeface="Arial"/>
              </a:rPr>
              <a:t>Neural DJSCC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16352" y="4334256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926080" y="4443984"/>
            <a:ext cx="5312664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Residual encoder → normalization → AWGN → dual-head neural decoder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8471" y="4334256"/>
            <a:ext cx="0" cy="859536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458199" y="4443984"/>
            <a:ext cx="2788920" cy="67665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55555"/>
                </a:solidFill>
                <a:latin typeface="Arial"/>
              </a:rPr>
              <a:t>Tests end-to-end neural coding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58384"/>
            <a:ext cx="19933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11111"/>
                </a:solidFill>
                <a:latin typeface="Arial"/>
              </a:rPr>
              <a:t>Evaluation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24912" y="5303520"/>
            <a:ext cx="8394192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Train with supervised CE + λMSE; tune on validation only; freeze before test access; retain failed transmissions; compare paired per-image AI outcomes.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5925312"/>
            <a:ext cx="10442448" cy="2560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971032"/>
            <a:ext cx="10076688" cy="1280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11111"/>
                </a:solidFill>
                <a:latin typeface="Arial"/>
              </a:rPr>
              <a:t>The test split remains sealed until gate G-12. No test result exists at First Review.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Objectives, Subject Knowledge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Three systems · one shared task, resource budget and channel definition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Research hypotheses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298448"/>
            <a:ext cx="63093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Primary hypothesis (H1)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700784"/>
            <a:ext cx="6327648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11111"/>
                </a:solidFill>
                <a:latin typeface="Arial"/>
              </a:rPr>
              <a:t>At difficult low-SNR conditions, the learned joint system will preserve classification accuracy better than the tuned conventional system across a consecutive region—not at only one isolated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670048"/>
            <a:ext cx="63093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Formal decision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6327648" cy="12252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555555"/>
                </a:solidFill>
                <a:latin typeface="Arial"/>
              </a:rPr>
              <a:t>Comparator: learned versus classical_adaptive at the headline ratio. A point qualifies when √N·Δ̂(s)/σ̂(s) &gt; 1.96. R_obs is the longest consecutive qualifying run at or below the training SNR. H1 is supported only if R_obs ≥ 3 and the calibrated run p-value ≤ 0.05.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52544"/>
            <a:ext cx="6327648" cy="5852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 i="0">
                <a:solidFill>
                  <a:srgbClr val="555555"/>
                </a:solidFill>
                <a:latin typeface="Arial"/>
              </a:rPr>
              <a:t>Effect size: the mean paired accuracy difference over the full low-SNR region. A curve crossing is reported if observed, but is not required.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78624" y="1298448"/>
            <a:ext cx="0" cy="4279392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534656" y="133502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131673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a fixed conventional configuration show a cliff while the learned system degrades more gradually?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34656" y="223113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534656" y="252374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50545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the learned–classical accuracy gap contract as SNR improves?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534656" y="341985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34656" y="3712464"/>
            <a:ext cx="53035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H4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94176"/>
            <a:ext cx="2962656" cy="7680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 i="0">
                <a:solidFill>
                  <a:srgbClr val="555555"/>
                </a:solidFill>
                <a:latin typeface="Arial"/>
              </a:rPr>
              <a:t>Does the learned joint system also exceed the task-aware digital feature control?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534656" y="4608576"/>
            <a:ext cx="3566160" cy="0"/>
          </a:xfrm>
          <a:prstGeom prst="line">
            <a:avLst/>
          </a:prstGeom>
          <a:ln w="571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713232" y="5193792"/>
            <a:ext cx="10442448" cy="7680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5413248"/>
            <a:ext cx="99669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Outcome rule: support, no support or an adverse result are all valid findings. The protocol does not change after test access.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Hypothesis, Subject Knowledge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Primary metric: paired top-1 AI inference accuracy · exact protocol: SPEC §2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Preliminary work and feasibility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658368" y="1335024"/>
            <a:ext cx="10698480" cy="566928"/>
          </a:xfrm>
          <a:prstGeom prst="rect">
            <a:avLst/>
          </a:prstGeom>
          <a:solidFill>
            <a:srgbClr val="F3F3F3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444752"/>
            <a:ext cx="859536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Item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737360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47088" y="1444752"/>
            <a:ext cx="3090672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Observed evidence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47488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157216" y="1444752"/>
            <a:ext cx="2907791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tells us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74736" y="1335024"/>
            <a:ext cx="0" cy="566928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84463" y="1444752"/>
            <a:ext cx="2962656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11111"/>
                </a:solidFill>
                <a:latin typeface="Arial"/>
              </a:rPr>
              <a:t>What it does not tell 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1901952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011680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AI task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37360" y="190195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847088" y="2011680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ResNet-18 from scratch: 89.8% validation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47488" y="190195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57216" y="2011680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The classification task and clean reference model are viable.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74736" y="190195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284463" y="2011680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Validation only; test is sealed. (G-1)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2523744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633472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Learned model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737360" y="2523744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847088" y="2633472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DJSCC: 1.64 M parameters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47488" y="2523744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157216" y="2633472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The planned model fits the available RTX 4060.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174736" y="2523744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84463" y="2633472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A feasibility profile, not training. (G-7)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145536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255264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Digital link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737360" y="3145536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847088" y="3255264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Golden vectors and BLER conformance pass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47488" y="3145536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157216" y="3255264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The channel-coding implementation behaves as expected.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74736" y="3145536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284463" y="3255264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Conformance evidence, not the full table. (G-2)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3767328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3877056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Full pipeline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737360" y="3767328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47088" y="3877056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Bounded conventional run completes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47488" y="3767328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157216" y="3877056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Compression, coding, channel and records work together.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74736" y="3767328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284463" y="3877056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Integration evidence, not a comparison. (W4)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4389120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4498848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G8_C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737360" y="4389120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847088" y="4498848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BLER characterization complete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047488" y="4389120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57216" y="4498848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Pascal successor table is frozen from measured points.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174736" y="4389120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284463" y="4498848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No learned-system result. (G8_C)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5010912"/>
            <a:ext cx="10698480" cy="621792"/>
          </a:xfrm>
          <a:prstGeom prst="rect">
            <a:avLst/>
          </a:prstGeom>
          <a:solidFill>
            <a:srgbClr val="FFFFFF"/>
          </a:solidFill>
          <a:ln w="762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5120640"/>
            <a:ext cx="85953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G8_D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737360" y="501091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847088" y="5120640"/>
            <a:ext cx="3090672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55555"/>
                </a:solidFill>
                <a:latin typeface="Arial"/>
              </a:rPr>
              <a:t>Validation tooling complete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47488" y="501091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157216" y="5120640"/>
            <a:ext cx="2907791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D0–D7 GREEN; codec/cache/record/resume tooling is ready.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174736" y="5010912"/>
            <a:ext cx="0" cy="62179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8284463" y="5120640"/>
            <a:ext cx="2962656" cy="43891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 i="0">
                <a:solidFill>
                  <a:srgbClr val="555555"/>
                </a:solidFill>
                <a:latin typeface="Arial"/>
              </a:rPr>
              <a:t>Bounded smoke is not the full campaign. (G8_D)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" y="5833872"/>
            <a:ext cx="104698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0" b="1" i="0">
                <a:solidFill>
                  <a:srgbClr val="111111"/>
                </a:solidFill>
                <a:latin typeface="Arial"/>
              </a:rPr>
              <a:t>G8_E/E0 is released but full validation/pass one has not started. Training/fine-tuning, learned-vs-classical results and test evaluation are not available.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Subject Knowledge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Engineering and gate evidence only · no learned-versus-classical result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Project Gantt chart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325880"/>
            <a:ext cx="2157984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Workstream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090672" y="1298448"/>
            <a:ext cx="1774632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90672" y="1408176"/>
            <a:ext cx="1774632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AUG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90672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865304" y="1298448"/>
            <a:ext cx="2314738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5304" y="1408176"/>
            <a:ext cx="2314738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SEP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65304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180042" y="1298448"/>
            <a:ext cx="2391896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80042" y="1408176"/>
            <a:ext cx="2391896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OCT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80042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9571939" y="1298448"/>
            <a:ext cx="1620316" cy="384048"/>
          </a:xfrm>
          <a:prstGeom prst="rect">
            <a:avLst/>
          </a:prstGeom>
          <a:solidFill>
            <a:srgbClr val="F3F3F3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1939" y="1408176"/>
            <a:ext cx="1620316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111111"/>
                </a:solidFill>
                <a:latin typeface="Arial"/>
              </a:rPr>
              <a:t>NOV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71939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192256" y="1682496"/>
            <a:ext cx="0" cy="3913632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3232" y="1883664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G8_C BLER characterization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3232" y="2148840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090672" y="1874519"/>
            <a:ext cx="462947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231136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G8_D validation-measurement tooling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" y="2496312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553619" y="2221991"/>
            <a:ext cx="231473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578608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G8_E validation + initial selection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3232" y="2843784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785093" y="2569463"/>
            <a:ext cx="308631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926080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G8_F artifact classifier + pass two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3232" y="3191256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4093725" y="2916936"/>
            <a:ext cx="308631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273552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G8_G final G-8 ratio/adjudication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3232" y="3538728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402357" y="3264408"/>
            <a:ext cx="164592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3621024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Learned-system training + calibration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3232" y="3886200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4556672" y="3611879"/>
            <a:ext cx="1620316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02392" y="3675887"/>
            <a:ext cx="1528876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3968496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Validation, freeze + test campaign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3232" y="4233672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176989" y="3959352"/>
            <a:ext cx="2160422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22709" y="4023360"/>
            <a:ext cx="2068982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" y="4315968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Demo + optional replay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3232" y="4581144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8337412" y="4306824"/>
            <a:ext cx="1311685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3132" y="4370832"/>
            <a:ext cx="1220245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" y="4663440"/>
            <a:ext cx="2212848" cy="20116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111111"/>
                </a:solidFill>
                <a:latin typeface="Arial"/>
              </a:rPr>
              <a:t>Report, audit + final review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13232" y="4928616"/>
            <a:ext cx="10479024" cy="0"/>
          </a:xfrm>
          <a:prstGeom prst="line">
            <a:avLst/>
          </a:prstGeom>
          <a:ln w="444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9649097" y="4654296"/>
            <a:ext cx="1543158" cy="256032"/>
          </a:xfrm>
          <a:prstGeom prst="rect">
            <a:avLst/>
          </a:prstGeom>
          <a:solidFill>
            <a:srgbClr val="D9D9D9"/>
          </a:solidFill>
          <a:ln w="63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4817" y="4718304"/>
            <a:ext cx="1451718" cy="10972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111111"/>
                </a:solidFill>
                <a:latin typeface="Arial"/>
              </a:rPr>
              <a:t>PLANNED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785093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3734801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025727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975435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806466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0756174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11037940" y="1682496"/>
            <a:ext cx="0" cy="3182112"/>
          </a:xfrm>
          <a:prstGeom prst="line">
            <a:avLst/>
          </a:prstGeom>
          <a:ln w="10160">
            <a:solidFill>
              <a:srgbClr val="77777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10987648" y="1728216"/>
            <a:ext cx="100584" cy="100584"/>
          </a:xfrm>
          <a:prstGeom prst="ellipse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189202" y="4645152"/>
            <a:ext cx="540105" cy="365760"/>
          </a:xfrm>
          <a:prstGeom prst="rect">
            <a:avLst/>
          </a:prstGeom>
          <a:noFill/>
          <a:ln w="13970">
            <a:solidFill>
              <a:srgbClr val="1111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89202" y="5038344"/>
            <a:ext cx="540105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555555"/>
                </a:solidFill>
                <a:latin typeface="Arial"/>
              </a:rPr>
              <a:t>W16 contingency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" y="5669280"/>
            <a:ext cx="104698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i="0">
                <a:solidFill>
                  <a:srgbClr val="111111"/>
                </a:solidFill>
                <a:latin typeface="Arial"/>
              </a:rPr>
              <a:t>Review dates: 18–22 Aug · 29 Sep–3 Oct · 17–21 Nov · report due 20 Nov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" y="5980176"/>
            <a:ext cx="104698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 i="0">
                <a:solidFill>
                  <a:srgbClr val="555555"/>
                </a:solidFill>
                <a:latin typeface="Arial"/>
              </a:rPr>
              <a:t>G8_C and G8_D are complete. G8_E/E0 is next but not started; G8_F/G and all later bars remain planned. W16 is report contingency.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Time Plan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Detailed dependencies and acceptance evidence: docs/gantt-plan.md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Applications, project scope and risks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713232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Edge AI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Remote cameras and edge sensors send task-relevant information to a receiver-side AI model when bandwidth, latency or link reliability is limited. This represents split edge/cloud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41648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24528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AI/ML contribution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Channel-robust neural representation learning; a residual encoder and dual-head decoder; CE + λMSE multi-task training; and a digital feature control that isolates the value of joint coding.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70064" y="1389888"/>
            <a:ext cx="3054096" cy="331012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52944" y="1627632"/>
            <a:ext cx="2688336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20" b="1" i="0">
                <a:solidFill>
                  <a:srgbClr val="111111"/>
                </a:solidFill>
                <a:latin typeface="Arial"/>
              </a:rPr>
              <a:t>Main risks and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52944" y="2267712"/>
            <a:ext cx="2688336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55555"/>
                </a:solidFill>
                <a:latin typeface="Arial"/>
              </a:rPr>
              <a:t>BLER work is incomplete: resume from the authenticated checkpoint.</a:t>
            </a:r>
            <a:br/>
            <a:br/>
            <a:r>
              <a:rPr sz="1250" b="0" i="0">
                <a:solidFill>
                  <a:srgbClr val="555555"/>
                </a:solidFill>
                <a:latin typeface="Arial"/>
              </a:rPr>
              <a:t>A hypothesis may not be supported: report the result without retuning.</a:t>
            </a:r>
            <a:br/>
            <a:br/>
            <a:r>
              <a:rPr sz="1250" b="0" i="0">
                <a:solidFill>
                  <a:srgbClr val="555555"/>
                </a:solidFill>
                <a:latin typeface="Arial"/>
              </a:rPr>
              <a:t>Hardware adds confounders: keep it as gated stretch work.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47488"/>
            <a:ext cx="232257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 i="0">
                <a:solidFill>
                  <a:srgbClr val="111111"/>
                </a:solidFill>
                <a:latin typeface="Arial"/>
              </a:rPr>
              <a:t>Technical claim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0672" y="5001768"/>
            <a:ext cx="801014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Tier 1 is a simulation-based AI experiment over normalized AWGN. OpenJPEG 2.5.4 and TS 38.212-derived LDPC are controls; no complete 5G NR radio or required hardware is claimed.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5705856"/>
            <a:ext cx="1042416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815584"/>
            <a:ext cx="9985248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 i="0">
                <a:solidFill>
                  <a:srgbClr val="111111"/>
                </a:solidFill>
                <a:latin typeface="Arial"/>
              </a:rPr>
              <a:t>Outstanding human item: the guide's dated acknowledgement of the no-required-hardware path remains pending.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Subject Knowledge, Objectives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Circular clause 5 · PR-3 standards register · PR-9 deployment dossier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38912"/>
            <a:ext cx="110185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111111"/>
                </a:solidFill>
                <a:latin typeface="Arial"/>
              </a:rPr>
              <a:t>Summary and next steps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11018520" cy="0"/>
          </a:xfrm>
          <a:prstGeom prst="line">
            <a:avLst/>
          </a:prstGeom>
          <a:ln w="1016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13232" y="1298448"/>
            <a:ext cx="6163056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Project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65376" y="1737360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Edge AI inference must operate over a limited noisy link.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304288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505456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AI/ML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2487168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Train a residual neural encoder and dual-head decoder through a differentiable channel.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054096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255263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65376" y="3236975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Measure Imagenette-160 classification at matched channel use against two controlled baselines.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803903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005072"/>
            <a:ext cx="1078992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11111"/>
                </a:solidFill>
                <a:latin typeface="Arial"/>
              </a:rPr>
              <a:t>Next 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3986784"/>
            <a:ext cx="4956048" cy="51206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0" b="0" i="0">
                <a:solidFill>
                  <a:srgbClr val="555555"/>
                </a:solidFill>
                <a:latin typeface="Arial"/>
              </a:rPr>
              <a:t>Complete G8_E, G8_F and G8_G in order, then train and evaluate the learned system.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553712"/>
            <a:ext cx="6089904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114032" y="1298448"/>
            <a:ext cx="0" cy="4169664"/>
          </a:xfrm>
          <a:prstGeom prst="line">
            <a:avLst/>
          </a:prstGeom>
          <a:ln w="889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88352" y="1298448"/>
            <a:ext cx="3675887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11111"/>
                </a:solidFill>
                <a:latin typeface="Arial"/>
              </a:rPr>
              <a:t>Six-criterion rubric 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8352" y="1773936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77393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2–4, 6, 11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88352" y="2103120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88352" y="2304288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Objectives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2304288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6–7, 11–12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88352" y="2633472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88352" y="2834639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Hypothesis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3184" y="2834639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8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88352" y="3163823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88352" y="3364991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Problem Survey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3364991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88352" y="3694176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88352" y="3895344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Subject Knowledge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3184" y="3895344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3–5, 7–9, 11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88352" y="4224528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88352" y="4425696"/>
            <a:ext cx="20299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11111"/>
                </a:solidFill>
                <a:latin typeface="Arial"/>
              </a:rPr>
              <a:t>Time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3184" y="4425696"/>
            <a:ext cx="1572768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388352" y="4754880"/>
            <a:ext cx="3657600" cy="0"/>
          </a:xfrm>
          <a:prstGeom prst="line">
            <a:avLst/>
          </a:prstGeom>
          <a:ln w="508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713232" y="5047488"/>
            <a:ext cx="10332720" cy="9326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5230368"/>
            <a:ext cx="1847088" cy="2377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11111"/>
                </a:solidFill>
                <a:latin typeface="Arial"/>
              </a:rPr>
              <a:t>First Review position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79776" y="5184648"/>
            <a:ext cx="8010144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 i="0">
                <a:solidFill>
                  <a:srgbClr val="111111"/>
                </a:solidFill>
                <a:latin typeface="Arial"/>
              </a:rPr>
              <a:t>The AI/ML method, controlled evaluation protocol, feasibility evidence and completion plan are defined. Final neural training and learned-versus-classical results remain future work.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" y="6419088"/>
            <a:ext cx="11018520" cy="0"/>
          </a:xfrm>
          <a:prstGeom prst="line">
            <a:avLst/>
          </a:prstGeom>
          <a:ln w="762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" y="6510528"/>
            <a:ext cx="306324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Rubric: Motivation, Objectives, Hypothesis, Problem Survey, Subject Knowledge, Time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54680" y="6510528"/>
            <a:ext cx="781812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555555"/>
                </a:solidFill>
                <a:latin typeface="Arial"/>
              </a:rPr>
              <a:t>Full package: deliverables/review-1/first-review-package.md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82528" y="6501384"/>
            <a:ext cx="457200" cy="1463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555555"/>
                </a:solidFill>
                <a:latin typeface="Arial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Task-Oriented Deep Joint Source–Channel Coding — First Review</dc:title>
  <dc:subject>Capstone First Review, 18–22 August 2026</dc:subject>
  <dc:creator>Capstone project team</dc:creator>
  <cp:keywords/>
  <dc:description>Generated from authenticated repository evidence; editable native shapes and text.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