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914400"/>
            <a:ext cx="1078992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Semantic Communication +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4944" y="2212848"/>
            <a:ext cx="10378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55555"/>
                </a:solidFill>
                <a:latin typeface="Arial"/>
              </a:rPr>
              <a:t>Learning what to send for a remote image-classification task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94944" y="2907792"/>
            <a:ext cx="10771632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94944" y="3310128"/>
            <a:ext cx="1033272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55555"/>
                </a:solidFill>
                <a:latin typeface="Arial"/>
              </a:rPr>
              <a:t>An edge camera sees an image. A server across a limited, noisy link must recognize it. We compare a normal communication system with systems that learn what information to send.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407408"/>
            <a:ext cx="4846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Capstone First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846320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Review window: 18–22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248656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Presentation slot: 15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5230368"/>
            <a:ext cx="3749039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Team and guide details to be added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First Review · 18–22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What problem are we solving?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94944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Observe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An edge camera sees an image.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7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Communicate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The link has limited bandwidth and added noise.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7648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 server decides what the image contains.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Must the camera send every image detail?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4041648"/>
            <a:ext cx="10716768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279392"/>
            <a:ext cx="2880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Why this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242816"/>
            <a:ext cx="7296912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Sending a complete high-quality image can be expensive when the receiver only needs a correct task decision.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614416"/>
            <a:ext cx="105613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The project asks whether a learned system can preserve that decision using the same channel budget.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The task is remote image classification over a limited noisy 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How is this normally done?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" y="1481328"/>
            <a:ext cx="14173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28216"/>
            <a:ext cx="11978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194560"/>
            <a:ext cx="119786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camera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481328"/>
            <a:ext cx="16459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6896" y="1728216"/>
            <a:ext cx="14264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Compress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2194560"/>
            <a:ext cx="142646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JPEG 2000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2856" y="1481328"/>
            <a:ext cx="186537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1728216"/>
            <a:ext cx="16459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Protect 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194560"/>
            <a:ext cx="1645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LDPC + modulation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481328"/>
            <a:ext cx="159105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1728216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Add 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219456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simulated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87968" y="1481328"/>
            <a:ext cx="265176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7696" y="1728216"/>
            <a:ext cx="24323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AI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7696" y="2194560"/>
            <a:ext cx="24323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recovered image → ResNet-18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39696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2331720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215384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4407408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510528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702552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531352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8723376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182112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Compression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4912" y="3163824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reduces the number of source bits.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3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Error correction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24912" y="3694176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adds controlled redundancy so damaged bits can be recovered.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42816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Modulation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4912" y="4224528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maps protected bits to symbols sent through the channel.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AI classifier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4912" y="4754880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 frozen ResNet-18 maps the recovered image to class logits.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468112"/>
            <a:ext cx="1047902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1520" y="5669280"/>
            <a:ext cx="10442448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Limitation: the communication stack is designed separately from the AI objective, even though task accuracy is the final metric.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Subject Knowledge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Headline baseline: JPEG 2000 + TS 38.212-derived LDPC over AWGN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What are we proposing?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86384" y="1481328"/>
            <a:ext cx="1572768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28216"/>
            <a:ext cx="138988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76272"/>
            <a:ext cx="1389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sender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481328"/>
            <a:ext cx="195681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728216"/>
            <a:ext cx="177393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Learned sender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76272"/>
            <a:ext cx="1773936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decides what to send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6944" y="1481328"/>
            <a:ext cx="1700784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8383" y="1728216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Noisy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8383" y="2176272"/>
            <a:ext cx="151790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limited bandwidth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1481328"/>
            <a:ext cx="21031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6" y="1728216"/>
            <a:ext cx="19202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Learned receiver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4656" y="2176272"/>
            <a:ext cx="1920239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recovers task information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21824" y="1481328"/>
            <a:ext cx="1335024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13264" y="1728216"/>
            <a:ext cx="115214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3264" y="2176272"/>
            <a:ext cx="11521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final 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50592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2642616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82896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5074920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059168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7251192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9637776" y="2084831"/>
            <a:ext cx="256031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9829799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182112"/>
            <a:ext cx="2816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The basic idea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136392"/>
            <a:ext cx="7516368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Train the sender and receiver together using labeled images and simulated noise. The system can then learn which image information helps the receiver make the correct decision.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3986784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4242816"/>
            <a:ext cx="2816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Why not send the label?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4187952"/>
            <a:ext cx="7516368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555555"/>
                </a:solidFill>
                <a:latin typeface="Arial"/>
              </a:rPr>
              <a:t>The project fixes the deployment split: the sender has an encoder, while the receiver owns the decoder and classifier. Sending a label would move the full task model to the sender and test a different system.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40096"/>
            <a:ext cx="10442448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468112"/>
            <a:ext cx="10040112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111111"/>
                </a:solidFill>
                <a:latin typeface="Arial"/>
              </a:rPr>
              <a:t>Technical name: deep joint source–channel coding (DJSCC)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742432"/>
            <a:ext cx="10040112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55555"/>
                </a:solidFill>
                <a:latin typeface="Arial"/>
              </a:rPr>
              <a:t>AIML method: supervised end-to-end training · model and loss details follow in the methodology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Objectives, Subject Knowledge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DJSCC = deep joint source–channel coding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Literature survey and research gap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35024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Short-packet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1316736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Finite packets pay coding overhead and can fail abruptly.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1316736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Measure the practical baseline instead of assuming ideal capacity. [1–4]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3232" y="2066543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359152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Learned image compression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340864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Neural transforms learn compact image representations.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340864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Good reconstruction quality is not the same as good AI task accuracy. [11–17]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090672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383280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DeepJSCC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364992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Neural encoders and decoders can learn continuous channel mappings.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3364992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Most image studies emphasize reconstruction rather than classification. [5–10,24]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4114800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4407408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Task-oriented edge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4389120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Learned features can preserve inference under link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4389120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Representation learning and joint coding are often not isolated. [18–23]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138928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650992"/>
            <a:ext cx="235915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Gap addressed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5596128"/>
            <a:ext cx="802843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555555"/>
                </a:solidFill>
                <a:latin typeface="Arial"/>
              </a:rPr>
              <a:t>A controlled three-way experiment that separates neural representation learning from joint channel coding at equal channel use.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Problem Survey, Subject 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30-source synthesis: docs/literature-review.md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Problem statement, research question and 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16736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80944" y="1280160"/>
            <a:ext cx="8119872" cy="6766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555555"/>
                </a:solidFill>
                <a:latin typeface="Arial"/>
              </a:rPr>
              <a:t>An edge camera has a limited noisy link, while the server only needs a correct class decision. A conventional system tries to rebuild the image first. The project tests whether a learned system can protect the decision more directly.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2139696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2395728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0944" y="2350008"/>
            <a:ext cx="81198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0" i="0">
                <a:solidFill>
                  <a:srgbClr val="111111"/>
                </a:solidFill>
                <a:latin typeface="Arial"/>
              </a:rPr>
              <a:t>At the same bandwidth and channel conditions, can the learned joint system preserve classification accuracy better than a tuned conventional system, and does joint training explain any remaining gain?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" y="3218688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3474720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3456432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3438144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Build and train the learned sender and receiver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4041648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4023360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Build a digital feature system that separates task awareness from joint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4626864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4608576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Match channel use, SNR, image identity and noise across all systems.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232" y="5212079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5193792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Freeze all learned models and choices, then run one paired test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797296"/>
            <a:ext cx="10442448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879592"/>
            <a:ext cx="1007668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11111"/>
                </a:solidFill>
                <a:latin typeface="Arial"/>
              </a:rPr>
              <a:t>Completion depends on executing the fixed protocol correctly, not on obtaining a favorable result.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Objectives are stated as completion work, not promised outcomes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Proposed methodology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298448"/>
            <a:ext cx="10442448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40112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Imagenette-160 · same image and split · same complex-symbol budget · same SNR · same keyed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48256"/>
            <a:ext cx="10698480" cy="566928"/>
          </a:xfrm>
          <a:prstGeom prst="rect">
            <a:avLst/>
          </a:prstGeom>
          <a:solidFill>
            <a:srgbClr val="F3F3F3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157984"/>
            <a:ext cx="193852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16352" y="2048256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26080" y="2157984"/>
            <a:ext cx="531266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Transmission path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48471" y="2048256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58199" y="2157984"/>
            <a:ext cx="2788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Scientific role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615184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724912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Classical + AI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16352" y="2615184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926080" y="2724912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JPEG 2000 → LDPC → AWGN → recovered image → frozen ResNet-18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48471" y="2615184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199" y="2724912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Conventional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74720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584448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AI feature control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3474720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926080" y="3584448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Shared neural encoder → quantization → same digital PHY → shared task head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48471" y="3474720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58199" y="3584448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Isolates representation learning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334256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443984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Neural DJSCC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16352" y="4334256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926080" y="4443984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Residual encoder → normalization → AWGN → dual-head neural decoder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8471" y="4334256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58199" y="4443984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Tests end-to-end neural coding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58384"/>
            <a:ext cx="19933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Evaluation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912" y="5303520"/>
            <a:ext cx="83941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Train with supervised CE + λMSE; tune on validation only; freeze before test access; retain failed transmissions; compare paired per-image AI outcomes.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5925312"/>
            <a:ext cx="10442448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971032"/>
            <a:ext cx="1007668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11111"/>
                </a:solidFill>
                <a:latin typeface="Arial"/>
              </a:rPr>
              <a:t>The test split remains sealed until gate G-12. No test result exists at First Review.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Objectives, Subject Knowledge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Three systems · one shared task, resource budget and channel definition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Research hypotheses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298448"/>
            <a:ext cx="6309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Primary hypothesis (H1)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00784"/>
            <a:ext cx="63276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Arial"/>
              </a:rPr>
              <a:t>At difficult low-SNR conditions, the learned joint system will preserve classification accuracy better than the tuned conventional system across a consecutive region—not at only one isolated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70048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Formal decision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6327648" cy="12252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555555"/>
                </a:solidFill>
                <a:latin typeface="Arial"/>
              </a:rPr>
              <a:t>Comparator: learned versus classical_adaptive at the headline ratio. A point qualifies when √N·Δ̂(s)/σ̂(s) &gt; 1.96. R_obs is the longest consecutive qualifying run at or below the training SNR. H1 is supported only if R_obs ≥ 3 and the calibrated run p-value ≤ 0.05.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52544"/>
            <a:ext cx="6327648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555555"/>
                </a:solidFill>
                <a:latin typeface="Arial"/>
              </a:rPr>
              <a:t>Effect size: the mean paired accuracy difference over the full low-SNR region. A curve crossing is reported if observed, but is not required.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78624" y="1298448"/>
            <a:ext cx="0" cy="427939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34656" y="133502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31673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a fixed conventional configuration show a cliff while the learned system degrades more gradually?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34656" y="223113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34656" y="252374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50545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the learned–classical accuracy gap contract as SNR improves?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34656" y="341985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34656" y="371246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9417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the learned joint system also exceed the task-aware digital feature control?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34656" y="460857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13232" y="5193792"/>
            <a:ext cx="10442448" cy="7680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5413248"/>
            <a:ext cx="99669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Outcome rule: support, no support or an adverse result are all valid findings. The protocol does not change after test access.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Hypothesis, Subject 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Primary metric: paired top-1 AI inference accuracy · exact protocol: SPEC §2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Preliminary work and feasibility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335024"/>
            <a:ext cx="10698480" cy="566928"/>
          </a:xfrm>
          <a:prstGeom prst="rect">
            <a:avLst/>
          </a:prstGeom>
          <a:solidFill>
            <a:srgbClr val="F3F3F3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444752"/>
            <a:ext cx="859536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47088" y="1444752"/>
            <a:ext cx="3090672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Observed evidence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47488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7216" y="1444752"/>
            <a:ext cx="2907791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tells us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74736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84463" y="1444752"/>
            <a:ext cx="2962656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does not tell 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901952"/>
            <a:ext cx="1069848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11680"/>
            <a:ext cx="85953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555"/>
                </a:solidFill>
                <a:latin typeface="Arial"/>
              </a:rPr>
              <a:t>AI task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37360" y="190195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847088" y="2011680"/>
            <a:ext cx="3090672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555"/>
                </a:solidFill>
                <a:latin typeface="Arial"/>
              </a:rPr>
              <a:t>ResNet-18 from scratch: 89.8% validation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47488" y="190195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57216" y="2011680"/>
            <a:ext cx="2907791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The classification task and clean reference model are viable.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74736" y="190195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84463" y="2011680"/>
            <a:ext cx="29626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Validation only; test is sealed. (G-1)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633472"/>
            <a:ext cx="1069848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743200"/>
            <a:ext cx="85953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555"/>
                </a:solidFill>
                <a:latin typeface="Arial"/>
              </a:rPr>
              <a:t>Learned model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37360" y="2633472"/>
            <a:ext cx="0" cy="731519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47088" y="2743200"/>
            <a:ext cx="3090672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555"/>
                </a:solidFill>
                <a:latin typeface="Arial"/>
              </a:rPr>
              <a:t>DJSCC: 1.64 M parameters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47488" y="2633472"/>
            <a:ext cx="0" cy="731519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57216" y="2743200"/>
            <a:ext cx="2907791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The planned model fits the available RTX 4060.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174736" y="2633472"/>
            <a:ext cx="0" cy="731519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84463" y="2743200"/>
            <a:ext cx="29626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A feasibility profile, not training. (G-7)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364992"/>
            <a:ext cx="1069848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474720"/>
            <a:ext cx="85953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555"/>
                </a:solidFill>
                <a:latin typeface="Arial"/>
              </a:rPr>
              <a:t>Digital link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36499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47088" y="3474720"/>
            <a:ext cx="3090672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555"/>
                </a:solidFill>
                <a:latin typeface="Arial"/>
              </a:rPr>
              <a:t>Golden vectors and BLER conformance pass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47488" y="336499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157216" y="3474720"/>
            <a:ext cx="2907791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The channel-coding implementation behaves as expected.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74736" y="336499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84463" y="3474720"/>
            <a:ext cx="29626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Conformance evidence, not the full table. (G-2)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096512"/>
            <a:ext cx="1069848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06240"/>
            <a:ext cx="85953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555"/>
                </a:solidFill>
                <a:latin typeface="Arial"/>
              </a:rPr>
              <a:t>Full pipeline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737360" y="409651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47088" y="4206240"/>
            <a:ext cx="3090672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555"/>
                </a:solidFill>
                <a:latin typeface="Arial"/>
              </a:rPr>
              <a:t>Bounded conventional run completes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47488" y="409651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157216" y="4206240"/>
            <a:ext cx="2907791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Compression, coding, channel and records work together.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74736" y="409651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284463" y="4206240"/>
            <a:ext cx="29626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Integration evidence, not a comparison. (W4)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828032"/>
            <a:ext cx="1069848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4937760"/>
            <a:ext cx="85953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555"/>
                </a:solidFill>
                <a:latin typeface="Arial"/>
              </a:rPr>
              <a:t>Current phase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737360" y="482803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847088" y="4937760"/>
            <a:ext cx="3090672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555"/>
                </a:solidFill>
                <a:latin typeface="Arial"/>
              </a:rPr>
              <a:t>BLER characterization at a durable checkpoint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47488" y="482803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57216" y="4937760"/>
            <a:ext cx="2907791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The current measurement work can resume safely.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74736" y="4828032"/>
            <a:ext cx="0" cy="7315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284463" y="4937760"/>
            <a:ext cx="29626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555"/>
                </a:solidFill>
                <a:latin typeface="Arial"/>
              </a:rPr>
              <a:t>Table, selection and training are unfinished. (G8_C)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5833872"/>
            <a:ext cx="10469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No worker is running. No selection, training, validation decoding or test access has occurred.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Subject Knowledge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Engineering and gate evidence only · no learned-versus-classical result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Project Gantt chart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25880"/>
            <a:ext cx="215798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Workstream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090672" y="1298448"/>
            <a:ext cx="1774632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90672" y="1408176"/>
            <a:ext cx="1774632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AUG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90672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865304" y="1298448"/>
            <a:ext cx="2314738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5304" y="1408176"/>
            <a:ext cx="2314738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SEP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65304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80042" y="1298448"/>
            <a:ext cx="2391896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80042" y="1408176"/>
            <a:ext cx="2391896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OCT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80042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571939" y="1298448"/>
            <a:ext cx="1620316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1939" y="1408176"/>
            <a:ext cx="1620316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NOV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71939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192256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1975104"/>
            <a:ext cx="2212848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11111"/>
                </a:solidFill>
                <a:latin typeface="Arial"/>
              </a:rPr>
              <a:t>BLER characterization + G-8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2368296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090672" y="1975104"/>
            <a:ext cx="1080211" cy="292608"/>
          </a:xfrm>
          <a:prstGeom prst="rect">
            <a:avLst/>
          </a:prstGeom>
          <a:solidFill>
            <a:srgbClr val="555555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36391" y="2048256"/>
            <a:ext cx="988771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FFFFF"/>
                </a:solidFill>
                <a:latin typeface="Arial"/>
              </a:rPr>
              <a:t>IN PROGRESS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2468880"/>
            <a:ext cx="2212848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11111"/>
                </a:solidFill>
                <a:latin typeface="Arial"/>
              </a:rPr>
              <a:t>Learned model training + tuning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2862072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248041" y="2468880"/>
            <a:ext cx="2160422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3761" y="2542032"/>
            <a:ext cx="206898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962656"/>
            <a:ext cx="2212848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11111"/>
                </a:solidFill>
                <a:latin typeface="Arial"/>
              </a:rPr>
              <a:t>Digital feature system + validation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355848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8463" y="2962656"/>
            <a:ext cx="1080211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54183" y="3035808"/>
            <a:ext cx="988771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456432"/>
            <a:ext cx="2212848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11111"/>
                </a:solidFill>
                <a:latin typeface="Arial"/>
              </a:rPr>
              <a:t>Freeze + single test campaign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849624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488674" y="3456432"/>
            <a:ext cx="1080211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34394" y="3529584"/>
            <a:ext cx="988771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3950208"/>
            <a:ext cx="2212848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11111"/>
                </a:solidFill>
                <a:latin typeface="Arial"/>
              </a:rPr>
              <a:t>Demo + optional replay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4343400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568885" y="3950208"/>
            <a:ext cx="1080211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14605" y="4023360"/>
            <a:ext cx="988771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4443984"/>
            <a:ext cx="2212848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11111"/>
                </a:solidFill>
                <a:latin typeface="Arial"/>
              </a:rPr>
              <a:t>Report, audit + final review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13232" y="4837176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649097" y="4443984"/>
            <a:ext cx="1543158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94817" y="4517136"/>
            <a:ext cx="1451718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785093" y="1682496"/>
            <a:ext cx="0" cy="3749040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734801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025727" y="1682496"/>
            <a:ext cx="0" cy="3749040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975435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0806466" y="1682496"/>
            <a:ext cx="0" cy="3749040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756174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1037940" y="1682496"/>
            <a:ext cx="0" cy="3749040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0987648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89202" y="4407408"/>
            <a:ext cx="540105" cy="365760"/>
          </a:xfrm>
          <a:prstGeom prst="rect">
            <a:avLst/>
          </a:prstGeom>
          <a:noFill/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89202" y="4800600"/>
            <a:ext cx="540105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555"/>
                </a:solidFill>
                <a:latin typeface="Arial"/>
              </a:rPr>
              <a:t>W16 contingency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5669280"/>
            <a:ext cx="104698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11111"/>
                </a:solidFill>
                <a:latin typeface="Arial"/>
              </a:rPr>
              <a:t>Review dates: 18–22 Aug · 29 Sep–3 Oct · 17–21 Nov · report due 20 Nov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" y="5980176"/>
            <a:ext cx="104698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555555"/>
                </a:solidFill>
                <a:latin typeface="Arial"/>
              </a:rPr>
              <a:t>BLER characterization is the only workstream in progress. All later bars are planned; W16 is report contingency.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Time Plan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Detailed dependencies and acceptance evidence: docs/gantt-plan.md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Applications, project scope and risks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Edge AI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Remote cameras and edge sensors send task-relevant information to a receiver-side AI model when bandwidth, latency or link reliability is limited. This represents split edge/cloud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4528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AI/ML contribution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Channel-robust neural representation learning; a residual encoder and dual-head decoder; CE + λMSE multi-task training; and a digital feature control that isolates the value of joint coding.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70064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2944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Main risks and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BLER work is incomplete: resume from the authenticated checkpoint.</a:t>
            </a:r>
            <a:br/>
            <a:br/>
            <a:r>
              <a:rPr sz="1250" b="0" i="0">
                <a:solidFill>
                  <a:srgbClr val="555555"/>
                </a:solidFill>
                <a:latin typeface="Arial"/>
              </a:rPr>
              <a:t>A hypothesis may not be supported: report the result without retuning.</a:t>
            </a:r>
            <a:br/>
            <a:br/>
            <a:r>
              <a:rPr sz="1250" b="0" i="0">
                <a:solidFill>
                  <a:srgbClr val="555555"/>
                </a:solidFill>
                <a:latin typeface="Arial"/>
              </a:rPr>
              <a:t>Hardware adds confounders: keep it as gated stretch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47488"/>
            <a:ext cx="232257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Technical claim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5001768"/>
            <a:ext cx="801014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Tier 1 is a simulation-based AI experiment over normalized AWGN. OpenJPEG 2.5.4 and TS 38.212-derived LDPC are controls; no complete 5G NR radio or required hardware is claimed.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705856"/>
            <a:ext cx="1042416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815584"/>
            <a:ext cx="998524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11111"/>
                </a:solidFill>
                <a:latin typeface="Arial"/>
              </a:rPr>
              <a:t>Outstanding human item: the guide's dated acknowledgement of the no-required-hardware path remains pending.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Subject Knowledge, Objectives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Circular clause 5 · PR-3 standards register · PR-9 deployment dossier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Summary and next steps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298448"/>
            <a:ext cx="616305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Project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5376" y="1737360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Edge AI inference must operate over a limited noisy link.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304288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505456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AI/ML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2487168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Train a residual neural encoder and dual-head decoder through a differentiable channel.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054096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255263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5376" y="3236975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Measure Imagenette-160 classification at matched channel use against two controlled baselines.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803903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005072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Next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3986784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Finish characterization, train and freeze the models, then run the paired test campaign once.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553712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14032" y="1298448"/>
            <a:ext cx="0" cy="41696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88352" y="1298448"/>
            <a:ext cx="3675887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Six-criterion rubric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8352" y="1773936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77393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2–4, 6, 11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8352" y="2103120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88352" y="2304288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230428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6–7, 11–12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88352" y="2633472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88352" y="2834639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Hypothesis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3184" y="2834639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88352" y="3163823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8352" y="3364991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Problem Survey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3364991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8352" y="3694176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88352" y="3895344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Subject Knowledge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3184" y="3895344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3–5, 7–9, 11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88352" y="4224528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88352" y="4425696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Time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3184" y="442569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8352" y="4754880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13232" y="5047488"/>
            <a:ext cx="10332720" cy="9326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230368"/>
            <a:ext cx="184708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First Review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79776" y="5184648"/>
            <a:ext cx="801014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 i="0">
                <a:solidFill>
                  <a:srgbClr val="111111"/>
                </a:solidFill>
                <a:latin typeface="Arial"/>
              </a:rPr>
              <a:t>The AI/ML method, controlled evaluation protocol, feasibility evidence and completion plan are defined. Final neural training and learned-versus-classical results remain future work.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Objectives, Hypothesis, Problem Survey, Subject Knowledge, Time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Full package: deliverables/review-1/first-review-package.md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First Review</dc:title>
  <dc:subject>Capstone First Review, 18–22 August 2026</dc:subject>
  <dc:creator>Capstone project team</dc:creator>
  <cp:keywords/>
  <dc:description>Generated from authenticated repository evidence;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