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76656" y="914400"/>
            <a:ext cx="107899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11111"/>
                </a:solidFill>
                <a:latin typeface="Arial"/>
              </a:rPr>
              <a:t>Task-Oriented Deep Joint Source–Channel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94944" y="2212848"/>
            <a:ext cx="1037844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555555"/>
                </a:solidFill>
                <a:latin typeface="Arial"/>
              </a:rPr>
              <a:t>Semantic communication for bandwidth-constrained image classification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94944" y="2907792"/>
            <a:ext cx="10771632" cy="0"/>
          </a:xfrm>
          <a:prstGeom prst="line">
            <a:avLst/>
          </a:prstGeom>
          <a:ln w="1143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94944" y="3310128"/>
            <a:ext cx="10332720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555555"/>
                </a:solidFill>
                <a:latin typeface="Arial"/>
              </a:rPr>
              <a:t>The project studies whether an edge device can send the information needed for a classification task without having to transmit and reconstruct every image detail.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4407408"/>
            <a:ext cx="48463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Capstone First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4846320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Review window: 18–22 August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" y="5248656"/>
            <a:ext cx="53035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55555"/>
                </a:solidFill>
                <a:latin typeface="Arial"/>
              </a:rPr>
              <a:t>Presentation slot: 15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5230368"/>
            <a:ext cx="3749039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Team and guide details to be added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First Review · 18–22 August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The project in one minute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94944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Observe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An edge camera sees an 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511296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Send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5887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The link has limited bandwidth and added noise.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27648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 receiver predicts the image class.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44000" y="1499616"/>
            <a:ext cx="2267712" cy="1993392"/>
          </a:xfrm>
          <a:prstGeom prst="rect">
            <a:avLst/>
          </a:prstGeom>
          <a:solidFill>
            <a:srgbClr val="FFFFFF"/>
          </a:solidFill>
          <a:ln w="1143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08592" y="1700784"/>
            <a:ext cx="31089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08592" y="2139696"/>
            <a:ext cx="192024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11111"/>
                </a:solidFill>
                <a:latin typeface="Arial"/>
              </a:rPr>
              <a:t>Compare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08592" y="2633472"/>
            <a:ext cx="1901952" cy="5852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We measure task accuracy at the same channel budget.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4944" y="4041648"/>
            <a:ext cx="10716768" cy="1143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79392"/>
            <a:ext cx="2880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111111"/>
                </a:solidFill>
                <a:latin typeface="Arial"/>
              </a:rPr>
              <a:t>Semantic communication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22191" y="4242816"/>
            <a:ext cx="7296912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Send the information required to complete the task. Reconstructing every original pixel is optional when the task does not need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" y="5614416"/>
            <a:ext cx="10561320" cy="43891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11111"/>
                </a:solidFill>
                <a:latin typeface="Arial"/>
              </a:rPr>
              <a:t>The final result is classification accuracy after transmission, not image quality by itself.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Tier 1 is a simulation-first image-classification experiment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How a conventional image link solves the task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40080" y="1481328"/>
            <a:ext cx="14173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728216"/>
            <a:ext cx="11978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94560"/>
            <a:ext cx="11978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camera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487168" y="1481328"/>
            <a:ext cx="16459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96896" y="1728216"/>
            <a:ext cx="142646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Compress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96896" y="2194560"/>
            <a:ext cx="142646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JPEG 2000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62856" y="1481328"/>
            <a:ext cx="186537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1728216"/>
            <a:ext cx="164592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Protect bits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2194560"/>
            <a:ext cx="164592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LDPC + modulation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0" y="1481328"/>
            <a:ext cx="159105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67728" y="1728216"/>
            <a:ext cx="13716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Add noise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67728" y="2194560"/>
            <a:ext cx="1371600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simulated channel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87968" y="1481328"/>
            <a:ext cx="265176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97696" y="1728216"/>
            <a:ext cx="24323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11111"/>
                </a:solidFill>
                <a:latin typeface="Arial"/>
              </a:rPr>
              <a:t>Recover and classify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7696" y="2194560"/>
            <a:ext cx="243230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image → class label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1396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3317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215384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4407408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651052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670255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853135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872337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182112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Compression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24912" y="3163824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reduces the number of source bits.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712463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Error correction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24912" y="3694176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adds controlled redundancy so damaged bits can be recovered.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242816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Modulation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24912" y="4224528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maps protected bits to symbols sent through the channel.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773168"/>
            <a:ext cx="193852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Classifier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24912" y="4754880"/>
            <a:ext cx="84673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0" i="0">
                <a:solidFill>
                  <a:srgbClr val="555555"/>
                </a:solidFill>
                <a:latin typeface="Arial"/>
              </a:rPr>
              <a:t>uses the recovered image to choose a class label.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3232" y="5468112"/>
            <a:ext cx="10479024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31520" y="5669280"/>
            <a:ext cx="10442448" cy="40233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Limitation: each stage is designed mainly to recover images and bits, while the final metric is whether the class decision is correct.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Subject Knowledge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Headline baseline: JPEG 2000 + TS 38.212-derived LDPC over AWGN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the learned joint system changes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86384" y="1481328"/>
            <a:ext cx="1572768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7824" y="1728216"/>
            <a:ext cx="1389888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Image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" y="2176272"/>
            <a:ext cx="1389888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sender input</a:t>
            </a:r>
          </a:p>
        </p:txBody>
      </p:sp>
      <p:sp>
        <p:nvSpPr>
          <p:cNvPr id="7" name="Rectangle 6"/>
          <p:cNvSpPr/>
          <p:nvPr/>
        </p:nvSpPr>
        <p:spPr>
          <a:xfrm>
            <a:off x="2834640" y="1481328"/>
            <a:ext cx="1956816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0" y="1728216"/>
            <a:ext cx="177393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Neural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176272"/>
            <a:ext cx="1773936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learned representation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266944" y="1481328"/>
            <a:ext cx="170078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58383" y="1728216"/>
            <a:ext cx="151790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Noisy 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383" y="2176272"/>
            <a:ext cx="151790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used during training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43216" y="1481328"/>
            <a:ext cx="2103120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34656" y="1728216"/>
            <a:ext cx="1920239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Neural decoder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34656" y="2176272"/>
            <a:ext cx="1920239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recover task information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21824" y="1481328"/>
            <a:ext cx="1335024" cy="1225296"/>
          </a:xfrm>
          <a:prstGeom prst="rect">
            <a:avLst/>
          </a:prstGeom>
          <a:solidFill>
            <a:srgbClr val="FFFFFF"/>
          </a:solidFill>
          <a:ln w="10160">
            <a:solidFill>
              <a:srgbClr val="7777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13264" y="1728216"/>
            <a:ext cx="115214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Class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13264" y="2176272"/>
            <a:ext cx="1152144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70" b="0" i="0">
                <a:solidFill>
                  <a:srgbClr val="555555"/>
                </a:solidFill>
                <a:latin typeface="Arial"/>
              </a:rPr>
              <a:t>receiver output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450592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2642616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4882896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5074920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7059168" y="2084831"/>
            <a:ext cx="256032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Isosceles Triangle 23"/>
          <p:cNvSpPr/>
          <p:nvPr/>
        </p:nvSpPr>
        <p:spPr>
          <a:xfrm rot="5400000">
            <a:off x="7251192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9637776" y="2084831"/>
            <a:ext cx="256031" cy="0"/>
          </a:xfrm>
          <a:prstGeom prst="line">
            <a:avLst/>
          </a:prstGeom>
          <a:ln w="1270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Isosceles Triangle 25"/>
          <p:cNvSpPr/>
          <p:nvPr/>
        </p:nvSpPr>
        <p:spPr>
          <a:xfrm rot="5400000">
            <a:off x="9829799" y="2034539"/>
            <a:ext cx="128016" cy="100584"/>
          </a:xfrm>
          <a:prstGeom prst="triangle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182112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The central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84448" y="3136392"/>
            <a:ext cx="7516368" cy="6400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555555"/>
                </a:solidFill>
                <a:latin typeface="Arial"/>
              </a:rPr>
              <a:t>The sender and receiver are trained together through the channel. The transmitted representation can therefore preserve information useful for classification after noise.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31520" y="3986784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49808" y="4242816"/>
            <a:ext cx="28163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11111"/>
                </a:solidFill>
                <a:latin typeface="Arial"/>
              </a:rPr>
              <a:t>Why not send the label?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84448" y="4187952"/>
            <a:ext cx="7516368" cy="8046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0" i="0">
                <a:solidFill>
                  <a:srgbClr val="555555"/>
                </a:solidFill>
                <a:latin typeface="Arial"/>
              </a:rPr>
              <a:t>The project fixes the deployment split: the sender has an encoder, while the receiver owns the decoder and classifier. Sending a label would move the full task model to the sender and test a different system.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31520" y="5340096"/>
            <a:ext cx="10442448" cy="640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2688" y="5522976"/>
            <a:ext cx="1004011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11111"/>
                </a:solidFill>
                <a:latin typeface="Arial"/>
              </a:rPr>
              <a:t>The method is supervised end-to-end learning. It is not reinforcement learning and it does not use an LLM.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Subject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DJSCC = deep joint source–channel coding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prior research establishes—and leaves open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35024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Short-packet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27248" y="1316736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Finite packets pay coding overhead and can fail abruptly.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59168" y="1316736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Measure the practical baseline instead of assuming ideal capacity. [1–4]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3232" y="2066543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13232" y="2359152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Learned image compression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7248" y="2340864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Neural transforms can improve rate–distortion performance.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9168" y="2340864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Good reconstruction quality is not the same as good task accuracy. [11–17]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13232" y="3090672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13232" y="3383280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DeepJSCC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27248" y="3364992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Learned continuous mappings can degrade gradually under noise.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9168" y="3364992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Most image studies emphasize reconstruction rather than classification. [5–10,24]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13232" y="4114800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13232" y="4407408"/>
            <a:ext cx="2359152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Task-oriented communication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27248" y="4389120"/>
            <a:ext cx="3749039" cy="49377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Learned features can preserve inference under link limits.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59168" y="4389120"/>
            <a:ext cx="4096512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Task awareness and joint coding are often not isolated from each other. [18–23]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13232" y="5138928"/>
            <a:ext cx="10442448" cy="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13232" y="5650992"/>
            <a:ext cx="2359152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Gap addressed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27248" y="5596128"/>
            <a:ext cx="8028431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55555"/>
                </a:solidFill>
                <a:latin typeface="Arial"/>
              </a:rPr>
              <a:t>A fair three-way comparison for image classification at equal channel use, with failures retained and one sealed test campaign.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Problem Survey, Subject Knowledge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30-source synthesis: docs/literature-review.md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Problem statement and project objectives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316736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80944" y="1280160"/>
            <a:ext cx="8119872" cy="6766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0" b="0" i="0">
                <a:solidFill>
                  <a:srgbClr val="555555"/>
                </a:solidFill>
                <a:latin typeface="Arial"/>
              </a:rPr>
              <a:t>Conventional image links protect reconstructed images and bits, while the receiver ultimately needs a correct class decision. A learned joint system may use the limited channel more effectively for that task, but the comparison must isolate task awareness from joint coding.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13232" y="2139696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13232" y="2395728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Research 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80944" y="2350008"/>
            <a:ext cx="8119872" cy="7132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60" b="0" i="0">
                <a:solidFill>
                  <a:srgbClr val="111111"/>
                </a:solidFill>
                <a:latin typeface="Arial"/>
              </a:rPr>
              <a:t>At the same bandwidth and channel conditions, can the learned joint system preserve classification accuracy better than a tuned conventional system, and is any remaining difference consistent with joint coding?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13232" y="3218688"/>
            <a:ext cx="10442448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3232" y="3474720"/>
            <a:ext cx="2249424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Objectives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3456432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3438144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Build the conventional image, digital feature and learned joint systems.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9232" y="4041648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2.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01568" y="4023360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Match channel use, SNR, image identity and noise across all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99232" y="4626864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3.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4608576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Freeze every model and operating choice before opening the test split.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9232" y="5212079"/>
            <a:ext cx="329184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60" b="0" i="0">
                <a:solidFill>
                  <a:srgbClr val="555555"/>
                </a:solidFill>
                <a:latin typeface="Arial"/>
              </a:rPr>
              <a:t>4.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1568" y="5193792"/>
            <a:ext cx="7699248" cy="384048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0" b="0" i="0">
                <a:solidFill>
                  <a:srgbClr val="555555"/>
                </a:solidFill>
                <a:latin typeface="Arial"/>
              </a:rPr>
              <a:t>Run one paired test campaign and report positive, null or adverse findings.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" y="5797296"/>
            <a:ext cx="10442448" cy="3657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879592"/>
            <a:ext cx="10076688" cy="16459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1" i="0">
                <a:solidFill>
                  <a:srgbClr val="111111"/>
                </a:solidFill>
                <a:latin typeface="Arial"/>
              </a:rPr>
              <a:t>Completion depends on executing the fixed protocol correctly, not on obtaining a favorable result.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Objectives are stated as completion work, not promised outcomes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Proposed methodology and comparison design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232" y="1298448"/>
            <a:ext cx="10442448" cy="56692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40112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Shared input for every arm: same image · same dataset split · same complex-symbol budget · same SNR · same keyed noise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2048256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57984"/>
            <a:ext cx="193852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System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16352" y="204825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926080" y="2157984"/>
            <a:ext cx="531266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Transmission path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48471" y="204825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458199" y="2157984"/>
            <a:ext cx="2788920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Scientific 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615184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724912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Classical image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816352" y="2615184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26080" y="2724912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JPEG 2000 → framing → LDPC → modulation → AWGN → image → classifier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348471" y="2615184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458199" y="2724912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Strong conventional reference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474720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3584448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Digital feature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16352" y="3474720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926080" y="3584448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Learned features → quantization → same digital physical layer → task head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48471" y="3474720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458199" y="3584448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Separates task awareness from joint coding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4334256"/>
            <a:ext cx="10698480" cy="859536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4443984"/>
            <a:ext cx="1938528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60" b="0" i="0">
                <a:solidFill>
                  <a:srgbClr val="555555"/>
                </a:solidFill>
                <a:latin typeface="Arial"/>
              </a:rPr>
              <a:t>Learned joint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816352" y="4334256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926080" y="4443984"/>
            <a:ext cx="5312664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Neural encoder → power normalization → AWGN → neural decoder and class head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348471" y="4334256"/>
            <a:ext cx="0" cy="859536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458199" y="4443984"/>
            <a:ext cx="2788920" cy="676656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55555"/>
                </a:solidFill>
                <a:latin typeface="Arial"/>
              </a:rPr>
              <a:t>Tests end-to-end joint 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5358384"/>
            <a:ext cx="19933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11111"/>
                </a:solidFill>
                <a:latin typeface="Arial"/>
              </a:rPr>
              <a:t>Evaluation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24912" y="5303520"/>
            <a:ext cx="8394192" cy="6035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Tune on validation only; freeze before test access; retain failed transmissions in accuracy; count all bytes and physical-layer identities; compare paired per-image outcomes.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" y="5925312"/>
            <a:ext cx="10442448" cy="25603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971032"/>
            <a:ext cx="10076688" cy="12801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1" i="0">
                <a:solidFill>
                  <a:srgbClr val="111111"/>
                </a:solidFill>
                <a:latin typeface="Arial"/>
              </a:rPr>
              <a:t>The test split remains sealed until gate G-12. No test result exists at First Review.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Objectives, Subject Knowledge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Three systems · one shared task, resource budget and channel definition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Hypotheses and evaluation plan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298448"/>
            <a:ext cx="630936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H1 — low-SNR separation (confirmatory primary)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719072"/>
            <a:ext cx="6327648" cy="14264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Comparator: learned versus classical_adaptive at the headline ratio. A grid point qualifies when the studentized paired mean √N·Δ̂(s)/σ̂(s) exceeds 1.96. Let R_obs be the longest run of consecutive qualifying points at or below the training SNR. H1 is supported only if R_obs ≥ 3 and the calibrated run p-value ≤ 0.05.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3291840"/>
            <a:ext cx="6327648" cy="7863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The whole low-SNR-region mean paired difference is the effect size of record. A curve crossing is reported if observed but is not required.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278624" y="1298448"/>
            <a:ext cx="0" cy="4279392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534656" y="133502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31673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a fixed conventional configuration show a cliff while the learned system degrades more gradually?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534656" y="223113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534656" y="252374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50545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the learned–classical accuracy gap contract as SNR improves?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34656" y="341985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534656" y="3712464"/>
            <a:ext cx="53035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H4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38160" y="3694176"/>
            <a:ext cx="2962656" cy="7680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0" b="0" i="0">
                <a:solidFill>
                  <a:srgbClr val="555555"/>
                </a:solidFill>
                <a:latin typeface="Arial"/>
              </a:rPr>
              <a:t>Does the learned joint system also exceed the task-aware digital feature control?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34656" y="4608576"/>
            <a:ext cx="3566160" cy="0"/>
          </a:xfrm>
          <a:prstGeom prst="line">
            <a:avLst/>
          </a:prstGeom>
          <a:ln w="5715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713232" y="5193792"/>
            <a:ext cx="10442448" cy="76809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5413248"/>
            <a:ext cx="9966960" cy="34747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Outcome rule: support, no support or an adverse result are all valid findings. The protocol does not change after test access.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Hypothesis, Subject Knowledge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Exact preregistered protocol: SPEC §2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has been demonstrated so far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35024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44752"/>
            <a:ext cx="85953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Gate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737360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847088" y="1444752"/>
            <a:ext cx="309067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Observed evidence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47488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157216" y="1444752"/>
            <a:ext cx="2907791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Plain-language meaning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174736" y="1335024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84463" y="1444752"/>
            <a:ext cx="2962656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11111"/>
                </a:solidFill>
                <a:latin typeface="Arial"/>
              </a:rPr>
              <a:t>Boundary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90195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201168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G-1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737360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847088" y="201168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89.8% validation accuracy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47488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157216" y="201168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reference image-classification task is viable.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174736" y="190195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284463" y="201168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Validation only; test is sealed.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3347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4320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G-7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737360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847088" y="274320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1.64 M parameters; measured GPU profile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047488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157216" y="274320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planned learned model fits the available GPU.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174736" y="2633472"/>
            <a:ext cx="0" cy="731519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284463" y="274320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A feasibility profile, not training.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6499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7472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G-2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1737360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847088" y="347472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Golden vectors and BLER conformance pass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047488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157216" y="347472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The digital physical-layer implementation behaves as expected.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174736" y="336499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284463" y="347472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Small conformance evidence, not the full table.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09651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20624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W4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737360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1847088" y="420624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Bounded conventional pipeline runs end to end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047488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157216" y="420624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Compression, coding, channel, decoding and records are integrated.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174736" y="409651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84463" y="420624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Integration evidence, not a comparison result.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828032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937760"/>
            <a:ext cx="85953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0" i="0">
                <a:solidFill>
                  <a:srgbClr val="555555"/>
                </a:solidFill>
                <a:latin typeface="Arial"/>
              </a:rPr>
              <a:t>G8_C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1737360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1847088" y="4937760"/>
            <a:ext cx="309067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C2 characterization paused at a durable checkpoint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047488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5157216" y="4937760"/>
            <a:ext cx="2907791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Full-strength BLER measurement can resume safely.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174736" y="4828032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8284463" y="4937760"/>
            <a:ext cx="2962656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80" b="0" i="0">
                <a:solidFill>
                  <a:srgbClr val="555555"/>
                </a:solidFill>
                <a:latin typeface="Arial"/>
              </a:rPr>
              <a:t>Table, selection and training are unfinished.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833872"/>
            <a:ext cx="10469880" cy="31089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11111"/>
                </a:solidFill>
                <a:latin typeface="Arial"/>
              </a:rPr>
              <a:t>No worker is running. No selection, training, validation decoding or test access has occurred.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Subject Knowledge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Engineering and gate evidence only · no learned-versus-classical result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What remains after First Review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658368" y="1316736"/>
            <a:ext cx="10698480" cy="566928"/>
          </a:xfrm>
          <a:prstGeom prst="rect">
            <a:avLst/>
          </a:prstGeom>
          <a:solidFill>
            <a:srgbClr val="F3F3F3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1426464"/>
            <a:ext cx="162763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Stage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05456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2615184" y="1426464"/>
            <a:ext cx="1792224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State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17136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626864" y="1426464"/>
            <a:ext cx="4187952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Work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924544" y="1316736"/>
            <a:ext cx="0" cy="566928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9034272" y="1426464"/>
            <a:ext cx="2212848" cy="384048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111111"/>
                </a:solidFill>
                <a:latin typeface="Arial"/>
              </a:rPr>
              <a:t>Output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188366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99339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G8_C → G-8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05456" y="188366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615184" y="199339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Paused → planned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17136" y="188366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626864" y="199339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Finish BLER characterization; freeze the table; select classical operating points.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924544" y="188366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034272" y="199339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Frozen baseline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" y="261518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272491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W5–W8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505456" y="261518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615184" y="272491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17136" y="261518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26864" y="272491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Train DJSCC and calibrate the task/reconstruction objective.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924544" y="261518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034272" y="272491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Frozen learned model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334670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345643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W9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05456" y="334670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2615184" y="345643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517136" y="334670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626864" y="345643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Build and verify the task-aware digital feature control.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924544" y="334670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34272" y="345643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Attribution control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407822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418795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W10–W12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2505456" y="407822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2615184" y="418795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517136" y="407822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4626864" y="418795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Validation rehearsal; freeze all choices; run one sealed test campaign.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924544" y="407822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034272" y="418795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Hypothesis decisions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8" y="4809744"/>
            <a:ext cx="10698480" cy="731520"/>
          </a:xfrm>
          <a:prstGeom prst="rect">
            <a:avLst/>
          </a:prstGeom>
          <a:solidFill>
            <a:srgbClr val="FFFFFF"/>
          </a:solidFill>
          <a:ln w="762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8096" y="4919472"/>
            <a:ext cx="162763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555555"/>
                </a:solidFill>
                <a:latin typeface="Arial"/>
              </a:rPr>
              <a:t>W13–W17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505456" y="480974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2615184" y="4919472"/>
            <a:ext cx="1792224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Planned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4517136" y="480974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4626864" y="4919472"/>
            <a:ext cx="4187952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Prepare demo, report, poster and final review package.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8924544" y="4809744"/>
            <a:ext cx="0" cy="731520"/>
          </a:xfrm>
          <a:prstGeom prst="line">
            <a:avLst/>
          </a:prstGeom>
          <a:ln w="635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9034272" y="4919472"/>
            <a:ext cx="2212848" cy="54864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555"/>
                </a:solidFill>
                <a:latin typeface="Arial"/>
              </a:rPr>
              <a:t>Final submission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" y="5669280"/>
            <a:ext cx="10469880" cy="32918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40" b="0" i="0">
                <a:solidFill>
                  <a:srgbClr val="111111"/>
                </a:solidFill>
                <a:latin typeface="Arial"/>
              </a:rPr>
              <a:t>First Review: 18–22 Aug · Second Review: 29 Sep–3 Oct · Final Review: 17–21 Nov · Report due: 20 Nov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3232" y="6016752"/>
            <a:ext cx="10469880" cy="21945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30" b="0" i="0">
                <a:solidFill>
                  <a:srgbClr val="555555"/>
                </a:solidFill>
                <a:latin typeface="Arial"/>
              </a:rPr>
              <a:t>W16 is report contingency, not room for new experimental scope.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Time Plan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docs/gantt-plan.md · unfinished stages remain marked unfinished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Application, scope and project risks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713232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Real-world 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Remote cameras and edge sensors may need to support classification when bandwidth, latency or link reliability is limited. The receiver-owned task model represents split edge/cloud inference.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041648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24528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Required project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24528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Tier 1 is a simulation-based comparison of all three systems over normalized AWGN, with matched resources and one sealed test campaign. This is sufficient without radio hardware.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70064" y="1389888"/>
            <a:ext cx="3054096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52944" y="1627632"/>
            <a:ext cx="2688336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20" b="1" i="0">
                <a:solidFill>
                  <a:srgbClr val="111111"/>
                </a:solidFill>
                <a:latin typeface="Arial"/>
              </a:rPr>
              <a:t>Main risks and 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2944" y="2267712"/>
            <a:ext cx="2688336" cy="21031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555"/>
                </a:solidFill>
                <a:latin typeface="Arial"/>
              </a:rPr>
              <a:t>BLER work is incomplete: resume from the authenticated checkpoint.</a:t>
            </a:r>
            <a:br/>
            <a:br/>
            <a:r>
              <a:rPr sz="1250" b="0" i="0">
                <a:solidFill>
                  <a:srgbClr val="555555"/>
                </a:solidFill>
                <a:latin typeface="Arial"/>
              </a:rPr>
              <a:t>A hypothesis may not be supported: report the result without retuning.</a:t>
            </a:r>
            <a:br/>
            <a:br/>
            <a:r>
              <a:rPr sz="1250" b="0" i="0">
                <a:solidFill>
                  <a:srgbClr val="555555"/>
                </a:solidFill>
                <a:latin typeface="Arial"/>
              </a:rPr>
              <a:t>Hardware adds confounders: keep it as gated stretch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47488"/>
            <a:ext cx="232257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20" b="1" i="0">
                <a:solidFill>
                  <a:srgbClr val="111111"/>
                </a:solidFill>
                <a:latin typeface="Arial"/>
              </a:rPr>
              <a:t>Technical claim 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90672" y="5001768"/>
            <a:ext cx="801014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OpenJPEG 2.5.4 and TS 38.212-derived LDPC/rate matching over abstract AWGN. The project does not claim a complete 5G NR radio link.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5705856"/>
            <a:ext cx="10424160" cy="420624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5815584"/>
            <a:ext cx="9985248" cy="1828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80" b="1" i="0">
                <a:solidFill>
                  <a:srgbClr val="111111"/>
                </a:solidFill>
                <a:latin typeface="Arial"/>
              </a:rPr>
              <a:t>Outstanding human item: the guide's dated acknowledgement of the no-required-hardware path remains pending.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Subject Knowledge, Objectives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Circular clause 5 · PR-3 standards register · PR-9 deployment dossier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1018520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 i="0">
                <a:solidFill>
                  <a:srgbClr val="111111"/>
                </a:solidFill>
                <a:latin typeface="Arial"/>
              </a:rPr>
              <a:t>Review 1 summary and requested decisions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66928" y="1078992"/>
            <a:ext cx="11018520" cy="0"/>
          </a:xfrm>
          <a:prstGeom prst="line">
            <a:avLst/>
          </a:prstGeom>
          <a:ln w="1016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713232" y="1298448"/>
            <a:ext cx="6163056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Project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55648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65376" y="1737360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Remote classification must operate over a limited noisy link.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2304288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2505456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Proposal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2487168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Train a task-aware joint encoder and decoder, then compare it with two matched digital systems.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054096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255263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Readiness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65376" y="3236975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The reference task, model feasibility, digital physical layer and conventional pipeline have passed their current gates.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3803903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005072"/>
            <a:ext cx="1078992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20" b="1" i="0">
                <a:solidFill>
                  <a:srgbClr val="111111"/>
                </a:solidFill>
                <a:latin typeface="Arial"/>
              </a:rPr>
              <a:t>Next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5376" y="3986784"/>
            <a:ext cx="4956048" cy="51206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0" b="0" i="0">
                <a:solidFill>
                  <a:srgbClr val="555555"/>
                </a:solidFill>
                <a:latin typeface="Arial"/>
              </a:rPr>
              <a:t>Finish characterization and selection, train the learned systems, freeze choices, then run the test campaign once.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4553712"/>
            <a:ext cx="6089904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114032" y="1298448"/>
            <a:ext cx="0" cy="4169664"/>
          </a:xfrm>
          <a:prstGeom prst="line">
            <a:avLst/>
          </a:prstGeom>
          <a:ln w="889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88352" y="1298448"/>
            <a:ext cx="3675887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111111"/>
                </a:solidFill>
                <a:latin typeface="Arial"/>
              </a:rPr>
              <a:t>Six-criterion rubric map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88352" y="1773936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73184" y="177393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2–4, 6, 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388352" y="2103120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388352" y="2304288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Objectives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73184" y="2304288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6–7, 11–12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388352" y="2633472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388352" y="2834639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Hypothesis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73184" y="2834639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8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388352" y="3163823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388352" y="3364991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Problem Survey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73184" y="3364991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5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388352" y="3694176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88352" y="3895344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Subject Knowledge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73184" y="3895344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3–5, 7–9, 11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388352" y="4224528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388352" y="4425696"/>
            <a:ext cx="20299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11111"/>
                </a:solidFill>
                <a:latin typeface="Arial"/>
              </a:rPr>
              <a:t>Time Plan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73184" y="4425696"/>
            <a:ext cx="1572768" cy="25603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55555"/>
                </a:solidFill>
                <a:latin typeface="Arial"/>
              </a:rPr>
              <a:t>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88352" y="4754880"/>
            <a:ext cx="3657600" cy="0"/>
          </a:xfrm>
          <a:prstGeom prst="line">
            <a:avLst/>
          </a:prstGeom>
          <a:ln w="508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713232" y="5047488"/>
            <a:ext cx="10332720" cy="932688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5230368"/>
            <a:ext cx="1847088" cy="23774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111"/>
                </a:solidFill>
                <a:latin typeface="Arial"/>
              </a:rPr>
              <a:t>Decision requested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79776" y="5184648"/>
            <a:ext cx="8010144" cy="530352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10" b="0" i="0">
                <a:solidFill>
                  <a:srgbClr val="111111"/>
                </a:solidFill>
                <a:latin typeface="Arial"/>
              </a:rPr>
              <a:t>Confirm the research question, the three-system methodology, the fairness controls, the completion objectives and simulation-first Tier 1 as the project basis.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66928" y="6419088"/>
            <a:ext cx="11018520" cy="0"/>
          </a:xfrm>
          <a:prstGeom prst="line">
            <a:avLst/>
          </a:prstGeom>
          <a:ln w="7620">
            <a:solidFill>
              <a:srgbClr val="D9D9D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566928" y="6510528"/>
            <a:ext cx="306324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Rubric: Motivation, Objectives, Hypothesis, Problem Survey, Subject Knowledge, Time Plan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54680" y="6510528"/>
            <a:ext cx="781812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0" b="0" i="0">
                <a:solidFill>
                  <a:srgbClr val="555555"/>
                </a:solidFill>
                <a:latin typeface="Arial"/>
              </a:rPr>
              <a:t>Full package: deliverables/review-1/first-review-package.md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82528" y="6501384"/>
            <a:ext cx="457200" cy="146304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 i="0">
                <a:solidFill>
                  <a:srgbClr val="555555"/>
                </a:solidFill>
                <a:latin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Task-Oriented Deep Joint Source–Channel Coding — First Review</dc:title>
  <dc:subject>Capstone First Review, 18–22 August 2026</dc:subject>
  <dc:creator>Capstone project team</dc:creator>
  <cp:keywords/>
  <dc:description>Generated from authenticated repository evidence; editable native shapes and text.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