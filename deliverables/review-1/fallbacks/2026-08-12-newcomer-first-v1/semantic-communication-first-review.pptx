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914400"/>
            <a:ext cx="107899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Task-Oriented Deep Joint Source–Channel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212848"/>
            <a:ext cx="10378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555"/>
                </a:solidFill>
                <a:latin typeface="Arial"/>
              </a:rPr>
              <a:t>Semantic communication for bandwidth-constrained image classification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4944" y="2907792"/>
            <a:ext cx="10771632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4944" y="3310128"/>
            <a:ext cx="10332720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55555"/>
                </a:solidFill>
                <a:latin typeface="Arial"/>
              </a:rPr>
              <a:t>The project studies whether an edge device can send the information needed for a classification task without having to transmit and reconstruct every image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407408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Capstone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846320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Review window: 18–22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248656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Presentation slot: 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230368"/>
            <a:ext cx="374903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Team and guide details to be added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First Review · 18–22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The project in one minute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94944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An edge camera sees an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296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Send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The link has limited bandwidth and added noise.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 receiver predicts the image class.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We measure task accuracy at the same channel budget.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4041648"/>
            <a:ext cx="10716768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Semantic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242816"/>
            <a:ext cx="7296912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Send the information required to complete the task. Reconstructing every original pixel is optional when the task does not need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14416"/>
            <a:ext cx="105613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The final result is classification accuracy after transmission, not image quality by itself.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Tier 1 is a simulation-first image-classification experiment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How a conventional image link solves the task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481328"/>
            <a:ext cx="14173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28216"/>
            <a:ext cx="11978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94560"/>
            <a:ext cx="11978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camera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481328"/>
            <a:ext cx="16459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6896" y="1728216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Compress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194560"/>
            <a:ext cx="14264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2856" y="1481328"/>
            <a:ext cx="186537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72821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Protect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19456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LDPC + modulation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481328"/>
            <a:ext cx="159105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1728216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Add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1945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simulated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1481328"/>
            <a:ext cx="265176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28216"/>
            <a:ext cx="24323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Recover and 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194560"/>
            <a:ext cx="24323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image → class label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396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3317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215384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407408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51052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70255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53135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872337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182112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Compression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3163824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reduces the number of source bits.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12463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Error correction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3694176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adds controlled redundancy so damaged bits can be recovered.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42816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Modulation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2" y="4224528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maps protected bits to symbols sent through the channel.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73168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4912" y="4754880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uses the recovered image to choose a class label.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5468112"/>
            <a:ext cx="10479024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1520" y="5669280"/>
            <a:ext cx="10442448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Limitation: each stage is designed mainly to recover images and bits, while the final metric is whether the class decision is correct.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Headline baseline: JPEG 2000 + TS 38.212-derived LDPC over AWGN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the learned joint system changes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86384" y="1481328"/>
            <a:ext cx="1572768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728216"/>
            <a:ext cx="13898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76272"/>
            <a:ext cx="1389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sender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81328"/>
            <a:ext cx="195681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728216"/>
            <a:ext cx="17739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Neural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76272"/>
            <a:ext cx="177393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learned representation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6944" y="1481328"/>
            <a:ext cx="170078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3" y="1728216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Noisy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3" y="2176272"/>
            <a:ext cx="151790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used during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1481328"/>
            <a:ext cx="21031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728216"/>
            <a:ext cx="19202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Neural 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6" y="2176272"/>
            <a:ext cx="19202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recover task information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21824" y="1481328"/>
            <a:ext cx="133502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4" y="1728216"/>
            <a:ext cx="11521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3264" y="217627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receiver output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059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64261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8828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50749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05916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25119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637776" y="2084831"/>
            <a:ext cx="256031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829799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182112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The central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136392"/>
            <a:ext cx="75163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The sender and receiver are trained together through the channel. The transmitted representation can therefore preserve information useful for classification after noise.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3986784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4242816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Why not send the label?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4187952"/>
            <a:ext cx="7516368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The project fixes the deployment split: the sender has an encoder, while the receiver owns the decoder and classifier. Sending a label would move the full task model to the sender and test a different system.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40096"/>
            <a:ext cx="10442448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522976"/>
            <a:ext cx="100401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The method is supervised end-to-end learning. It is not reinforcement learning and it does not use an LLM.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Subject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DJSCC = deep joint source–channel coding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Why the comparison needs three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53312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63040"/>
            <a:ext cx="2112263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System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0087" y="1353312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99815" y="1463040"/>
            <a:ext cx="38496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What it sends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59168" y="1353312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68896" y="1463040"/>
            <a:ext cx="40782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What the comparison tells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1069848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29968"/>
            <a:ext cx="2112263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555555"/>
                </a:solidFill>
                <a:latin typeface="Arial"/>
              </a:rPr>
              <a:t>Classical image link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0087" y="1920240"/>
            <a:ext cx="0" cy="9601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99815" y="2029968"/>
            <a:ext cx="3849624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A compressed image protected by LDPC and modulation.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59168" y="1920240"/>
            <a:ext cx="0" cy="9601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68896" y="2029968"/>
            <a:ext cx="4078224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How a strong conventional separated system performs.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880360"/>
            <a:ext cx="1069848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90088"/>
            <a:ext cx="2112263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555555"/>
                </a:solidFill>
                <a:latin typeface="Arial"/>
              </a:rPr>
              <a:t>Digital feature control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90087" y="2880360"/>
            <a:ext cx="0" cy="9601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99815" y="2990088"/>
            <a:ext cx="3849624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Quantized learned features through the same digital physical layer.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9168" y="2880360"/>
            <a:ext cx="0" cy="9601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68896" y="2990088"/>
            <a:ext cx="4078224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Whether task-aware representation alone explains an improvement.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840480"/>
            <a:ext cx="1069848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950208"/>
            <a:ext cx="2112263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555555"/>
                </a:solidFill>
                <a:latin typeface="Arial"/>
              </a:rPr>
              <a:t>Learned joint link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90087" y="3840480"/>
            <a:ext cx="0" cy="9601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99815" y="3950208"/>
            <a:ext cx="3849624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A continuous representation learned together with the noisy channel.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840480"/>
            <a:ext cx="0" cy="9601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68896" y="3950208"/>
            <a:ext cx="4078224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Whether joint source–channel learning adds further value.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047488"/>
            <a:ext cx="10698480" cy="9875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248656"/>
            <a:ext cx="199339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Research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5202936"/>
            <a:ext cx="824788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Arial"/>
              </a:rPr>
              <a:t>At the same bandwidth and channel conditions, can the learned joint system preserve classification accuracy better than the tuned classical system, and is any difference specifically consistent with joint coding?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Objectives, Subject Knowledge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The third system separates task awareness from joint coding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prior research establishes—and leaves open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35024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Short-packet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1316736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Finite packets pay coding overhead and can fail abruptly.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9168" y="1316736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Measure the practical baseline instead of assuming ideal capacity. [1–4]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2066543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359152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Learned image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340864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Neural transforms can improve rate–distortion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340864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Good reconstruction quality is not the same as good task accuracy. [11–17]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3090672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383280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DeepJSCC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364992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Learned continuous mappings can degrade gradually under noise.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3364992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Most image studies emphasize reconstruction rather than classification. [5–10,24]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4114800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407408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Task-oriented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4389120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Learned features can preserve inference under link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4389120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Task awareness and joint coding are often not isolated from each other. [18–23]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5138928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5650992"/>
            <a:ext cx="23591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Gap addressed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5596128"/>
            <a:ext cx="8028431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A fair three-way comparison for image classification at equal channel use, with failures retained and one sealed test campaign.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Problem Survey, Subject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30-source synthesis: docs/literature-review.md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How one image becomes one fair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53312"/>
            <a:ext cx="2468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Held equal for all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2784" y="1353312"/>
            <a:ext cx="2651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Why the control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5047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111111"/>
                </a:solidFill>
                <a:latin typeface="Arial"/>
              </a:rPr>
              <a:t>Same image and dataset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792224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Prevents easier samples from being assigned to one system.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" y="2267712"/>
            <a:ext cx="10442448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450591"/>
            <a:ext cx="5047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111111"/>
                </a:solidFill>
                <a:latin typeface="Arial"/>
              </a:rPr>
              <a:t>Same complex-symbol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432303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Makes bandwidth use directly comparable.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907791"/>
            <a:ext cx="10442448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090672"/>
            <a:ext cx="5047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111111"/>
                </a:solidFill>
                <a:latin typeface="Arial"/>
              </a:rPr>
              <a:t>Same SNR definition and keyed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072384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Pairs outcomes under the same channel condition.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3547872"/>
            <a:ext cx="10442448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730752"/>
            <a:ext cx="5047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111111"/>
                </a:solidFill>
                <a:latin typeface="Arial"/>
              </a:rPr>
              <a:t>Validation-only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3712464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Keeps all choices away from the sealed test split.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4187952"/>
            <a:ext cx="10442448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370831"/>
            <a:ext cx="5047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111111"/>
                </a:solidFill>
                <a:latin typeface="Arial"/>
              </a:rPr>
              <a:t>Every failure stays in the denominator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352544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Prevents failed transmissions from disappearing from accuracy.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" y="4828031"/>
            <a:ext cx="10442448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5010912"/>
            <a:ext cx="50474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111111"/>
                </a:solidFill>
                <a:latin typeface="Arial"/>
              </a:rPr>
              <a:t>Full byte and physical-layer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992624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Prevents hidden overhead or missing BLER evidence from helping a system.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5468112"/>
            <a:ext cx="10442448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13232" y="5742432"/>
            <a:ext cx="10442448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833872"/>
            <a:ext cx="101132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The test split remains sealed until gate G-12. No test result exists at First Review.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Subject Knowledge, Objectives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SPEC BR-4, BR-10/11 and ER-3/9/10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the project will complete and 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35024"/>
            <a:ext cx="48280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Completion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810512"/>
            <a:ext cx="34747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55"/>
                </a:solidFill>
                <a:latin typeface="Arial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792224"/>
            <a:ext cx="448056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555555"/>
                </a:solidFill>
                <a:latin typeface="Arial"/>
              </a:rPr>
              <a:t>Build all three transmission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50591"/>
            <a:ext cx="34747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55"/>
                </a:solidFill>
                <a:latin typeface="Arial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432303"/>
            <a:ext cx="448056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555555"/>
                </a:solidFill>
                <a:latin typeface="Arial"/>
              </a:rPr>
              <a:t>Match their communication resources and channel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090672"/>
            <a:ext cx="34747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55"/>
                </a:solidFill>
                <a:latin typeface="Arial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072384"/>
            <a:ext cx="448056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555555"/>
                </a:solidFill>
                <a:latin typeface="Arial"/>
              </a:rPr>
              <a:t>Freeze every choice before test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730752"/>
            <a:ext cx="34747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55"/>
                </a:solidFill>
                <a:latin typeface="Arial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712464"/>
            <a:ext cx="448056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555555"/>
                </a:solidFill>
                <a:latin typeface="Arial"/>
              </a:rPr>
              <a:t>Run one paired test campaign and report the result either way.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61888" y="1316736"/>
            <a:ext cx="0" cy="4352543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54496" y="1335024"/>
            <a:ext cx="48280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Preregistered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810512"/>
            <a:ext cx="5120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H1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792224"/>
            <a:ext cx="426110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At low SNR, does the learned system outperform the adaptive classical system?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596896"/>
            <a:ext cx="5120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578608"/>
            <a:ext cx="426110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Does a fixed classical configuration show a cliff while the learned system degrades more gradually?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3383280"/>
            <a:ext cx="5120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H3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364992"/>
            <a:ext cx="426110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Does the learned–classical gap contract as SNR improves?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4169664"/>
            <a:ext cx="5120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H4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151376"/>
            <a:ext cx="426110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Does the learned joint system also exceed the digital feature control?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376672"/>
            <a:ext cx="10442448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9552"/>
            <a:ext cx="100401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Completion means executing the protocol correctly. A positive learned-system result is not required.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Objectives, Hypothesis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Formal H1 decision rule appears on slide 12 · exact protocol: SPEC §2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has been demonstrated so far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35024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44752"/>
            <a:ext cx="85953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Gate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47088" y="1444752"/>
            <a:ext cx="309067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Observed evidence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47488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57216" y="1444752"/>
            <a:ext cx="2907791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Plain-language meaning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74736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84463" y="1444752"/>
            <a:ext cx="296265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0195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1168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47088" y="201168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89.8% validation accuracy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47488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57216" y="201168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reference image-classification task is viable.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74736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84463" y="201168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Validation only; test is sealed.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3347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4320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37360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47088" y="274320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1.64 M parameters; measured GPU profile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7488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57216" y="274320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planned learned model fits the available GPU.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74736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84463" y="274320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A feasibility profile, not training.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6499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7472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37360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47088" y="347472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Golden vectors and BLER conformance pass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47488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57216" y="347472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digital physical-layer implementation behaves as expected.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74736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84463" y="347472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Small conformance evidence, not the full table.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9651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20624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W4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37360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47088" y="420624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Bounded conventional pipeline runs end to end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47488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57216" y="420624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Compression, coding, channel, decoding and records are integrated.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74736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84463" y="420624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Integration evidence, not a comparison result.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82803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93776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G8_C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37360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847088" y="493776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C2 characterization paused at a durable checkpoint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47488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57216" y="493776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Full-strength BLER measurement can resume safely.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74736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84463" y="493776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Table, selection and training are unfinished.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833872"/>
            <a:ext cx="10469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No worker is running. No selection, training, validation decoding or test access has occurred.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Subject Knowledge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Engineering and gate evidence only · no learned-versus-classical result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remains after First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16736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26464"/>
            <a:ext cx="162763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Stage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05456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15184" y="1426464"/>
            <a:ext cx="17922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17136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26864" y="1426464"/>
            <a:ext cx="418795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24544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34272" y="1426464"/>
            <a:ext cx="22128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88366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99339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G8_C → G-8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05456" y="188366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15184" y="199339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Paused → planned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17136" y="188366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26864" y="199339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Finish BLER characterization; freeze the table; select classical operating points.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24544" y="188366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34272" y="199339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Frozen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1518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2491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W5–W8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05456" y="261518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15184" y="272491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17136" y="261518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26864" y="272491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Train DJSCC and calibrate the task/reconstruction objective.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24544" y="261518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34272" y="272491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Frozen learned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4670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5643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05456" y="334670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15184" y="345643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17136" y="334670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26864" y="345643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Build and verify the task-aware digital feature control.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24544" y="334670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34272" y="345643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Attribution 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7822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18795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W10–W12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05456" y="407822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615184" y="418795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17136" y="407822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26864" y="418795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Validation rehearsal; freeze all choices; run one sealed test campaign.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924544" y="407822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034272" y="418795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Hypothesis decisions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80974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91947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W13–W17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05456" y="480974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15184" y="491947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17136" y="480974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626864" y="491947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Prepare demo, report, poster and final review package.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924544" y="480974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034272" y="491947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Final submission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669280"/>
            <a:ext cx="10469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11111"/>
                </a:solidFill>
                <a:latin typeface="Arial"/>
              </a:rPr>
              <a:t>First Review: 18–22 Aug · Second Review: 29 Sep–3 Oct · Final Review: 17–21 Nov · Report due: 20 Nov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6016752"/>
            <a:ext cx="10469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555555"/>
                </a:solidFill>
                <a:latin typeface="Arial"/>
              </a:rPr>
              <a:t>W16 is report contingency, not room for new experimental scope.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Time Plan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docs/gantt-plan.md · unfinished stages remain marked unfinished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this First Review should confirm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35024"/>
            <a:ext cx="2487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111111"/>
                </a:solidFill>
                <a:latin typeface="Arial"/>
              </a:rPr>
              <a:t>Research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6976" y="1316736"/>
            <a:ext cx="7882127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Compare the three systems on image classification over normalized AWGN at matched complex-symbol budgets, using one sealed test campaign.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048256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359152"/>
            <a:ext cx="2487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111111"/>
                </a:solidFill>
                <a:latin typeface="Arial"/>
              </a:rPr>
              <a:t>Technical claim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2340864"/>
            <a:ext cx="7882127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The conventional path uses OpenJPEG 2.5.4 and TS 38.212-derived LDPC/rate matching. The project does not claim a complete 5G NR radio link.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072384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383280"/>
            <a:ext cx="2487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111111"/>
                </a:solidFill>
                <a:latin typeface="Arial"/>
              </a:rPr>
              <a:t>Deployment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3364992"/>
            <a:ext cx="7882127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Simulation-first Tier 1 is the required path. Conducted SDR replay and edge-device deployment remain optional stretch work after G-5.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4096512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4407408"/>
            <a:ext cx="2487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111111"/>
                </a:solidFill>
                <a:latin typeface="Arial"/>
              </a:rPr>
              <a:t>Decision requested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4389120"/>
            <a:ext cx="7882127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Confirm the task definition, the three-system comparison, the fairness controls and simulation-first Tier 1 as a sufficient capstone scope.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5120640"/>
            <a:ext cx="104241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13232" y="5449824"/>
            <a:ext cx="10424160" cy="5852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614416"/>
            <a:ext cx="99852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11111"/>
                </a:solidFill>
                <a:latin typeface="Arial"/>
              </a:rPr>
              <a:t>Outstanding human item: record the guide's dated acknowledgement of the no-required-hardware path.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Objectives, Subject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PR-3 standards register · PR-9 deployment dossier · acknowledgement 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Formal H1 rule and First Review coverage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1447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H1 — low-SNR separation (confirmatory primary)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6181344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Comparator: learned versus classical_adaptive at the headline ratio. A grid point qualifies when the studentized paired mean √N·Δ̂(s)/σ̂(s) exceeds 1.96. Let R_obs be the longest run of consecutive qualifying points at or below the training SNR. H1 is supported only if R_obs ≥ 3 and the calibrated run p-value ≤ 0.05.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72384"/>
            <a:ext cx="618134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The run rule decides H1. The mean paired accuracy difference over the full low-SNR region is the effect size of record. A curve crossing is reported if observed but is not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1376"/>
            <a:ext cx="6181344" cy="9875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352544"/>
            <a:ext cx="574243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11111"/>
                </a:solidFill>
                <a:latin typeface="Arial"/>
              </a:rPr>
              <a:t>Outcome rule: support, no support, or an adverse result are all valid project findings. The protocol does not change after test access.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87184" y="1298448"/>
            <a:ext cx="0" cy="4498848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79792" y="1298448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Six-criterion rubric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1773936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8048" y="1773936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2–4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79792" y="2121408"/>
            <a:ext cx="3602736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79792" y="2322576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8" y="2322576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1–2, 5, 8, 11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79792" y="2670048"/>
            <a:ext cx="3602736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79792" y="2871215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2871215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8, 12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79792" y="3218687"/>
            <a:ext cx="3602736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79792" y="3419856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Problem Survey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3419856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79792" y="3767328"/>
            <a:ext cx="3602736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79792" y="3968496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Subject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968496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3–7, 9, 11–12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79792" y="4315968"/>
            <a:ext cx="3602736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79792" y="4517136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Time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4517136"/>
            <a:ext cx="1554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79792" y="4864607"/>
            <a:ext cx="3602736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79792" y="5321808"/>
            <a:ext cx="360273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Backing evidence: 30-source literature review, corrected Gantt, standards register, deployment dossier and authenticated gate records.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Hypothesis, Problem Survey, Subject Knowledge, Time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Exact protocol: SPEC §2 · full survey: docs/literature-review.md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