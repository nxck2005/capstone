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914400"/>
            <a:ext cx="107899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Task-Oriented Deep Joint Source–Channel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2212848"/>
            <a:ext cx="10378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555"/>
                </a:solidFill>
                <a:latin typeface="Arial"/>
              </a:rPr>
              <a:t>Semantic communication for bandwidth-constrained image classification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94944" y="2907792"/>
            <a:ext cx="10771632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4944" y="3310128"/>
            <a:ext cx="10332720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55555"/>
                </a:solidFill>
                <a:latin typeface="Arial"/>
              </a:rPr>
              <a:t>The project studies whether an edge device can send the information needed for a classification task without having to transmit and reconstruct every image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407408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Capstone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4846320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Review window: 18–22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5248656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Presentation slot: 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230368"/>
            <a:ext cx="3749039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Team and guide details to be added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First Review · 18–22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The project in one minute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94944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An edge camera sees an image.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11296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Send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The link has limited bandwidth and added noise.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7648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 receiver predicts the image class.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We measure task accuracy at the same channel budget.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" y="4041648"/>
            <a:ext cx="10716768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279392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Semantic 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4242816"/>
            <a:ext cx="7296912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Send the information required to complete the task. Reconstructing every original pixel is optional when the task does not need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614416"/>
            <a:ext cx="105613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The final result is classification accuracy after transmission, not image quality by itself.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Tier 1 is a simulation-first image-classification experiment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How a conventional image link solves the task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481328"/>
            <a:ext cx="14173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28216"/>
            <a:ext cx="11978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94560"/>
            <a:ext cx="119786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camera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481328"/>
            <a:ext cx="16459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6896" y="1728216"/>
            <a:ext cx="14264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Compress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896" y="2194560"/>
            <a:ext cx="142646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JPEG 2000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2856" y="1481328"/>
            <a:ext cx="186537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1728216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Protect 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194560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LDPC + modulation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481328"/>
            <a:ext cx="159105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1728216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Add 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219456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simulated channel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87968" y="1481328"/>
            <a:ext cx="265176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728216"/>
            <a:ext cx="24323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Recover and 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2194560"/>
            <a:ext cx="24323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image → class label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39696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331720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215384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407408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510528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702552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531352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8723376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182112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Compression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912" y="3163824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reduces the number of source bits.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12463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Error correction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4912" y="3694176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adds controlled redundancy so damaged bits can be recovered.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242816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Modulation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4912" y="4224528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maps protected bits to symbols sent through the channel.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773168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4912" y="4754880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uses the recovered image to choose a class label.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3232" y="5468112"/>
            <a:ext cx="10479024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1520" y="5669280"/>
            <a:ext cx="10442448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Limitation: each stage is designed mainly to recover images and bits, while the final metric is whether the class decision is correct.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Subject Knowledge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Headline baseline: JPEG 2000 + TS 38.212-derived LDPC over AWGN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the learned joint system changes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86384" y="1481328"/>
            <a:ext cx="1572768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728216"/>
            <a:ext cx="13898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76272"/>
            <a:ext cx="1389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sender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481328"/>
            <a:ext cx="195681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728216"/>
            <a:ext cx="177393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Neural 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76272"/>
            <a:ext cx="1773936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learned representation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66944" y="1481328"/>
            <a:ext cx="170078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8383" y="1728216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Noisy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8383" y="2176272"/>
            <a:ext cx="151790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used during training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43216" y="1481328"/>
            <a:ext cx="21031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6" y="1728216"/>
            <a:ext cx="19202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Neural decoder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6" y="2176272"/>
            <a:ext cx="192023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recover task information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21824" y="1481328"/>
            <a:ext cx="133502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13264" y="1728216"/>
            <a:ext cx="115214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13264" y="2176272"/>
            <a:ext cx="11521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receiver output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50592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642616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882896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5074920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059168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7251192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637776" y="2084831"/>
            <a:ext cx="256031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9829799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182112"/>
            <a:ext cx="2816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Arial"/>
              </a:rPr>
              <a:t>The central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3136392"/>
            <a:ext cx="751636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The sender and receiver are trained together through the channel. The transmitted representation can therefore preserve information useful for classification after noise.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3986784"/>
            <a:ext cx="1044244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9808" y="4242816"/>
            <a:ext cx="2816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Arial"/>
              </a:rPr>
              <a:t>Why not send the label?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4187952"/>
            <a:ext cx="7516368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55555"/>
                </a:solidFill>
                <a:latin typeface="Arial"/>
              </a:rPr>
              <a:t>The project fixes the deployment split: the sender has an encoder, while the receiver owns the decoder and classifier. Sending a label would move the full task model to the sender and test a different system.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340096"/>
            <a:ext cx="10442448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522976"/>
            <a:ext cx="100401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The method is supervised end-to-end learning. It is not reinforcement learning and it does not use an LLM.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Objectives, Subject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DJSCC = deep joint source–channel coding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prior research establishes—and leaves open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35024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Short-packet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1316736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Finite packets pay coding overhead and can fail abruptly.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59168" y="1316736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Measure the practical baseline instead of assuming ideal capacity. [1–4]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3232" y="2066543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2359152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Learned image compression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2340864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Neural transforms can improve rate–distortion performance.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2340864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Good reconstruction quality is not the same as good task accuracy. [11–17]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3090672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383280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DeepJSCC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3364992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Learned continuous mappings can degrade gradually under noise.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3364992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Most image studies emphasize reconstruction rather than classification. [5–10,24]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4114800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4407408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Task-oriented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4389120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Learned features can preserve inference under link limits.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4389120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Task awareness and joint coding are often not isolated from each other. [18–23]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5138928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5650992"/>
            <a:ext cx="23591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Gap addressed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5596128"/>
            <a:ext cx="8028431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555555"/>
                </a:solidFill>
                <a:latin typeface="Arial"/>
              </a:rPr>
              <a:t>A fair three-way comparison for image classification at equal channel use, with failures retained and one sealed test campaign.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Problem Survey, Subject 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30-source synthesis: docs/literature-review.md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Problem statement and project objectives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16736"/>
            <a:ext cx="2249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80944" y="1280160"/>
            <a:ext cx="8119872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555555"/>
                </a:solidFill>
                <a:latin typeface="Arial"/>
              </a:rPr>
              <a:t>Conventional image links protect reconstructed images and bits, while the receiver ultimately needs a correct class decision. A learned joint system may use the limited channel more effectively for that task, but the comparison must isolate task awareness from joint coding.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2139696"/>
            <a:ext cx="1044244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2395728"/>
            <a:ext cx="2249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0944" y="2350008"/>
            <a:ext cx="8119872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111111"/>
                </a:solidFill>
                <a:latin typeface="Arial"/>
              </a:rPr>
              <a:t>At the same bandwidth and channel conditions, can the learned joint system preserve classification accuracy better than a tuned conventional system, and is any remaining difference consistent with joint coding?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" y="3218688"/>
            <a:ext cx="1044244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3474720"/>
            <a:ext cx="2249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3456432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438144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Build the conventional image, digital feature and learned joint systems.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4041648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4023360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Match channel use, SNR, image identity and noise across all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4626864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4608576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Freeze every model and operating choice before opening the test split.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5212079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5193792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Run one paired test campaign and report positive, null or adverse findings.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5797296"/>
            <a:ext cx="10442448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879592"/>
            <a:ext cx="1007668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111"/>
                </a:solidFill>
                <a:latin typeface="Arial"/>
              </a:rPr>
              <a:t>Completion depends on executing the fixed protocol correctly, not on obtaining a favorable result.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Objectives are stated as completion work, not promised 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Proposed methodology and comparison design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13232" y="1298448"/>
            <a:ext cx="10442448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40112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Shared input for every arm: same image · same dataset split · same complex-symbol budget · same SNR · same keyed noise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48256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157984"/>
            <a:ext cx="193852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System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16352" y="204825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26080" y="2157984"/>
            <a:ext cx="531266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Transmission path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48471" y="204825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58199" y="2157984"/>
            <a:ext cx="27889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Scientific 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15184"/>
            <a:ext cx="1069848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724912"/>
            <a:ext cx="1938528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55555"/>
                </a:solidFill>
                <a:latin typeface="Arial"/>
              </a:rPr>
              <a:t>Classical image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16352" y="2615184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26080" y="2724912"/>
            <a:ext cx="5312664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JPEG 2000 → framing → LDPC → modulation → AWGN → image → classifier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48471" y="2615184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58199" y="2724912"/>
            <a:ext cx="278892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Strong conventional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474720"/>
            <a:ext cx="1069848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84448"/>
            <a:ext cx="1938528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55555"/>
                </a:solidFill>
                <a:latin typeface="Arial"/>
              </a:rPr>
              <a:t>Digital feature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16352" y="3474720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926080" y="3584448"/>
            <a:ext cx="5312664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Learned features → quantization → same digital physical layer → task head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48471" y="3474720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58199" y="3584448"/>
            <a:ext cx="278892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Separates task awareness from joint coding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334256"/>
            <a:ext cx="1069848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443984"/>
            <a:ext cx="1938528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55555"/>
                </a:solidFill>
                <a:latin typeface="Arial"/>
              </a:rPr>
              <a:t>Learned joint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16352" y="4334256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26080" y="4443984"/>
            <a:ext cx="5312664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Neural encoder → power normalization → AWGN → neural decoder and class head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48471" y="4334256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58199" y="4443984"/>
            <a:ext cx="278892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Tests end-to-end joint coding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58384"/>
            <a:ext cx="19933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Evaluation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4912" y="5303520"/>
            <a:ext cx="8394192" cy="6035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Tune on validation only; freeze before test access; retain failed transmissions in accuracy; count all bytes and physical-layer identities; compare paired per-image outcomes.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5925312"/>
            <a:ext cx="10442448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971032"/>
            <a:ext cx="10076688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11111"/>
                </a:solidFill>
                <a:latin typeface="Arial"/>
              </a:rPr>
              <a:t>The test split remains sealed until gate G-12. No test result exists at First Review.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Objectives, Subject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Three systems · one shared task, resource budget and channel definition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Hypotheses and evaluation plan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298448"/>
            <a:ext cx="6309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H1 — low-SNR separation (confirmatory primary)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19072"/>
            <a:ext cx="6327648" cy="14264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Comparator: learned versus classical_adaptive at the headline ratio. A grid point qualifies when the studentized paired mean √N·Δ̂(s)/σ̂(s) exceeds 1.96. Let R_obs be the longest run of consecutive qualifying points at or below the training SNR. H1 is supported only if R_obs ≥ 3 and the calibrated run p-value ≤ 0.05.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91840"/>
            <a:ext cx="6327648" cy="7863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The whole low-SNR-region mean paired difference is the effect size of record. A curve crossing is reported if observed but is not required.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278624" y="1298448"/>
            <a:ext cx="0" cy="4279392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34656" y="1335024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316736"/>
            <a:ext cx="2962656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Does a fixed conventional configuration show a cliff while the learned system degrades more gradually?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34656" y="2231136"/>
            <a:ext cx="3566160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34656" y="2523744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H3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05456"/>
            <a:ext cx="2962656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Does the learned–classical accuracy gap contract as SNR improves?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34656" y="3419856"/>
            <a:ext cx="3566160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34656" y="3712464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H4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694176"/>
            <a:ext cx="2962656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Does the learned joint system also exceed the task-aware digital feature control?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34656" y="4608576"/>
            <a:ext cx="3566160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13232" y="5193792"/>
            <a:ext cx="10442448" cy="7680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5413248"/>
            <a:ext cx="9966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Outcome rule: support, no support or an adverse result are all valid findings. The protocol does not change after test access.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Hypothesis, Subject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Exact preregistered protocol: SPEC §2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has been demonstrated so far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335024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44752"/>
            <a:ext cx="859536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Gate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47088" y="1444752"/>
            <a:ext cx="3090672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Observed evidence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47488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57216" y="1444752"/>
            <a:ext cx="2907791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Plain-language meaning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74736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84463" y="1444752"/>
            <a:ext cx="2962656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Boundary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90195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01168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847088" y="201168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89.8% validation accuracy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47488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57216" y="201168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reference image-classification task is viable.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74736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84463" y="201168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Validation only; test is sealed.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63347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74320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37360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47088" y="274320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1.64 M parameters; measured GPU profile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47488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57216" y="274320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planned learned model fits the available GPU.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74736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84463" y="274320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A feasibility profile, not training.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36499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47472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37360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47088" y="347472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Golden vectors and BLER conformance pass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47488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157216" y="347472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digital physical-layer implementation behaves as expected.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174736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84463" y="347472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Small conformance evidence, not the full table.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09651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20624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W4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37360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47088" y="420624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Bounded conventional pipeline runs end to end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47488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157216" y="420624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Compression, coding, channel, decoding and records are integrated.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74736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284463" y="420624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Integration evidence, not a comparison result.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82803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493776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G8_C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737360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847088" y="493776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C2 characterization paused at a durable checkpoint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47488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57216" y="493776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Full-strength BLER measurement can resume safely.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174736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284463" y="493776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Table, selection and training are unfinished.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5833872"/>
            <a:ext cx="10469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No worker is running. No selection, training, validation decoding or test access has occurred.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Subject Knowledge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Engineering and gate evidence only · no learned-versus-classical result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remains after First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316736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26464"/>
            <a:ext cx="1627632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Stage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05456" y="131673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15184" y="1426464"/>
            <a:ext cx="179222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State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17136" y="131673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26864" y="1426464"/>
            <a:ext cx="4187952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Work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24544" y="131673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34272" y="1426464"/>
            <a:ext cx="22128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883664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993392"/>
            <a:ext cx="162763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55555"/>
                </a:solidFill>
                <a:latin typeface="Arial"/>
              </a:rPr>
              <a:t>G8_C → G-8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05456" y="188366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15184" y="1993392"/>
            <a:ext cx="1792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Paused → planned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17136" y="188366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26864" y="1993392"/>
            <a:ext cx="418795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Finish BLER characterization; freeze the table; select classical operating points.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24544" y="188366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34272" y="1993392"/>
            <a:ext cx="221284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Frozen 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615184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724912"/>
            <a:ext cx="162763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55555"/>
                </a:solidFill>
                <a:latin typeface="Arial"/>
              </a:rPr>
              <a:t>W5–W8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05456" y="261518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615184" y="2724912"/>
            <a:ext cx="1792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Planned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17136" y="261518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26864" y="2724912"/>
            <a:ext cx="418795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Train DJSCC and calibrate the task/reconstruction objective.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24544" y="261518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34272" y="2724912"/>
            <a:ext cx="221284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Frozen learned model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346704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456432"/>
            <a:ext cx="162763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55555"/>
                </a:solidFill>
                <a:latin typeface="Arial"/>
              </a:rPr>
              <a:t>W9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05456" y="334670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615184" y="3456432"/>
            <a:ext cx="1792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Planned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17136" y="334670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26864" y="3456432"/>
            <a:ext cx="418795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Build and verify the task-aware digital feature control.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924544" y="334670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034272" y="3456432"/>
            <a:ext cx="221284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Attribution control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078224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187952"/>
            <a:ext cx="162763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55555"/>
                </a:solidFill>
                <a:latin typeface="Arial"/>
              </a:rPr>
              <a:t>W10–W12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505456" y="407822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615184" y="4187952"/>
            <a:ext cx="1792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Planned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17136" y="407822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626864" y="4187952"/>
            <a:ext cx="418795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Validation rehearsal; freeze all choices; run one sealed test campaign.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924544" y="407822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034272" y="4187952"/>
            <a:ext cx="221284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Hypothesis decisions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809744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4919472"/>
            <a:ext cx="162763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55555"/>
                </a:solidFill>
                <a:latin typeface="Arial"/>
              </a:rPr>
              <a:t>W13–W17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505456" y="480974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615184" y="4919472"/>
            <a:ext cx="1792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Planned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517136" y="480974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626864" y="4919472"/>
            <a:ext cx="418795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Prepare demo, report, poster and final review package.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924544" y="480974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034272" y="4919472"/>
            <a:ext cx="221284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Final submission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5669280"/>
            <a:ext cx="104698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11111"/>
                </a:solidFill>
                <a:latin typeface="Arial"/>
              </a:rPr>
              <a:t>First Review: 18–22 Aug · Second Review: 29 Sep–3 Oct · Final Review: 17–21 Nov · Report due: 20 Nov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6016752"/>
            <a:ext cx="104698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555555"/>
                </a:solidFill>
                <a:latin typeface="Arial"/>
              </a:rPr>
              <a:t>W16 is report contingency, not room for new experimental scope.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Time Plan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docs/gantt-plan.md · unfinished stages remain marked unfinished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Application, scope and project risks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13232" y="1389888"/>
            <a:ext cx="3054096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26883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11111"/>
                </a:solidFill>
                <a:latin typeface="Arial"/>
              </a:rPr>
              <a:t>Real-world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67712"/>
            <a:ext cx="2688336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Remote cameras and edge sensors may need to support classification when bandwidth, latency or link reliability is limited. The receiver-owned task model represents split edge/cloud inference.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41648" y="1389888"/>
            <a:ext cx="3054096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4528" y="1627632"/>
            <a:ext cx="26883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11111"/>
                </a:solidFill>
                <a:latin typeface="Arial"/>
              </a:rPr>
              <a:t>Required project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2267712"/>
            <a:ext cx="2688336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Tier 1 is a simulation-based comparison of all three systems over normalized AWGN, with matched resources and one sealed test campaign. This is sufficient without radio hardware.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70064" y="1389888"/>
            <a:ext cx="3054096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2944" y="1627632"/>
            <a:ext cx="26883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11111"/>
                </a:solidFill>
                <a:latin typeface="Arial"/>
              </a:rPr>
              <a:t>Main risks and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2944" y="2267712"/>
            <a:ext cx="2688336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BLER work is incomplete: resume from the authenticated checkpoint.</a:t>
            </a:r>
            <a:br/>
            <a:br/>
            <a:r>
              <a:rPr sz="1250" b="0" i="0">
                <a:solidFill>
                  <a:srgbClr val="555555"/>
                </a:solidFill>
                <a:latin typeface="Arial"/>
              </a:rPr>
              <a:t>A hypothesis may not be supported: report the result without retuning.</a:t>
            </a:r>
            <a:br/>
            <a:br/>
            <a:r>
              <a:rPr sz="1250" b="0" i="0">
                <a:solidFill>
                  <a:srgbClr val="555555"/>
                </a:solidFill>
                <a:latin typeface="Arial"/>
              </a:rPr>
              <a:t>Hardware adds confounders: keep it as gated stretch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47488"/>
            <a:ext cx="23225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Technical claim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5001768"/>
            <a:ext cx="801014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OpenJPEG 2.5.4 and TS 38.212-derived LDPC/rate matching over abstract AWGN. The project does not claim a complete 5G NR radio link.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705856"/>
            <a:ext cx="1042416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815584"/>
            <a:ext cx="9985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11111"/>
                </a:solidFill>
                <a:latin typeface="Arial"/>
              </a:rPr>
              <a:t>Outstanding human item: the guide's dated acknowledgement of the no-required-hardware path remains pending.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Subject Knowledge,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Circular clause 5 · PR-3 standards register · PR-9 deployment dossier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Summary and next steps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298448"/>
            <a:ext cx="61630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1737360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Remote classification must operate over a limited noisy link.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304288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2505456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2487168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Train a task-aware joint encoder and decoder, then compare it with two matched digital systems.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054096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255263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65376" y="3236975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The reference task, model feasibility, digital physical layer and conventional pipeline have passed their current gates.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803903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005072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Next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5376" y="3986784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Finish characterization and selection, train the learned systems, freeze choices, then run the test campaign once.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4553712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14032" y="1298448"/>
            <a:ext cx="0" cy="4169664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88352" y="1298448"/>
            <a:ext cx="3675887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Six-criterion rubric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1773936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77393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2–4, 6, 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88352" y="2103120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88352" y="2304288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230428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6–7, 11–12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88352" y="2633472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88352" y="2834639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Hypothesis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2834639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88352" y="3163823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88352" y="3364991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Problem Survey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3364991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88352" y="3694176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88352" y="3895344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Subject Knowledge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3184" y="3895344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3–5, 7–9, 11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88352" y="4224528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88352" y="4425696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Time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3184" y="442569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88352" y="4754880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13232" y="5047488"/>
            <a:ext cx="10332720" cy="9326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230368"/>
            <a:ext cx="184708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First Review position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79776" y="5184648"/>
            <a:ext cx="801014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11111"/>
                </a:solidFill>
                <a:latin typeface="Arial"/>
              </a:rPr>
              <a:t>The research question, three-system methodology, feasibility evidence and completion plan are defined. The final learned-versus-classical result remains future work.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Objectives, Hypothesis, Problem Survey, Subject Knowledge, Time Plan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Full package: deliverables/review-1/first-review-package.md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Task-Oriented Deep Joint Source–Channel Coding — First Review</dc:title>
  <dc:subject>Capstone First Review, 18–22 August 2026</dc:subject>
  <dc:creator>Capstone project team</dc:creator>
  <cp:keywords/>
  <dc:description>Generated from authenticated repository evidence; editable native shapes and text.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