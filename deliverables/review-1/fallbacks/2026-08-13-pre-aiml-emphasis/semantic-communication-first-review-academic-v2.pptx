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Semantic Communication for Edge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108447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1">
                <a:solidFill>
                  <a:srgbClr val="203A57"/>
                </a:solidFill>
                <a:latin typeface="Georgia"/>
              </a:rPr>
              <a:t>Can a machine communicate what matters for a task—without sending every pixel perfectly?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212848"/>
            <a:ext cx="2834640" cy="124358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3A57"/>
                </a:solidFill>
                <a:latin typeface="Arial"/>
              </a:rPr>
              <a:t>EDGE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observes an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584" y="2212848"/>
            <a:ext cx="2834640" cy="1243584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3346"/>
                </a:solidFill>
                <a:latin typeface="Arial"/>
              </a:rPr>
              <a:t>LIMITED + NOISY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cannot carry everything reliably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12848"/>
            <a:ext cx="2834640" cy="1243584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96B5A"/>
                </a:solidFill>
                <a:latin typeface="Arial"/>
              </a:rPr>
              <a:t>RECEIVER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only needs the correct class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0208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471416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598664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119872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986784"/>
            <a:ext cx="10268712" cy="1243584"/>
          </a:xfrm>
          <a:prstGeom prst="roundRect">
            <a:avLst/>
          </a:prstGeom>
          <a:solidFill>
            <a:srgbClr val="FFFEFA"/>
          </a:solidFill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5296" y="4215384"/>
            <a:ext cx="804672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51960"/>
            <a:ext cx="65836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99432"/>
            <a:ext cx="97475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212B"/>
                </a:solidFill>
                <a:latin typeface="Georgia"/>
              </a:rPr>
              <a:t>Train the sender and receiver together so the information needed for classification survives the link—then compare it fairly with a strong conventional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5669280"/>
            <a:ext cx="79278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5B6570"/>
                </a:solidFill>
                <a:latin typeface="Arial"/>
              </a:rPr>
              <a:t>A simulation-first capstone with an optional real-radio demonstration later.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Official scope: task-oriented DJSCC for image classification · First Review baseline 12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The AI is only as useful as the link feeding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335024"/>
            <a:ext cx="1068933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3A57"/>
                </a:solidFill>
                <a:latin typeface="Georgia"/>
              </a:rPr>
              <a:t>Imagine a remote camera sending images to a server that decides what it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6684264" cy="34472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67128"/>
            <a:ext cx="1143000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03704"/>
            <a:ext cx="996696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REAL-WORLD TENSION</a:t>
            </a:r>
          </a:p>
        </p:txBody>
      </p:sp>
      <p:sp>
        <p:nvSpPr>
          <p:cNvPr id="10" name="Oval 9"/>
          <p:cNvSpPr/>
          <p:nvPr/>
        </p:nvSpPr>
        <p:spPr>
          <a:xfrm>
            <a:off x="1014984" y="273405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79806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0662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sensor is constrained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8833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Bandwidth, latency and energy are limited at the edge.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" y="3557015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62102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2958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wireless link is imperfect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51129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Noise can corrupt a short message or make decoding fail.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" y="437997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443983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5254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receiver has a narrow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33425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For classification, the final question is often simply: what is in the image?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1938528"/>
            <a:ext cx="3694176" cy="34472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2167128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203704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DESIGN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788920"/>
            <a:ext cx="3054096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8212B"/>
                </a:solidFill>
                <a:latin typeface="Georgia"/>
              </a:rPr>
              <a:t>Why spend the entire link budget reconstructing every pixel if the receiver ultimately needs a task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315968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3346"/>
                </a:solidFill>
                <a:latin typeface="Arial"/>
              </a:rPr>
              <a:t>The project tests this question; it does not assume the learned method must win.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5678424"/>
            <a:ext cx="8988552" cy="420624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9656" y="5779008"/>
            <a:ext cx="854964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A46A28"/>
                </a:solidFill>
                <a:latin typeface="Georgia"/>
              </a:rPr>
              <a:t>Goal: preserve classification performance when communication resources are scarce and the link becomes noisy.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Original proposal: Semantic Communication + AI · edge/IoT application 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From bit-perfect delivery to task success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64008" cy="1243584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CONVENTIONAL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09344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Compress the image → protect the bits → reconstruct the file → classify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30552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recover source bits and pixels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90672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90672"/>
            <a:ext cx="64008" cy="1243584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300984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282696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Learn a representation → send it through noise → recover what the task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803904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retain information useful for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54880"/>
            <a:ext cx="6839712" cy="1124712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974336"/>
            <a:ext cx="129844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010912"/>
            <a:ext cx="11521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EXPECTED 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404104"/>
            <a:ext cx="629107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12B"/>
                </a:solidFill>
                <a:latin typeface="Georgia"/>
              </a:rPr>
              <a:t>As the link worsens, a separated chain may hit a decoding cliff; a learned joint system may degrade more gradually.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754880"/>
            <a:ext cx="3529584" cy="112471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983480"/>
            <a:ext cx="30540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IMPORTANT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340096"/>
            <a:ext cx="29809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8212B"/>
                </a:solidFill>
                <a:latin typeface="Arial"/>
              </a:rPr>
              <a:t>A digital system can also send learned features—so the experiment includes that third 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6108192"/>
            <a:ext cx="814730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8A3346"/>
                </a:solidFill>
                <a:latin typeface="Georgia"/>
              </a:rPr>
              <a:t>Research question: does the task-oriented joint design help after bandwidth, noise and comparison strength are matched fairly?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Conceptual behavior only—not measured project results · formal three-arm experiment begins on slide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prior research leads to this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66420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Finite blocklength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Cascadia Mono"/>
              </a:rPr>
              <a:t>[1–4]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Rate backs off from capacity; source and channel dispersions interact.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03A57"/>
                </a:solidFill>
                <a:latin typeface="Arial"/>
              </a:rPr>
              <a:t>OPEN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Need measured practical short-packet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89888"/>
            <a:ext cx="64008" cy="166420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Learned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2488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[11–17]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End-to-end transforms and entropy priors improve rate–distortion.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3346"/>
                </a:solidFill>
                <a:latin typeface="Arial"/>
              </a:rPr>
              <a:t>OPEN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Reconstruction optimization is not task optimization.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337560"/>
            <a:ext cx="64008" cy="166420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DeepJSCC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Cascadia Mono"/>
              </a:rPr>
              <a:t>[5–10,24]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Continuous learned mappings exhibit graceful degradation under mismatch.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96B5A"/>
                </a:solidFill>
                <a:latin typeface="Arial"/>
              </a:rPr>
              <a:t>OPEN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Most image studies foreground reconstruction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3337560"/>
            <a:ext cx="64008" cy="166420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Task-oriented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46A28"/>
                </a:solidFill>
                <a:latin typeface="Cascadia Mono"/>
              </a:rPr>
              <a:t>[18–23]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Learned representations can preserve remote inference under link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46A28"/>
                </a:solidFill>
                <a:latin typeface="Arial"/>
              </a:rPr>
              <a:t>OPEN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Task awareness must be separated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3856" y="5394960"/>
            <a:ext cx="9912096" cy="6035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559552"/>
            <a:ext cx="94731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3A57"/>
                </a:solidFill>
                <a:latin typeface="Georgia"/>
              </a:rPr>
              <a:t>Gap carried forward: three-way attribution at equal channel uses, with a strong adaptive classical comparator and paired failures retained.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30-source synthesis in docs/literature-review.md · references [1]–[23]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we will build—and what counts as success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4114800" cy="477316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72768"/>
            <a:ext cx="941832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9344"/>
            <a:ext cx="79552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Build a reproducible normalized-AWGN DJSCC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2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60904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Implement a standards-derived, non-strawman JPEG 2000 + NR LDPC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00984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82696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Tune classical quality, code rate and modulation on validation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04488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Add the task-aware digital feature control for attribution.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44568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26280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Evaluate paired image outcomes once on the sealed test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6636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Report positive, null or negative outcomes under one frozen protocol.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53312"/>
            <a:ext cx="6473952" cy="241401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0096" y="1591056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627632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H1 · 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2011680"/>
            <a:ext cx="5925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Low-SNR separation: learned − classical_adaptive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51176"/>
            <a:ext cx="5806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570"/>
                </a:solidFill>
                <a:latin typeface="Arial"/>
              </a:rPr>
              <a:t>A point qualifies when √N·Δ̂(s)/σ̂(s) &gt; 1.96. H1 is supported only if the longest run R_obs contains at least three consecutive qualifying points at or below the training SNR and the calibrated run p-value ≤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355848"/>
            <a:ext cx="57972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8A3346"/>
                </a:solidFill>
                <a:latin typeface="Arial"/>
              </a:rPr>
              <a:t>Effect size of record: mean paired accuracy difference over the full low-SNR region.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95928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414223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105656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Graceful vs cliff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087368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Fixed classical curve drops ≥30 pp while learned drops ≤15 pp over the frozen window.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654296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80060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764024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Convergence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745736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Paired gap trends toward zero across SNR; crossover is reported, not required.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312664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5458968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422392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5404104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Credit joint coding only if DJSCC also exceeds the task-aware digital control under the H1 rule.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HYPOTHESIS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Exact decision protocol: SPEC §2 and ER-10 · H1 is the sole confirmatory primary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The experiment in one picture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53312"/>
            <a:ext cx="1298448" cy="434340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IMAGENETTE-160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66543"/>
            <a:ext cx="95097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212B"/>
                </a:solidFill>
                <a:latin typeface="Arial"/>
              </a:rPr>
              <a:t>canonical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160 × 160 RGB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95097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570"/>
                </a:solidFill>
                <a:latin typeface="Cascadia Mono"/>
              </a:rPr>
              <a:t>stable sample ID</a:t>
            </a:r>
            <a:br/>
            <a:r>
              <a:rPr sz="919" b="0" i="0">
                <a:solidFill>
                  <a:srgbClr val="5B6570"/>
                </a:solidFill>
                <a:latin typeface="Cascadia Mono"/>
              </a:rPr>
              <a:t>+ split manifest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474720"/>
            <a:ext cx="384048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313432" y="3424427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Arial"/>
              </a:rPr>
              <a:t>CLASSICAL IMAGE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7744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JPEG 2000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packetise + CRC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NR LDPC + modulation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951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5559552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05856" y="1993392"/>
            <a:ext cx="1700784" cy="10058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232257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3A57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203A57"/>
                </a:solidFill>
                <a:latin typeface="Cambria Math"/>
              </a:rPr>
              <a:t>keyed noise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7979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799831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46136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1343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frozen classifier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2304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338328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Arial"/>
              </a:rPr>
              <a:t>DIGITAL TASK-FEATURE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365760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learned features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quantize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same LDPC + modulation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951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559552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05856" y="3273552"/>
            <a:ext cx="1700784" cy="100584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360273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8A3346"/>
                </a:solidFill>
                <a:latin typeface="Cambria Math"/>
              </a:rPr>
              <a:t>keyed noise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7979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799831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46136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59359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feature task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2304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66344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Arial"/>
              </a:rPr>
              <a:t>LEARNED JOINT LINK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493776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neural encoder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power normalize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3951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5559552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05856" y="4553712"/>
            <a:ext cx="1700784" cy="1005840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88736" y="488289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96B5A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496B5A"/>
                </a:solidFill>
                <a:latin typeface="Cambria Math"/>
              </a:rPr>
              <a:t>keyed noise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799831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46136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87375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dual-head decoder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reconstruction + class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32304" y="5715000"/>
            <a:ext cx="8257031" cy="34747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3472" y="5797296"/>
            <a:ext cx="7872983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A46A28"/>
                </a:solidFill>
                <a:latin typeface="Cascadia Mono"/>
              </a:rPr>
              <a:t>Per-image paired row: verdict + exact k + measured Eₛ + noise identity + task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833872"/>
            <a:ext cx="1298448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88736"/>
            <a:ext cx="117043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A3346"/>
                </a:solidFill>
                <a:latin typeface="Arial"/>
              </a:rPr>
              <a:t>TEST SEALED → G-12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SPEC SR-4, SR-17, BR-4, ER-9 · src/data/test_access.py is the sole release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we keep the comparison fair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Equal 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Same complex-symbol budget k and Eₛ/N₀ definition; realized symbol energy is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Strong comparator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JPEG 2000 quality, LDPC rate and BPSK/QPSK/16-QAM tune per SNR on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Exact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Container, CRC, code-block and filler bytes count; decode failures remain in the denominator.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Measured 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Every required physical identity is characterized; missing evidence is never treated as zero BLER.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Outage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Constant-class fallback is measured from validation counts—100/1,000—not assumed as 1/10.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Classifier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Clean and artifact-finetuned classifier passes separate codec shift from link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Attribution 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113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Quantized learned features traverse the same digital chain, isolating task awareness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One test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All choices freeze before G-12; paired inference retains complete image × system trajectories.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6053328"/>
            <a:ext cx="9354312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6108192"/>
            <a:ext cx="8970264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8A3346"/>
                </a:solidFill>
                <a:latin typeface="Arial"/>
              </a:rPr>
              <a:t>Fail-closed rule: uncharacterized, infeasible and failed cases are explicit outcomes—not silently dropped rows.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BR-4, BR-10/11, ER-3/4/9/10 · W4 integration adjudication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Engineering and gate evidence—not learned-vs-classical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07592"/>
            <a:ext cx="10863072" cy="36576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99032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8A3346"/>
                </a:solidFill>
                <a:latin typeface="Arial"/>
              </a:rPr>
              <a:t>NO HEADLINE COMPARISON EXISTS YET · bounded smoke is integration evidence, not scientific outcome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487168" cy="73152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3A57"/>
                </a:solidFill>
                <a:latin typeface="Arial"/>
              </a:rPr>
              <a:t>G-1 ·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89.8%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898/1,000 validation top-1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88% preregistered floor ·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920240"/>
            <a:ext cx="2487168" cy="73152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496B5A"/>
                </a:solidFill>
                <a:latin typeface="Arial"/>
              </a:rPr>
              <a:t>G-7 ·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1.64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DJSCC parameters · batch 32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48.68 s/epoch · 1.004 GiB VRAM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920240"/>
            <a:ext cx="2487168" cy="73152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G-2 · digital 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≤ 0.0037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observed waterfall displacement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all three modulations within 0.5 dB ·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1920240"/>
            <a:ext cx="2487168" cy="73152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A46A28"/>
                </a:solidFill>
                <a:latin typeface="Arial"/>
              </a:rPr>
              <a:t>W4 ·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JPEG 2000 → LDPC → AWGN → decode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records + verifier · bounded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63440"/>
            <a:ext cx="10863072" cy="11155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892040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928616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G8_C ·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846320"/>
            <a:ext cx="22494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A57"/>
                </a:solidFill>
                <a:latin typeface="Georgia"/>
              </a:rPr>
              <a:t>748 / 3,213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46320"/>
            <a:ext cx="391363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8212B"/>
                </a:solidFill>
                <a:latin typeface="Arial"/>
              </a:rPr>
              <a:t>authenticated full-strength BLER units</a:t>
            </a:r>
            <a:br/>
            <a:r>
              <a:rPr sz="1040" b="0" i="0">
                <a:solidFill>
                  <a:srgbClr val="18212B"/>
                </a:solidFill>
                <a:latin typeface="Arial"/>
              </a:rPr>
              <a:t>source epoch 2 registered · resumable campaign paused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4818888"/>
            <a:ext cx="25877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BLER table: not frozen</a:t>
            </a:r>
            <a:br/>
            <a:r>
              <a:rPr sz="980" b="1" i="0">
                <a:solidFill>
                  <a:srgbClr val="8A3346"/>
                </a:solidFill>
                <a:latin typeface="Arial"/>
              </a:rPr>
              <a:t>selection / inference / training / test: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16752"/>
            <a:ext cx="10012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1">
                <a:solidFill>
                  <a:srgbClr val="5B6570"/>
                </a:solidFill>
                <a:latin typeface="Georgia"/>
              </a:rPr>
              <a:t>Interpretation: the reference task, computational budget and digital chain are verified; the comparison itself remains ahead.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Authenticated records: G-1, G-2, G-7, W4 and G8_C · test split access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Project Gantt chart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362456"/>
            <a:ext cx="106984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399032"/>
            <a:ext cx="9235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WORKSTREAM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353312"/>
            <a:ext cx="175860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463040"/>
            <a:ext cx="175860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AUGUST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85856" y="1353312"/>
            <a:ext cx="2293837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5856" y="1463040"/>
            <a:ext cx="2293837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SEPTEMBER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85856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79694" y="1353312"/>
            <a:ext cx="237029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9694" y="1463040"/>
            <a:ext cx="237029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OCTOBER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9694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549993" y="1353312"/>
            <a:ext cx="1605686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9993" y="1463040"/>
            <a:ext cx="1605686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NOVEMBER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9993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55680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011679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BLER characterization + G-8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2404872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27248" y="2020824"/>
            <a:ext cx="1070457" cy="283464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2093976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PAUSED → 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96312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First Review package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2889504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80170" y="2505456"/>
            <a:ext cx="917535" cy="283464"/>
          </a:xfrm>
          <a:prstGeom prst="round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980944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DJSCC training + calibration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3374136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4166" y="2990088"/>
            <a:ext cx="2140915" cy="283464"/>
          </a:xfrm>
          <a:prstGeom prst="round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9886" y="3063240"/>
            <a:ext cx="204947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65575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Digital control + validation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3858768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15082" y="3474720"/>
            <a:ext cx="1070457" cy="283464"/>
          </a:xfrm>
          <a:prstGeom prst="round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802" y="3547872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50208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343400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85539" y="3959352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1259" y="4032504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34840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4828032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555997" y="4443984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1717" y="4517136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919472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" y="5312664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626454" y="4928616"/>
            <a:ext cx="1529225" cy="283464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2174" y="5001768"/>
            <a:ext cx="143778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815399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765107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026772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76480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73373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723081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1002757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952465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61683" y="4892040"/>
            <a:ext cx="535228" cy="356616"/>
          </a:xfrm>
          <a:prstGeom prst="rect">
            <a:avLst/>
          </a:prstGeom>
          <a:noFill/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1683" y="5276088"/>
            <a:ext cx="53522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8A3346"/>
                </a:solidFill>
                <a:latin typeface="Cascadia Mono"/>
              </a:rPr>
              <a:t>W16 contingency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9536" y="5669280"/>
            <a:ext cx="10469880" cy="402336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5779008"/>
            <a:ext cx="10104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8212B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9696" y="6144768"/>
            <a:ext cx="79095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B6570"/>
                </a:solidFill>
                <a:latin typeface="Georgia"/>
              </a:rPr>
              <a:t>W16 is report contingency—not room for new experiment scope.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30352" y="6519672"/>
            <a:ext cx="782726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59" y="6547104"/>
            <a:ext cx="65471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TIME PLAN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this First Review should confirm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54864" cy="3419856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02412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RESEARCH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Project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0"/>
                </a:solidFill>
                <a:latin typeface="Arial"/>
              </a:rPr>
              <a:t>One narrow task: classify an image after communication over a bandwidth-limited noisy link.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sender runs an encoder; the receiver owns the task head. That deployment split is fixed.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Tier 1 uses a normalized simulated AWGN channel so the scientific comparison is controlled and reproducible.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result may be positive, null or negative.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54864" cy="3419856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72768"/>
            <a:ext cx="1024128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Deployment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B6570"/>
                </a:solidFill>
                <a:latin typeface="Arial"/>
              </a:rPr>
              <a:t>TIER 1 · required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Simulation-first, offline and reproducible.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2 · stretch after G-5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Conducted SDR I/Q replay; prerecorded outcome expected.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3 · stretch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Edge placement only if latency and procurement gates pass.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Candidate: HackRF One + attenuation chain + RTL-SDR; no purchase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89888"/>
            <a:ext cx="3410712" cy="3419856"/>
          </a:xfrm>
          <a:prstGeom prst="roundRect">
            <a:avLst/>
          </a:prstGeom>
          <a:solidFill>
            <a:srgbClr val="F2E5E8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389888"/>
            <a:ext cx="54864" cy="3419856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9328" y="1572768"/>
            <a:ext cx="937259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9344"/>
            <a:ext cx="790955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PANEL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Decision requested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570"/>
                </a:solidFill>
                <a:latin typeface="Arial"/>
              </a:rPr>
              <a:t>Confirm that the project asks the right question and compares the systems fairly: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• image-classification is the task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communication resources are matched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the classical baseline is strong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the digital feature arm supports attribution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simulation-first Tier 1 is sufficient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Guide acknowledgement: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84648"/>
            <a:ext cx="10277856" cy="7955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5394960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TECHNICAL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5349240"/>
            <a:ext cx="7626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Georgia"/>
              </a:rPr>
              <a:t>OpenJPEG 2.5.4 + TS 38.212-derived LDPC/rate matching over abstract AWGN—not a full 5G NR link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6144768"/>
            <a:ext cx="8156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B6570"/>
                </a:solidFill>
                <a:latin typeface="Georgia"/>
              </a:rPr>
              <a:t>No guaranteed win, measured energy saving or real-radio generalization; completion means executing the preregistered protocol.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PR-3 standards register · PR-9 deployment dossier · guide acknowledgement remains 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Explicit First Review rubric-to-slide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98480" cy="475488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86537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72768"/>
            <a:ext cx="113385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572768"/>
            <a:ext cx="6675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EVIDENCE EXPOSED IN THE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38528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9397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09397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6654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Short packets, fixed k, task accuracy, finite-blocklength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587752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43200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3, 5–7,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715768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Three-arm build, fair protocol, attribution control, decision 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236976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92424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392424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364992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Exact H1 run rule; H2–H4 preregistered; crossing not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886200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Problem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041648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2, 4, 12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014215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30-source synthesis across four literature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535424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90872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Subject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690872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3–8,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663440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AWGN, LDPC, JPEG 2000, fairness, evidence and scope boundary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84648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00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Time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534009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31266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Gate-ordered critical path and fixed review/report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" y="5998464"/>
            <a:ext cx="9994392" cy="30175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071616"/>
            <a:ext cx="964692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Final PASS still requires the real PPT review, four-member rehearsal, guide acknowledgement and annotated review-1-basis tag.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RUBRIC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Six criteria × five sub-marks · 30 scaled to 10 · final human readiness remains evidence-based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Selected references and evidence provenance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5230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Cascadia Mono"/>
              </a:rPr>
              <a:t>SELECTED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[1] Shannon, A Mathematical Theory of Communication, 1948.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48255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[2] Gastpar, Rimoldi &amp; Vetterli, To Code, or Not to Code, 2003.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[3] Polyanskiy, Poor &amp; Verdú, Finite Blocklength, 2010.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67004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[4] Kostina &amp; Verdú, Lossy JSCC at Finite Blocklength, 2013.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8094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[5] Bourtsoulatze, Kurka &amp; Gündüz, DeepJSCC,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9184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[6] Kurka &amp; Gündüz, DeepJSCC-f,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60273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[7] Kurka &amp; Gündüz, Bandwidth-Agile DeepJSCC,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91363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[11] Ballé, Laparra &amp; Simoncelli, Learned Compression,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22452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[12] Ballé et al., Scale Hyperprior, 2018.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3542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[17] Blau &amp; Michaeli, Perception–Distortion,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84632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[18] Jankowski, Gündüz &amp; Mikolajczyk, Wireless Retrieval,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5721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[19] Shao, Mao &amp; Zhang, Task-Oriented Edge Inference, 2021.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46811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[20] Xie et al., Deep Learning Enabled Semantic Communication, 2021.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1371600"/>
            <a:ext cx="0" cy="4407408"/>
          </a:xfrm>
          <a:prstGeom prst="line">
            <a:avLst/>
          </a:prstGeom>
          <a:ln w="1016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2512" y="1353312"/>
            <a:ext cx="5120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Cascadia Mono"/>
              </a:rPr>
              <a:t>REPOSITORY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4650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2821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results/reference_classifier/g1_adjudication.json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5681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89.8% validation; test sealed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942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results/profiling/g7_djscc_profile.json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7802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1.64M params; measured epoch/VRAM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7063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results/baseline/g2/g2_adjudication.json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9923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golden vectors + BLER conformance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10128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91840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results/baseline/w4/integration_adjudication.json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20440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bounded end-to-end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31335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G8_C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13048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results/baseline/g8/campaign_state.json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041648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authenticated characterization cursor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Spec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3425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spec/SPEC.md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6285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normative hypotheses and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7375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5546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docs/gantt-plan.md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8406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dates, gates and current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59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37667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docs/deployment-dossier.md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0527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simulation-first + SDR stretch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2512" y="5998464"/>
            <a:ext cx="4754880" cy="31089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6080760"/>
            <a:ext cx="44622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A3346"/>
                </a:solidFill>
                <a:latin typeface="Arial"/>
              </a:rPr>
              <a:t>Refresh G8_C status from instructions/RESUME.md on submission day.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Full 30-reference synthesis: docs/literature-review.md · all evidence verified from repository 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