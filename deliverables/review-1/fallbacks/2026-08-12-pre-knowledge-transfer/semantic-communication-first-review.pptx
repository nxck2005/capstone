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60120"/>
            <a:ext cx="107442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Arial"/>
              </a:rPr>
              <a:t>Semantic Communication for 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2267712"/>
            <a:ext cx="10332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Task-oriented deep joint source–channel coding for image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76656" y="2907792"/>
            <a:ext cx="107899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3310128"/>
            <a:ext cx="99669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This project compares three ways to transmit an image for remote classification over a bandwidth-constrained noisy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31596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736592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157216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138928"/>
            <a:ext cx="3383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/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Project context and basic definition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944" y="1389888"/>
            <a:ext cx="106984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The application is remote image classification. An edge device observes an image and sends information across a limited, noisy link to a receiver that owns the classifier.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28600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Semantic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61488"/>
            <a:ext cx="1051560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Semantic communication transmits the information required to preserve meaning or complete a downstream task. It does not require every original source bit to be reconstructed when the task does not need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58768"/>
            <a:ext cx="2560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858768"/>
            <a:ext cx="995781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Source: an image observed by an edge camera or sensor.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98848"/>
            <a:ext cx="2560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498848"/>
            <a:ext cx="995781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Channel constraint: fixed bandwidth and additive wireless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138928"/>
            <a:ext cx="2560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5138928"/>
            <a:ext cx="995781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Receiver task: predict the correct image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852160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Tier 1 is simulation-first. SDR and edge-device deployment are optional later stages.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Original proposal: Semantic Communication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Problem statement and research question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944" y="1389888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Conventional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10512"/>
            <a:ext cx="1056132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55555"/>
                </a:solidFill>
                <a:latin typeface="Arial"/>
              </a:rPr>
              <a:t>A conventional link compresses an image, protects the bits with a channel code, reconstructs the image at the receiver, and then runs the classifier. Its interfaces optimize image fidelity and bit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24912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Task-oriented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145536"/>
            <a:ext cx="1056132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55555"/>
                </a:solidFill>
                <a:latin typeface="Arial"/>
              </a:rPr>
              <a:t>A learned joint system trains the sender and receiver together through a differentiable channel. Its representation can be optimized directly for classification after channel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4133087"/>
            <a:ext cx="10561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352544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727448"/>
            <a:ext cx="9985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At the same bandwidth and channel conditions, can task-aware joint coding preserve classification accuracy better than a properly tuned separated system?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70585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The project reports the measured result even if the learned system does not outperform the baseline.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SPEC §1–2 · completion is independent of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Related work and the gap addressed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5331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Finite-blocklength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3048" y="1335024"/>
            <a:ext cx="7342631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Short packets operate below asymptotic capacity and incur non-negligible coding overhead and error probability. [1–4]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0312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414015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2395727"/>
            <a:ext cx="7342631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End-to-end transforms improve rate–distortion performance, but reconstruction quality is not the same as task accuracy. [11–17]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16382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 joint source–channel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3456432"/>
            <a:ext cx="7342631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DeepJSCC studies continuous learned mappings and graceful degradation over noisy channels. Most image results emphasize reconstruction. [5–10,24]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42245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4535423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4517136"/>
            <a:ext cx="7342631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Learned representations can preserve inference performance, but task awareness and joint coding must be separated experimentally. [18–23]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5285231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5715000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669280"/>
            <a:ext cx="841248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A three-way comparison at equal channel uses: adaptive classical image transmission, task-aware digital features, and learned joint coding.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Project objectives and completion criterion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68096" y="1353312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353312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Implement a normalized simulated AWGN channel and a task-oriented DJSCC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11680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011680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Implement a JPEG 2000 + 5G NR LDPC baseline that is tuned on validation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70048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670048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Implement a task-aware digital feature system using the same digital physical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28416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328416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Match channel uses, SNR definition, image identity and noise identity across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986783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86783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Freeze all choices before one paired evaluation on the sealed test split.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645152"/>
            <a:ext cx="3840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645152"/>
            <a:ext cx="99212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Report positive, null or negative findings using the preregistered analysis.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543153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614416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Completion 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5577840"/>
            <a:ext cx="8275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Tier 1 is complete when all three systems are implemented, fairly matched, evaluated once, and reported. Completion does not require a positive result.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Formal hypothesis rules are listed in Appendix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Systems under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53312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63040"/>
            <a:ext cx="206654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44368" y="1353312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54096" y="1463040"/>
            <a:ext cx="54498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Sender and channel path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13648" y="1353312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23376" y="1463040"/>
            <a:ext cx="252374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Receiver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698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206654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Classical image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1920240"/>
            <a:ext cx="0" cy="91440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54096" y="2029968"/>
            <a:ext cx="544982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JPEG 2000 → packet framing → 5G NR LDPC → modulation → AWGN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13648" y="1920240"/>
            <a:ext cx="0" cy="91440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23376" y="2029968"/>
            <a:ext cx="252374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Reconstructed image → frozen classifier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34640"/>
            <a:ext cx="10698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44368"/>
            <a:ext cx="206654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Digital feature 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4368" y="2834640"/>
            <a:ext cx="0" cy="91439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96" y="2944368"/>
            <a:ext cx="544982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Learned features → quantization → same LDPC and modulation → AWGN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13648" y="2834640"/>
            <a:ext cx="0" cy="91439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23376" y="2944368"/>
            <a:ext cx="252374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Recovered features → task 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49039"/>
            <a:ext cx="10698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858768"/>
            <a:ext cx="206654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Learned joint link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44368" y="3749039"/>
            <a:ext cx="0" cy="914401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54096" y="3858768"/>
            <a:ext cx="544982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Neural encoder → power normalization → AWGN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13648" y="3749039"/>
            <a:ext cx="0" cy="914401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23376" y="3858768"/>
            <a:ext cx="2523744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Dual-head neural decoder →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47488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Shared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10912"/>
            <a:ext cx="8366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Same image, dataset split, complex-symbol budget, SNR definition and keyed channel realization.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42432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Data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705856"/>
            <a:ext cx="8366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Validation is used for selection. The test split remains sealed until gate G-12.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Knowledge, Objectives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Imagenette-160 headline dataset · normalized AWGN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Experimental controls and fairness rules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25694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Control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47287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57015" y="1444752"/>
            <a:ext cx="76901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Resource matching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47287" y="1901952"/>
            <a:ext cx="0" cy="65836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7015" y="2011680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Compare systems at the same complex-symbol budget and SNR definition.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60320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70048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Classical baseline strength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47287" y="2560320"/>
            <a:ext cx="0" cy="658367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57015" y="2670048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Tune JPEG 2000 quality, LDPC rate and BPSK/QPSK/16-QAM per SNR on 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18688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28416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Complete accounting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47287" y="3218688"/>
            <a:ext cx="0" cy="65836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57015" y="3328416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Count container, CRC, segmentation and filler overhead. Keep decode failures in the denominator.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77056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986784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BLER 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47287" y="3877056"/>
            <a:ext cx="0" cy="65836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57015" y="3986784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Measure every required physical-layer identity. Missing evidence is not interpreted as zero error.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535424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45152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Attribution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47287" y="4535424"/>
            <a:ext cx="0" cy="65836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57015" y="4645152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Use the digital feature system to separate task-aware representation from joint coding.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93792"/>
            <a:ext cx="106984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303520"/>
            <a:ext cx="256946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Evaluation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47287" y="5193792"/>
            <a:ext cx="0" cy="658367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57015" y="5303520"/>
            <a:ext cx="76901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Use paired per-image outcomes and one sealed test campaign after all choices are frozen.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Knowledge, Objectives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SPEC BR-4, BR-10/11, ER-3/9/10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Engineering and gate evidence—not learned-vs-classical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92354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0136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1095" y="1444752"/>
            <a:ext cx="10149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Status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3580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45536" y="1444752"/>
            <a:ext cx="38039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Recorded evidence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5916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8896" y="1444752"/>
            <a:ext cx="4078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92354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136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11095" y="2011680"/>
            <a:ext cx="101498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3580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45536" y="2011680"/>
            <a:ext cx="380390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898/1,000 = 89.8% validation accuracy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916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68896" y="2011680"/>
            <a:ext cx="4078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reference classification task is viable.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92354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0136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11095" y="2743200"/>
            <a:ext cx="101498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PASS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3580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45536" y="2743200"/>
            <a:ext cx="380390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1.64 M parameters; 48.68 s per epoch; 1.004 GiB VRAM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68896" y="2743200"/>
            <a:ext cx="4078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planned DJSCC model fits the available GPU.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92354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0136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11095" y="3474720"/>
            <a:ext cx="101498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3580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45536" y="3474720"/>
            <a:ext cx="380390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Golden vectors and BLER waterfall checks within 0.5 dB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5916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68896" y="3474720"/>
            <a:ext cx="4078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 layer passes conformance checks.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92354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80136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911095" y="4206240"/>
            <a:ext cx="101498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PASS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3580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145536" y="4206240"/>
            <a:ext cx="380390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Bounded JPEG 2000 → LDPC → AWGN → decode run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5916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68896" y="4206240"/>
            <a:ext cx="4078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classical pipeline and evidence path work end to end.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92354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80136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11095" y="4937760"/>
            <a:ext cx="101498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ACTIVE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3580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45536" y="4937760"/>
            <a:ext cx="380390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748 / 3,213 authenticated BLER units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916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68896" y="4937760"/>
            <a:ext cx="4078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full BLER table and operating-point selection are not complete.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52160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learned-versus-classical headline result exists yet. Bounded integration evidence is not presented as a scientific comparison.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Authenticated G-1, G-2, G-7, W4 and G8_C records · test access =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Remaining work and review dates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1673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26464"/>
            <a:ext cx="16550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Period / 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32887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42615" y="1426464"/>
            <a:ext cx="11978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0207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59935" y="1426464"/>
            <a:ext cx="42611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30767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40495" y="1426464"/>
            <a:ext cx="2706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06984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993392"/>
            <a:ext cx="1655063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Now · G8_C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32887" y="1883664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42615" y="1993392"/>
            <a:ext cx="119786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Active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0207" y="1883664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59935" y="1993392"/>
            <a:ext cx="42611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Complete BLER characterization and freeze the table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30767" y="1883664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40495" y="1993392"/>
            <a:ext cx="27066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Inputs for G-8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596896"/>
            <a:ext cx="106984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06624"/>
            <a:ext cx="1655063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G-8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32887" y="2596896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42615" y="2706624"/>
            <a:ext cx="119786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50207" y="2596896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59935" y="2706624"/>
            <a:ext cx="42611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Select operating ratios and classical configurations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30767" y="2596896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40495" y="2706624"/>
            <a:ext cx="27066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Frozen baseline choices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10128"/>
            <a:ext cx="106984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19856"/>
            <a:ext cx="1655063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W5–W8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32887" y="3310128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42615" y="3419856"/>
            <a:ext cx="119786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50207" y="3310128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59935" y="3419856"/>
            <a:ext cx="42611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Train DJSCC; calibrate λ; implement digital feature control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30767" y="3310128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40495" y="3419856"/>
            <a:ext cx="27066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Frozen learned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23360"/>
            <a:ext cx="106984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133088"/>
            <a:ext cx="1655063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W9–W11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32887" y="4023360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42615" y="4133088"/>
            <a:ext cx="119786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50207" y="4023360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59935" y="4133088"/>
            <a:ext cx="42611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rehearsal; freeze; one test campaign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30767" y="4023360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540495" y="4133088"/>
            <a:ext cx="27066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Hypothesis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736592"/>
            <a:ext cx="106984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846320"/>
            <a:ext cx="1655063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W13–W17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32887" y="4736592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42615" y="4846320"/>
            <a:ext cx="119786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50207" y="4736592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059935" y="4846320"/>
            <a:ext cx="42611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Demo, report, poster and final review preparation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30767" y="4736592"/>
            <a:ext cx="0" cy="71323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40495" y="4846320"/>
            <a:ext cx="27066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Final package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69280"/>
            <a:ext cx="10469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11111"/>
                </a:solidFill>
                <a:latin typeface="Arial"/>
              </a:rPr>
              <a:t>First Review: 18–22 Aug · Second Review: 29 Sep–3 Oct · Final Review: 17–21 Nov · Report due: 20 Nov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016752"/>
            <a:ext cx="10469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55555"/>
                </a:solidFill>
                <a:latin typeface="Arial"/>
              </a:rPr>
              <a:t>W16 is reserved for report contingency. It is not available for new experiment scope.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docs/gantt-plan.md · unfinished stages are shown as unfinished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Scope, deliverables, and decisions requested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5331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Required Tier 1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35024"/>
            <a:ext cx="766267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Simulation-based comparison of the three systems on image classification over normalized AWGN, with one sealed test campaign and paired analysis.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03120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432304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Optional later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14016"/>
            <a:ext cx="766267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Conducted SDR replay and Raspberry Pi deployment are stretch goals after gate G-5. No hardware has been purchased.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182112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5112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93008"/>
            <a:ext cx="766267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OpenJPEG 2.5.4 and a TS 38.212-derived LDPC/rate-matching chain over abstract AWGN. This is not a full 5G NR link claim.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4261104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459028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Decision requested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572000"/>
            <a:ext cx="766267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Confirm the task boundary, the three-system comparison, the fairness controls, and simulation-first Tier 1 as a sufficient completion path.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5340096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570585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Outstanding human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669280"/>
            <a:ext cx="76626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guide's dated acknowledgement of the simulation-first, no-required-hardware path is still pending.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PR-3 standards register · PR-9 deployment dossier · guide acknowledgement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Hypotheses and analysis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51560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9504"/>
            <a:ext cx="3154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H2 — Graceful versus cliff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2871216"/>
            <a:ext cx="7269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The fixed classical curve must show the preregistered large drop while the learned curve remains within its smaller-drop bound.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3493008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3749039"/>
            <a:ext cx="3154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H3 — Convergence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3730752"/>
            <a:ext cx="7269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The paired learned-minus-classical gap must contract across SNR. A crossover is reported if observed but is not required.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4352544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608576"/>
            <a:ext cx="3154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H4 —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4590288"/>
            <a:ext cx="7269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Joint coding is credited only if the learned joint system also exceeds the task-aware digital feature control under the H1 procedure.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212080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5742432"/>
            <a:ext cx="10469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Arial"/>
              </a:rPr>
              <a:t>All hypotheses use paired per-image outcomes. The test split is opened once after gate G-12.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Exact formal protocol: SPEC §2 and ER-10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First Review rubric map and sources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298448"/>
            <a:ext cx="736092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08176"/>
            <a:ext cx="1700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Criterion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1298448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88336" y="1408176"/>
            <a:ext cx="92354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Slides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21608" y="1298448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31336" y="1408176"/>
            <a:ext cx="4078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65376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Motivation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1865376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88336" y="1975104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2–3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21608" y="1865376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31336" y="1975104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Application context and problem statement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359152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468880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Objectives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78608" y="2359152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88336" y="2468880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3, 5–7, 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21608" y="2359152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31336" y="2468880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Systems, completion criterion and review 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852928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962656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Hypothesis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78608" y="2852928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8336" y="2962656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5, 11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21608" y="2852928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31336" y="2962656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Outcome-independent completion and formal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46704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56432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Problem Survey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78608" y="3346704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88336" y="3456432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4, 12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21608" y="3346704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31336" y="3456432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30-source literature synthesis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840480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3950208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Subject Knowledge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78608" y="3840480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88336" y="3950208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6–8, 10–11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21608" y="3840480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31336" y="3950208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System design, controls, evidence and scope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334256"/>
            <a:ext cx="73609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443984"/>
            <a:ext cx="17007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Time Plan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78608" y="4334256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88336" y="4443984"/>
            <a:ext cx="92354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21608" y="4334256"/>
            <a:ext cx="0" cy="49377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831336" y="4443984"/>
            <a:ext cx="407822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Gate-ordered schedule and fixed review dates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80960" y="1298448"/>
            <a:ext cx="0" cy="438912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955279" y="1298448"/>
            <a:ext cx="3154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Selected references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1755648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[1] Shannon, 1948.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2176272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[3] Polyanskiy, Poor &amp; Verdú, 2010.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596896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[4] Kostina &amp; Verdú, 2013.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3017520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[5] Bourtsoulatze, Kurka &amp; Gündüz, 2019.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438144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[11] Ballé, Laparra &amp; Simoncelli, 2017.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858768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[17] Blau &amp; Michaeli, 2018.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279392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[18] Jankowski, Gündüz &amp; Mikolajczyk, 2021.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4700016"/>
            <a:ext cx="3200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555"/>
                </a:solidFill>
                <a:latin typeface="Arial"/>
              </a:rPr>
              <a:t>[20] Xie et al., 2021.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175504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Evidence records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559552"/>
            <a:ext cx="6675120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Courier New"/>
              </a:rPr>
              <a:t>G-1: results/reference_classifier/g1_adjudication.json</a:t>
            </a:r>
            <a:br/>
            <a:r>
              <a:rPr sz="930" b="0" i="0">
                <a:solidFill>
                  <a:srgbClr val="555555"/>
                </a:solidFill>
                <a:latin typeface="Courier New"/>
              </a:rPr>
              <a:t>G-7: results/profiling/g7_djscc_profile.json</a:t>
            </a:r>
            <a:br/>
            <a:r>
              <a:rPr sz="930" b="0" i="0">
                <a:solidFill>
                  <a:srgbClr val="555555"/>
                </a:solidFill>
                <a:latin typeface="Courier New"/>
              </a:rPr>
              <a:t>G-2 / W4 / G8_C: results/baseline/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230368"/>
            <a:ext cx="320040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Refresh G8_C status from instructions/RESUME.md on submission day.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Time Plan, Subject Knowledge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literature review contains 30 synthesized references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